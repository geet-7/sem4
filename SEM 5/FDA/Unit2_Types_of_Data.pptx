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students where they think companies get insights from. Introduce the four-step analytics process: Collect -&gt; Clean -&gt; Analyze -&gt; Interpret. Emphasize that 'raw data' by itself has no meaning until it is processed.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term by term. Stress the Data vs Information distinction — this trips students up often. Use a concrete example: '37, 42, 29' is data; 'average customer age is 36' is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how could a company read 10,000 reviews without hiring 10,000 readers? That's the motivation for text analytics. Mention sentiment analysis (positive/negative/neutral) as the most relatable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 this to something students have used: every website they visit is tracked in some way. Explain bounce rate simply: percentage of visitors who leave after viewing only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back to Web Analytics — marketing analytics often uses web analytics data as an input. Emphasize ROI as the core question: are we getting more value than we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map for the rest of the unit. Make clear these are two different, independent axes for classifying the SAME data — not a strict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trick for students: if you can meaningfully say 'half of it,' it's usually continuous (2.5 kg makes sense); if not, it's discrete (2.5 students doesn't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Categorical data splits further into nominal and ordinal — that's the next slide. Preview it briefly here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trick: 'Ordinal sounds like Order.' Ask students to classify a few examples live: T-shirt size (ordinal), eye color (nominal), movie genre (nominal), exam grade A/B/C (ordinal).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word 'schema' — a predefined blueprint of columns and types that every row must follow. This is the setup for contrasting with unstructured data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headline topic for the unit — slow down here. The 80-90% statistic is a strong hook: almost all data created today (photos, videos, social posts, voice notes, emails) is unstructured. Reinforce with the comparison table before moving to the examples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of the six sources and ask students to name one they personally generate daily (most will say photos or social media/chat). Then connect to challenges: this is WHY companies need tools like data lakes, which appear later in this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this as a bridge, not a brand-new category. JSON is the best example — show the snippet and point out: it has labels (like structured data) but no fixed set of columns every record must share (like unstructured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atomic building blocks that make up both structured and semi-structured data. Every column in a database table has one of these underlying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format back to structure: CSV/Excel/Parquet map to structured data; JSON/XML map to semi-structured; plain text maps to unstructured. This slide is a nice synthesis point before moving to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an analogy: Database = a shop's daily cash register; Data Warehouse = the head office combining sales from every branch; Data Mart = the marketing team's own slice of that warehouse; Data Lake = a giant reservoir where every branch dumps raw data of any kind, sorted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ETL (Extract, Transform, Load) framework — a very standard interview and exam term. Tie the pipeline destination back to the repositories from the previous slide: pipelines often feed warehouses, marts, and lakes.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4206240"/>
            <a:ext cx="4114800" cy="4114800"/>
          </a:xfrm>
          <a:prstGeom prst="ellipse">
            <a:avLst/>
          </a:prstGeom>
          <a:solidFill>
            <a:srgbClr val="065A82">
              <a:alpha val="45000"/>
            </a:srgbClr>
          </a:solidFill>
          <a:ln/>
        </p:spPr>
      </p:sp>
      <p:sp>
        <p:nvSpPr>
          <p:cNvPr id="3" name="Shape 1"/>
          <p:cNvSpPr/>
          <p:nvPr/>
        </p:nvSpPr>
        <p:spPr>
          <a:xfrm>
            <a:off x="10607040" y="5120640"/>
            <a:ext cx="2926080" cy="2926080"/>
          </a:xfrm>
          <a:prstGeom prst="ellipse">
            <a:avLst/>
          </a:prstGeom>
          <a:solidFill>
            <a:srgbClr val="1C7293">
              <a:alpha val="55000"/>
            </a:srgbClr>
          </a:solidFill>
          <a:ln/>
        </p:spPr>
      </p:sp>
      <p:sp>
        <p:nvSpPr>
          <p:cNvPr id="4" name="Shape 2"/>
          <p:cNvSpPr/>
          <p:nvPr/>
        </p:nvSpPr>
        <p:spPr>
          <a:xfrm>
            <a:off x="-1097280" y="-1280160"/>
            <a:ext cx="3291840" cy="3291840"/>
          </a:xfrm>
          <a:prstGeom prst="ellipse">
            <a:avLst/>
          </a:prstGeom>
          <a:solidFill>
            <a:srgbClr val="065A82">
              <a:alpha val="45000"/>
            </a:srgbClr>
          </a:solidFill>
          <a:ln/>
        </p:spPr>
      </p:sp>
      <p:sp>
        <p:nvSpPr>
          <p:cNvPr id="5" name="Text 3"/>
          <p:cNvSpPr/>
          <p:nvPr/>
        </p:nvSpPr>
        <p:spPr>
          <a:xfrm>
            <a:off x="822960" y="1965960"/>
            <a:ext cx="5486400" cy="457200"/>
          </a:xfrm>
          <a:prstGeom prst="rect">
            <a:avLst/>
          </a:prstGeom>
          <a:noFill/>
          <a:ln/>
        </p:spPr>
        <p:txBody>
          <a:bodyPr wrap="square" rtlCol="0" anchor="ctr"/>
          <a:lstStyle/>
          <a:p>
            <a:pPr indent="0" marL="0">
              <a:buNone/>
            </a:pPr>
            <a:r>
              <a:rPr lang="en-US" sz="1600" b="1" spc="300" kern="0" dirty="0">
                <a:solidFill>
                  <a:srgbClr val="9FC4DA"/>
                </a:solidFill>
                <a:latin typeface="Calibri" pitchFamily="34" charset="0"/>
                <a:ea typeface="Calibri" pitchFamily="34" charset="-122"/>
                <a:cs typeface="Calibri" pitchFamily="34" charset="-120"/>
              </a:rPr>
              <a:t>UNIT 2</a:t>
            </a:r>
            <a:endParaRPr lang="en-US" sz="1600" dirty="0"/>
          </a:p>
        </p:txBody>
      </p:sp>
      <p:sp>
        <p:nvSpPr>
          <p:cNvPr id="6" name="Text 4"/>
          <p:cNvSpPr/>
          <p:nvPr/>
        </p:nvSpPr>
        <p:spPr>
          <a:xfrm>
            <a:off x="777240" y="2331720"/>
            <a:ext cx="8686800" cy="1920240"/>
          </a:xfrm>
          <a:prstGeom prst="rect">
            <a:avLst/>
          </a:prstGeom>
          <a:noFill/>
          <a:ln/>
        </p:spPr>
        <p:txBody>
          <a:bodyPr wrap="square"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Dealing with Different</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Types of Data</a:t>
            </a:r>
            <a:endParaRPr lang="en-US" sz="4400" dirty="0"/>
          </a:p>
        </p:txBody>
      </p:sp>
      <p:sp>
        <p:nvSpPr>
          <p:cNvPr id="7" name="Text 5"/>
          <p:cNvSpPr/>
          <p:nvPr/>
        </p:nvSpPr>
        <p:spPr>
          <a:xfrm>
            <a:off x="822960" y="4251960"/>
            <a:ext cx="8046720" cy="548640"/>
          </a:xfrm>
          <a:prstGeom prst="rect">
            <a:avLst/>
          </a:prstGeom>
          <a:noFill/>
          <a:ln/>
        </p:spPr>
        <p:txBody>
          <a:bodyPr wrap="square" rtlCol="0" anchor="ctr"/>
          <a:lstStyle/>
          <a:p>
            <a:pPr indent="0" marL="0">
              <a:buNone/>
            </a:pPr>
            <a:r>
              <a:rPr lang="en-US" sz="1600" i="1" dirty="0">
                <a:solidFill>
                  <a:srgbClr val="E8F1F5"/>
                </a:solidFill>
                <a:latin typeface="Calibri" pitchFamily="34" charset="0"/>
                <a:ea typeface="Calibri" pitchFamily="34" charset="-122"/>
                <a:cs typeface="Calibri" pitchFamily="34" charset="-120"/>
              </a:rPr>
              <a:t>Foundations of Data Analytics — Terminology, Data Types, and Data Repositories</a:t>
            </a:r>
            <a:endParaRPr lang="en-US" sz="1600" dirty="0"/>
          </a:p>
        </p:txBody>
      </p:sp>
      <p:sp>
        <p:nvSpPr>
          <p:cNvPr id="8" name="Shape 6"/>
          <p:cNvSpPr/>
          <p:nvPr/>
        </p:nvSpPr>
        <p:spPr>
          <a:xfrm>
            <a:off x="822960" y="4114800"/>
            <a:ext cx="1005840" cy="0"/>
          </a:xfrm>
          <a:prstGeom prst="line">
            <a:avLst/>
          </a:prstGeom>
          <a:noFill/>
          <a:ln w="38100">
            <a:solidFill>
              <a:srgbClr val="3FA9D6"/>
            </a:solidFill>
            <a:prstDash val="solid"/>
          </a:ln>
        </p:spPr>
      </p:sp>
      <p:sp>
        <p:nvSpPr>
          <p:cNvPr id="9" name="Text 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What We'll Cover</a:t>
            </a:r>
            <a:endParaRPr lang="en-US" sz="3200" dirty="0"/>
          </a:p>
        </p:txBody>
      </p:sp>
      <p:sp>
        <p:nvSpPr>
          <p:cNvPr id="3" name="Text 1"/>
          <p:cNvSpPr/>
          <p:nvPr/>
        </p:nvSpPr>
        <p:spPr>
          <a:xfrm>
            <a:off x="640080" y="1024128"/>
            <a:ext cx="7315200" cy="365760"/>
          </a:xfrm>
          <a:prstGeom prst="rect">
            <a:avLst/>
          </a:prstGeom>
          <a:noFill/>
          <a:ln/>
        </p:spPr>
        <p:txBody>
          <a:bodyPr wrap="square" rtlCol="0" anchor="ctr"/>
          <a:lstStyle/>
          <a:p>
            <a:pPr indent="0" marL="0">
              <a:buNone/>
            </a:pPr>
            <a:r>
              <a:rPr lang="en-US" sz="1400" dirty="0">
                <a:solidFill>
                  <a:srgbClr val="5B6672"/>
                </a:solidFill>
                <a:latin typeface="Calibri" pitchFamily="34" charset="0"/>
                <a:ea typeface="Calibri" pitchFamily="34" charset="-122"/>
                <a:cs typeface="Calibri" pitchFamily="34" charset="-120"/>
              </a:rPr>
              <a:t>A roadmap through Unit 2</a:t>
            </a:r>
            <a:endParaRPr lang="en-US" sz="1400" dirty="0"/>
          </a:p>
        </p:txBody>
      </p:sp>
      <p:sp>
        <p:nvSpPr>
          <p:cNvPr id="4" name="Shape 2"/>
          <p:cNvSpPr/>
          <p:nvPr/>
        </p:nvSpPr>
        <p:spPr>
          <a:xfrm>
            <a:off x="640080" y="1691640"/>
            <a:ext cx="5349240" cy="795528"/>
          </a:xfrm>
          <a:prstGeom prst="roundRect">
            <a:avLst>
              <a:gd name="adj" fmla="val 9195"/>
            </a:avLst>
          </a:prstGeom>
          <a:solidFill>
            <a:srgbClr val="E8F1F5"/>
          </a:solidFill>
          <a:ln/>
        </p:spPr>
      </p:sp>
      <p:sp>
        <p:nvSpPr>
          <p:cNvPr id="5" name="Text 3"/>
          <p:cNvSpPr/>
          <p:nvPr/>
        </p:nvSpPr>
        <p:spPr>
          <a:xfrm>
            <a:off x="841248" y="1691640"/>
            <a:ext cx="822960" cy="795528"/>
          </a:xfrm>
          <a:prstGeom prst="rect">
            <a:avLst/>
          </a:prstGeom>
          <a:noFill/>
          <a:ln/>
        </p:spPr>
        <p:txBody>
          <a:bodyPr wrap="square" rtlCol="0" anchor="ctr"/>
          <a:lstStyle/>
          <a:p>
            <a:pPr indent="0" marL="0">
              <a:buNone/>
            </a:pPr>
            <a:r>
              <a:rPr lang="en-US" sz="2600" b="1" dirty="0">
                <a:solidFill>
                  <a:srgbClr val="AFCBDA"/>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1600200" y="1792224"/>
            <a:ext cx="4206240" cy="347472"/>
          </a:xfrm>
          <a:prstGeom prst="rect">
            <a:avLst/>
          </a:prstGeom>
          <a:noFill/>
          <a:ln/>
        </p:spPr>
        <p:txBody>
          <a:bodyPr wrap="square" rtlCol="0" anchor="b"/>
          <a:lstStyle/>
          <a:p>
            <a:pPr indent="0" marL="0">
              <a:buNone/>
            </a:pPr>
            <a:r>
              <a:rPr lang="en-US" sz="1450" b="1" dirty="0">
                <a:solidFill>
                  <a:srgbClr val="1B1F27"/>
                </a:solidFill>
                <a:latin typeface="Calibri" pitchFamily="34" charset="0"/>
                <a:ea typeface="Calibri" pitchFamily="34" charset="-122"/>
                <a:cs typeface="Calibri" pitchFamily="34" charset="-120"/>
              </a:rPr>
              <a:t>Introduction &amp; Key Terminologies</a:t>
            </a:r>
            <a:endParaRPr lang="en-US" sz="1450" dirty="0"/>
          </a:p>
        </p:txBody>
      </p:sp>
      <p:sp>
        <p:nvSpPr>
          <p:cNvPr id="7" name="Text 5"/>
          <p:cNvSpPr/>
          <p:nvPr/>
        </p:nvSpPr>
        <p:spPr>
          <a:xfrm>
            <a:off x="1600200" y="2112264"/>
            <a:ext cx="4206240" cy="329184"/>
          </a:xfrm>
          <a:prstGeom prst="rect">
            <a:avLst/>
          </a:prstGeom>
          <a:noFill/>
          <a:ln/>
        </p:spPr>
        <p:txBody>
          <a:bodyPr wrap="square" rtlCol="0" anchor="t"/>
          <a:lstStyle/>
          <a:p>
            <a:pPr indent="0" marL="0">
              <a:buNone/>
            </a:pPr>
            <a:r>
              <a:rPr lang="en-US" sz="1100" dirty="0">
                <a:solidFill>
                  <a:srgbClr val="5B6672"/>
                </a:solidFill>
                <a:latin typeface="Calibri" pitchFamily="34" charset="0"/>
                <a:ea typeface="Calibri" pitchFamily="34" charset="-122"/>
                <a:cs typeface="Calibri" pitchFamily="34" charset="-120"/>
              </a:rPr>
              <a:t>Building the vocabulary of data analytics</a:t>
            </a:r>
            <a:endParaRPr lang="en-US" sz="1100" dirty="0"/>
          </a:p>
        </p:txBody>
      </p:sp>
      <p:sp>
        <p:nvSpPr>
          <p:cNvPr id="8" name="Shape 6"/>
          <p:cNvSpPr/>
          <p:nvPr/>
        </p:nvSpPr>
        <p:spPr>
          <a:xfrm>
            <a:off x="640080" y="2651760"/>
            <a:ext cx="5349240" cy="795528"/>
          </a:xfrm>
          <a:prstGeom prst="roundRect">
            <a:avLst>
              <a:gd name="adj" fmla="val 9195"/>
            </a:avLst>
          </a:prstGeom>
          <a:solidFill>
            <a:srgbClr val="E8F1F5"/>
          </a:solidFill>
          <a:ln/>
        </p:spPr>
      </p:sp>
      <p:sp>
        <p:nvSpPr>
          <p:cNvPr id="9" name="Text 7"/>
          <p:cNvSpPr/>
          <p:nvPr/>
        </p:nvSpPr>
        <p:spPr>
          <a:xfrm>
            <a:off x="841248" y="2651760"/>
            <a:ext cx="822960" cy="795528"/>
          </a:xfrm>
          <a:prstGeom prst="rect">
            <a:avLst/>
          </a:prstGeom>
          <a:noFill/>
          <a:ln/>
        </p:spPr>
        <p:txBody>
          <a:bodyPr wrap="square" rtlCol="0" anchor="ctr"/>
          <a:lstStyle/>
          <a:p>
            <a:pPr indent="0" marL="0">
              <a:buNone/>
            </a:pPr>
            <a:r>
              <a:rPr lang="en-US" sz="2600" b="1" dirty="0">
                <a:solidFill>
                  <a:srgbClr val="AFCBDA"/>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1600200" y="2752344"/>
            <a:ext cx="4206240" cy="347472"/>
          </a:xfrm>
          <a:prstGeom prst="rect">
            <a:avLst/>
          </a:prstGeom>
          <a:noFill/>
          <a:ln/>
        </p:spPr>
        <p:txBody>
          <a:bodyPr wrap="square" rtlCol="0" anchor="b"/>
          <a:lstStyle/>
          <a:p>
            <a:pPr indent="0" marL="0">
              <a:buNone/>
            </a:pPr>
            <a:r>
              <a:rPr lang="en-US" sz="1450" b="1" dirty="0">
                <a:solidFill>
                  <a:srgbClr val="1B1F27"/>
                </a:solidFill>
                <a:latin typeface="Calibri" pitchFamily="34" charset="0"/>
                <a:ea typeface="Calibri" pitchFamily="34" charset="-122"/>
                <a:cs typeface="Calibri" pitchFamily="34" charset="-120"/>
              </a:rPr>
              <a:t>Types of Analytics</a:t>
            </a:r>
            <a:endParaRPr lang="en-US" sz="1450" dirty="0"/>
          </a:p>
        </p:txBody>
      </p:sp>
      <p:sp>
        <p:nvSpPr>
          <p:cNvPr id="11" name="Text 9"/>
          <p:cNvSpPr/>
          <p:nvPr/>
        </p:nvSpPr>
        <p:spPr>
          <a:xfrm>
            <a:off x="1600200" y="3072384"/>
            <a:ext cx="4206240" cy="329184"/>
          </a:xfrm>
          <a:prstGeom prst="rect">
            <a:avLst/>
          </a:prstGeom>
          <a:noFill/>
          <a:ln/>
        </p:spPr>
        <p:txBody>
          <a:bodyPr wrap="square" rtlCol="0" anchor="t"/>
          <a:lstStyle/>
          <a:p>
            <a:pPr indent="0" marL="0">
              <a:buNone/>
            </a:pPr>
            <a:r>
              <a:rPr lang="en-US" sz="1100" dirty="0">
                <a:solidFill>
                  <a:srgbClr val="5B6672"/>
                </a:solidFill>
                <a:latin typeface="Calibri" pitchFamily="34" charset="0"/>
                <a:ea typeface="Calibri" pitchFamily="34" charset="-122"/>
                <a:cs typeface="Calibri" pitchFamily="34" charset="-120"/>
              </a:rPr>
              <a:t>Text, Web, and Marketing analytics</a:t>
            </a:r>
            <a:endParaRPr lang="en-US" sz="1100" dirty="0"/>
          </a:p>
        </p:txBody>
      </p:sp>
      <p:sp>
        <p:nvSpPr>
          <p:cNvPr id="12" name="Shape 10"/>
          <p:cNvSpPr/>
          <p:nvPr/>
        </p:nvSpPr>
        <p:spPr>
          <a:xfrm>
            <a:off x="640080" y="3611880"/>
            <a:ext cx="5349240" cy="795528"/>
          </a:xfrm>
          <a:prstGeom prst="roundRect">
            <a:avLst>
              <a:gd name="adj" fmla="val 9195"/>
            </a:avLst>
          </a:prstGeom>
          <a:solidFill>
            <a:srgbClr val="E8F1F5"/>
          </a:solidFill>
          <a:ln/>
        </p:spPr>
      </p:sp>
      <p:sp>
        <p:nvSpPr>
          <p:cNvPr id="13" name="Text 11"/>
          <p:cNvSpPr/>
          <p:nvPr/>
        </p:nvSpPr>
        <p:spPr>
          <a:xfrm>
            <a:off x="841248" y="3611880"/>
            <a:ext cx="822960" cy="795528"/>
          </a:xfrm>
          <a:prstGeom prst="rect">
            <a:avLst/>
          </a:prstGeom>
          <a:noFill/>
          <a:ln/>
        </p:spPr>
        <p:txBody>
          <a:bodyPr wrap="square" rtlCol="0" anchor="ctr"/>
          <a:lstStyle/>
          <a:p>
            <a:pPr indent="0" marL="0">
              <a:buNone/>
            </a:pPr>
            <a:r>
              <a:rPr lang="en-US" sz="2600" b="1" dirty="0">
                <a:solidFill>
                  <a:srgbClr val="AFCBDA"/>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1600200" y="3712464"/>
            <a:ext cx="4206240" cy="347472"/>
          </a:xfrm>
          <a:prstGeom prst="rect">
            <a:avLst/>
          </a:prstGeom>
          <a:noFill/>
          <a:ln/>
        </p:spPr>
        <p:txBody>
          <a:bodyPr wrap="square" rtlCol="0" anchor="b"/>
          <a:lstStyle/>
          <a:p>
            <a:pPr indent="0" marL="0">
              <a:buNone/>
            </a:pPr>
            <a:r>
              <a:rPr lang="en-US" sz="1450" b="1" dirty="0">
                <a:solidFill>
                  <a:srgbClr val="1B1F27"/>
                </a:solidFill>
                <a:latin typeface="Calibri" pitchFamily="34" charset="0"/>
                <a:ea typeface="Calibri" pitchFamily="34" charset="-122"/>
                <a:cs typeface="Calibri" pitchFamily="34" charset="-120"/>
              </a:rPr>
              <a:t>Types of Data</a:t>
            </a:r>
            <a:endParaRPr lang="en-US" sz="1450" dirty="0"/>
          </a:p>
        </p:txBody>
      </p:sp>
      <p:sp>
        <p:nvSpPr>
          <p:cNvPr id="15" name="Text 13"/>
          <p:cNvSpPr/>
          <p:nvPr/>
        </p:nvSpPr>
        <p:spPr>
          <a:xfrm>
            <a:off x="1600200" y="4032504"/>
            <a:ext cx="4206240" cy="329184"/>
          </a:xfrm>
          <a:prstGeom prst="rect">
            <a:avLst/>
          </a:prstGeom>
          <a:noFill/>
          <a:ln/>
        </p:spPr>
        <p:txBody>
          <a:bodyPr wrap="square" rtlCol="0" anchor="t"/>
          <a:lstStyle/>
          <a:p>
            <a:pPr indent="0" marL="0">
              <a:buNone/>
            </a:pPr>
            <a:r>
              <a:rPr lang="en-US" sz="1100" dirty="0">
                <a:solidFill>
                  <a:srgbClr val="5B6672"/>
                </a:solidFill>
                <a:latin typeface="Calibri" pitchFamily="34" charset="0"/>
                <a:ea typeface="Calibri" pitchFamily="34" charset="-122"/>
                <a:cs typeface="Calibri" pitchFamily="34" charset="-120"/>
              </a:rPr>
              <a:t>Numerical vs categorical, nominal vs ordinal</a:t>
            </a:r>
            <a:endParaRPr lang="en-US" sz="1100" dirty="0"/>
          </a:p>
        </p:txBody>
      </p:sp>
      <p:sp>
        <p:nvSpPr>
          <p:cNvPr id="16" name="Shape 14"/>
          <p:cNvSpPr/>
          <p:nvPr/>
        </p:nvSpPr>
        <p:spPr>
          <a:xfrm>
            <a:off x="6309360" y="1691640"/>
            <a:ext cx="5349240" cy="795528"/>
          </a:xfrm>
          <a:prstGeom prst="roundRect">
            <a:avLst>
              <a:gd name="adj" fmla="val 9195"/>
            </a:avLst>
          </a:prstGeom>
          <a:solidFill>
            <a:srgbClr val="E8F1F5"/>
          </a:solidFill>
          <a:ln/>
        </p:spPr>
      </p:sp>
      <p:sp>
        <p:nvSpPr>
          <p:cNvPr id="17" name="Text 15"/>
          <p:cNvSpPr/>
          <p:nvPr/>
        </p:nvSpPr>
        <p:spPr>
          <a:xfrm>
            <a:off x="6510528" y="1691640"/>
            <a:ext cx="822960" cy="795528"/>
          </a:xfrm>
          <a:prstGeom prst="rect">
            <a:avLst/>
          </a:prstGeom>
          <a:noFill/>
          <a:ln/>
        </p:spPr>
        <p:txBody>
          <a:bodyPr wrap="square" rtlCol="0" anchor="ctr"/>
          <a:lstStyle/>
          <a:p>
            <a:pPr indent="0" marL="0">
              <a:buNone/>
            </a:pPr>
            <a:r>
              <a:rPr lang="en-US" sz="2600" b="1" dirty="0">
                <a:solidFill>
                  <a:srgbClr val="AFCBDA"/>
                </a:solidFill>
                <a:latin typeface="Cambria" pitchFamily="34" charset="0"/>
                <a:ea typeface="Cambria" pitchFamily="34" charset="-122"/>
                <a:cs typeface="Cambria" pitchFamily="34" charset="-120"/>
              </a:rPr>
              <a:t>04</a:t>
            </a:r>
            <a:endParaRPr lang="en-US" sz="2600" dirty="0"/>
          </a:p>
        </p:txBody>
      </p:sp>
      <p:sp>
        <p:nvSpPr>
          <p:cNvPr id="18" name="Text 16"/>
          <p:cNvSpPr/>
          <p:nvPr/>
        </p:nvSpPr>
        <p:spPr>
          <a:xfrm>
            <a:off x="7269480" y="1792224"/>
            <a:ext cx="4206240" cy="347472"/>
          </a:xfrm>
          <a:prstGeom prst="rect">
            <a:avLst/>
          </a:prstGeom>
          <a:noFill/>
          <a:ln/>
        </p:spPr>
        <p:txBody>
          <a:bodyPr wrap="square" rtlCol="0" anchor="b"/>
          <a:lstStyle/>
          <a:p>
            <a:pPr indent="0" marL="0">
              <a:buNone/>
            </a:pPr>
            <a:r>
              <a:rPr lang="en-US" sz="1450" b="1" dirty="0">
                <a:solidFill>
                  <a:srgbClr val="1B1F27"/>
                </a:solidFill>
                <a:latin typeface="Calibri" pitchFamily="34" charset="0"/>
                <a:ea typeface="Calibri" pitchFamily="34" charset="-122"/>
                <a:cs typeface="Calibri" pitchFamily="34" charset="-120"/>
              </a:rPr>
              <a:t>Structured vs Unstructured Data</a:t>
            </a:r>
            <a:endParaRPr lang="en-US" sz="1450" dirty="0"/>
          </a:p>
        </p:txBody>
      </p:sp>
      <p:sp>
        <p:nvSpPr>
          <p:cNvPr id="19" name="Text 17"/>
          <p:cNvSpPr/>
          <p:nvPr/>
        </p:nvSpPr>
        <p:spPr>
          <a:xfrm>
            <a:off x="7269480" y="2112264"/>
            <a:ext cx="4206240" cy="329184"/>
          </a:xfrm>
          <a:prstGeom prst="rect">
            <a:avLst/>
          </a:prstGeom>
          <a:noFill/>
          <a:ln/>
        </p:spPr>
        <p:txBody>
          <a:bodyPr wrap="square" rtlCol="0" anchor="t"/>
          <a:lstStyle/>
          <a:p>
            <a:pPr indent="0" marL="0">
              <a:buNone/>
            </a:pPr>
            <a:r>
              <a:rPr lang="en-US" sz="1100" dirty="0">
                <a:solidFill>
                  <a:srgbClr val="5B6672"/>
                </a:solidFill>
                <a:latin typeface="Calibri" pitchFamily="34" charset="0"/>
                <a:ea typeface="Calibri" pitchFamily="34" charset="-122"/>
                <a:cs typeface="Calibri" pitchFamily="34" charset="-120"/>
              </a:rPr>
              <a:t>Formats and real-world examples, in detail</a:t>
            </a:r>
            <a:endParaRPr lang="en-US" sz="1100" dirty="0"/>
          </a:p>
        </p:txBody>
      </p:sp>
      <p:sp>
        <p:nvSpPr>
          <p:cNvPr id="20" name="Shape 18"/>
          <p:cNvSpPr/>
          <p:nvPr/>
        </p:nvSpPr>
        <p:spPr>
          <a:xfrm>
            <a:off x="6309360" y="2651760"/>
            <a:ext cx="5349240" cy="795528"/>
          </a:xfrm>
          <a:prstGeom prst="roundRect">
            <a:avLst>
              <a:gd name="adj" fmla="val 9195"/>
            </a:avLst>
          </a:prstGeom>
          <a:solidFill>
            <a:srgbClr val="E8F1F5"/>
          </a:solidFill>
          <a:ln/>
        </p:spPr>
      </p:sp>
      <p:sp>
        <p:nvSpPr>
          <p:cNvPr id="21" name="Text 19"/>
          <p:cNvSpPr/>
          <p:nvPr/>
        </p:nvSpPr>
        <p:spPr>
          <a:xfrm>
            <a:off x="6510528" y="2651760"/>
            <a:ext cx="822960" cy="795528"/>
          </a:xfrm>
          <a:prstGeom prst="rect">
            <a:avLst/>
          </a:prstGeom>
          <a:noFill/>
          <a:ln/>
        </p:spPr>
        <p:txBody>
          <a:bodyPr wrap="square" rtlCol="0" anchor="ctr"/>
          <a:lstStyle/>
          <a:p>
            <a:pPr indent="0" marL="0">
              <a:buNone/>
            </a:pPr>
            <a:r>
              <a:rPr lang="en-US" sz="2600" b="1" dirty="0">
                <a:solidFill>
                  <a:srgbClr val="AFCBDA"/>
                </a:solidFill>
                <a:latin typeface="Cambria" pitchFamily="34" charset="0"/>
                <a:ea typeface="Cambria" pitchFamily="34" charset="-122"/>
                <a:cs typeface="Cambria" pitchFamily="34" charset="-120"/>
              </a:rPr>
              <a:t>05</a:t>
            </a:r>
            <a:endParaRPr lang="en-US" sz="2600" dirty="0"/>
          </a:p>
        </p:txBody>
      </p:sp>
      <p:sp>
        <p:nvSpPr>
          <p:cNvPr id="22" name="Text 20"/>
          <p:cNvSpPr/>
          <p:nvPr/>
        </p:nvSpPr>
        <p:spPr>
          <a:xfrm>
            <a:off x="7269480" y="2752344"/>
            <a:ext cx="4206240" cy="347472"/>
          </a:xfrm>
          <a:prstGeom prst="rect">
            <a:avLst/>
          </a:prstGeom>
          <a:noFill/>
          <a:ln/>
        </p:spPr>
        <p:txBody>
          <a:bodyPr wrap="square" rtlCol="0" anchor="b"/>
          <a:lstStyle/>
          <a:p>
            <a:pPr indent="0" marL="0">
              <a:buNone/>
            </a:pPr>
            <a:r>
              <a:rPr lang="en-US" sz="1450" b="1" dirty="0">
                <a:solidFill>
                  <a:srgbClr val="1B1F27"/>
                </a:solidFill>
                <a:latin typeface="Calibri" pitchFamily="34" charset="0"/>
                <a:ea typeface="Calibri" pitchFamily="34" charset="-122"/>
                <a:cs typeface="Calibri" pitchFamily="34" charset="-120"/>
              </a:rPr>
              <a:t>Data Types &amp; Data Formats</a:t>
            </a:r>
            <a:endParaRPr lang="en-US" sz="1450" dirty="0"/>
          </a:p>
        </p:txBody>
      </p:sp>
      <p:sp>
        <p:nvSpPr>
          <p:cNvPr id="23" name="Text 21"/>
          <p:cNvSpPr/>
          <p:nvPr/>
        </p:nvSpPr>
        <p:spPr>
          <a:xfrm>
            <a:off x="7269480" y="3072384"/>
            <a:ext cx="4206240" cy="329184"/>
          </a:xfrm>
          <a:prstGeom prst="rect">
            <a:avLst/>
          </a:prstGeom>
          <a:noFill/>
          <a:ln/>
        </p:spPr>
        <p:txBody>
          <a:bodyPr wrap="square" rtlCol="0" anchor="t"/>
          <a:lstStyle/>
          <a:p>
            <a:pPr indent="0" marL="0">
              <a:buNone/>
            </a:pPr>
            <a:r>
              <a:rPr lang="en-US" sz="1100" dirty="0">
                <a:solidFill>
                  <a:srgbClr val="5B6672"/>
                </a:solidFill>
                <a:latin typeface="Calibri" pitchFamily="34" charset="0"/>
                <a:ea typeface="Calibri" pitchFamily="34" charset="-122"/>
                <a:cs typeface="Calibri" pitchFamily="34" charset="-120"/>
              </a:rPr>
              <a:t>How data is stored and exchanged</a:t>
            </a:r>
            <a:endParaRPr lang="en-US" sz="1100" dirty="0"/>
          </a:p>
        </p:txBody>
      </p:sp>
      <p:sp>
        <p:nvSpPr>
          <p:cNvPr id="24" name="Shape 22"/>
          <p:cNvSpPr/>
          <p:nvPr/>
        </p:nvSpPr>
        <p:spPr>
          <a:xfrm>
            <a:off x="6309360" y="3611880"/>
            <a:ext cx="5349240" cy="795528"/>
          </a:xfrm>
          <a:prstGeom prst="roundRect">
            <a:avLst>
              <a:gd name="adj" fmla="val 9195"/>
            </a:avLst>
          </a:prstGeom>
          <a:solidFill>
            <a:srgbClr val="E8F1F5"/>
          </a:solidFill>
          <a:ln/>
        </p:spPr>
      </p:sp>
      <p:sp>
        <p:nvSpPr>
          <p:cNvPr id="25" name="Text 23"/>
          <p:cNvSpPr/>
          <p:nvPr/>
        </p:nvSpPr>
        <p:spPr>
          <a:xfrm>
            <a:off x="6510528" y="3611880"/>
            <a:ext cx="822960" cy="795528"/>
          </a:xfrm>
          <a:prstGeom prst="rect">
            <a:avLst/>
          </a:prstGeom>
          <a:noFill/>
          <a:ln/>
        </p:spPr>
        <p:txBody>
          <a:bodyPr wrap="square" rtlCol="0" anchor="ctr"/>
          <a:lstStyle/>
          <a:p>
            <a:pPr indent="0" marL="0">
              <a:buNone/>
            </a:pPr>
            <a:r>
              <a:rPr lang="en-US" sz="2600" b="1" dirty="0">
                <a:solidFill>
                  <a:srgbClr val="AFCBDA"/>
                </a:solidFill>
                <a:latin typeface="Cambria" pitchFamily="34" charset="0"/>
                <a:ea typeface="Cambria" pitchFamily="34" charset="-122"/>
                <a:cs typeface="Cambria" pitchFamily="34" charset="-120"/>
              </a:rPr>
              <a:t>06</a:t>
            </a:r>
            <a:endParaRPr lang="en-US" sz="2600" dirty="0"/>
          </a:p>
        </p:txBody>
      </p:sp>
      <p:sp>
        <p:nvSpPr>
          <p:cNvPr id="26" name="Text 24"/>
          <p:cNvSpPr/>
          <p:nvPr/>
        </p:nvSpPr>
        <p:spPr>
          <a:xfrm>
            <a:off x="7269480" y="3712464"/>
            <a:ext cx="4206240" cy="347472"/>
          </a:xfrm>
          <a:prstGeom prst="rect">
            <a:avLst/>
          </a:prstGeom>
          <a:noFill/>
          <a:ln/>
        </p:spPr>
        <p:txBody>
          <a:bodyPr wrap="square" rtlCol="0" anchor="b"/>
          <a:lstStyle/>
          <a:p>
            <a:pPr indent="0" marL="0">
              <a:buNone/>
            </a:pPr>
            <a:r>
              <a:rPr lang="en-US" sz="1450" b="1" dirty="0">
                <a:solidFill>
                  <a:srgbClr val="1B1F27"/>
                </a:solidFill>
                <a:latin typeface="Calibri" pitchFamily="34" charset="0"/>
                <a:ea typeface="Calibri" pitchFamily="34" charset="-122"/>
                <a:cs typeface="Calibri" pitchFamily="34" charset="-120"/>
              </a:rPr>
              <a:t>Data Repositories</a:t>
            </a:r>
            <a:endParaRPr lang="en-US" sz="1450" dirty="0"/>
          </a:p>
        </p:txBody>
      </p:sp>
      <p:sp>
        <p:nvSpPr>
          <p:cNvPr id="27" name="Text 25"/>
          <p:cNvSpPr/>
          <p:nvPr/>
        </p:nvSpPr>
        <p:spPr>
          <a:xfrm>
            <a:off x="7269480" y="4032504"/>
            <a:ext cx="4206240" cy="329184"/>
          </a:xfrm>
          <a:prstGeom prst="rect">
            <a:avLst/>
          </a:prstGeom>
          <a:noFill/>
          <a:ln/>
        </p:spPr>
        <p:txBody>
          <a:bodyPr wrap="square" rtlCol="0" anchor="t"/>
          <a:lstStyle/>
          <a:p>
            <a:pPr indent="0" marL="0">
              <a:buNone/>
            </a:pPr>
            <a:r>
              <a:rPr lang="en-US" sz="1100" dirty="0">
                <a:solidFill>
                  <a:srgbClr val="5B6672"/>
                </a:solidFill>
                <a:latin typeface="Calibri" pitchFamily="34" charset="0"/>
                <a:ea typeface="Calibri" pitchFamily="34" charset="-122"/>
                <a:cs typeface="Calibri" pitchFamily="34" charset="-120"/>
              </a:rPr>
              <a:t>Databases, Warehouses, Marts, Lakes &amp; Pipelines</a:t>
            </a:r>
            <a:endParaRPr lang="en-US" sz="1100" dirty="0"/>
          </a:p>
        </p:txBody>
      </p:sp>
      <p:sp>
        <p:nvSpPr>
          <p:cNvPr id="28" name="Text 2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1828800" y="2926080"/>
            <a:ext cx="5486400" cy="5486400"/>
          </a:xfrm>
          <a:prstGeom prst="ellipse">
            <a:avLst/>
          </a:prstGeom>
          <a:solidFill>
            <a:srgbClr val="1C7293">
              <a:alpha val="40000"/>
            </a:srgbClr>
          </a:solidFill>
          <a:ln/>
        </p:spPr>
      </p:sp>
      <p:sp>
        <p:nvSpPr>
          <p:cNvPr id="3" name="Shape 1"/>
          <p:cNvSpPr/>
          <p:nvPr/>
        </p:nvSpPr>
        <p:spPr>
          <a:xfrm>
            <a:off x="9601200" y="-1828800"/>
            <a:ext cx="4572000" cy="4572000"/>
          </a:xfrm>
          <a:prstGeom prst="ellipse">
            <a:avLst/>
          </a:prstGeom>
          <a:solidFill>
            <a:srgbClr val="21295C">
              <a:alpha val="60000"/>
            </a:srgbClr>
          </a:solidFill>
          <a:ln/>
        </p:spPr>
      </p:sp>
      <p:sp>
        <p:nvSpPr>
          <p:cNvPr id="4" name="Text 2"/>
          <p:cNvSpPr/>
          <p:nvPr/>
        </p:nvSpPr>
        <p:spPr>
          <a:xfrm>
            <a:off x="822960" y="2651760"/>
            <a:ext cx="7315200" cy="411480"/>
          </a:xfrm>
          <a:prstGeom prst="rect">
            <a:avLst/>
          </a:prstGeom>
          <a:noFill/>
          <a:ln/>
        </p:spPr>
        <p:txBody>
          <a:bodyPr wrap="square" rtlCol="0" anchor="ctr"/>
          <a:lstStyle/>
          <a:p>
            <a:pPr indent="0" marL="0">
              <a:buNone/>
            </a:pPr>
            <a:r>
              <a:rPr lang="en-US" sz="1500" b="1" spc="300" kern="0" dirty="0">
                <a:solidFill>
                  <a:srgbClr val="9FC4DA"/>
                </a:solidFill>
                <a:latin typeface="Calibri" pitchFamily="34" charset="0"/>
                <a:ea typeface="Calibri" pitchFamily="34" charset="-122"/>
                <a:cs typeface="Calibri" pitchFamily="34" charset="-120"/>
              </a:rPr>
              <a:t>PART ONE</a:t>
            </a:r>
            <a:endParaRPr lang="en-US" sz="1500" dirty="0"/>
          </a:p>
        </p:txBody>
      </p:sp>
      <p:sp>
        <p:nvSpPr>
          <p:cNvPr id="5" name="Text 3"/>
          <p:cNvSpPr/>
          <p:nvPr/>
        </p:nvSpPr>
        <p:spPr>
          <a:xfrm>
            <a:off x="777240" y="3017520"/>
            <a:ext cx="9601200" cy="118872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Introduction &amp; Terminology</a:t>
            </a:r>
            <a:endParaRPr lang="en-US" sz="3800" dirty="0"/>
          </a:p>
        </p:txBody>
      </p:sp>
      <p:sp>
        <p:nvSpPr>
          <p:cNvPr id="6" name="Text 4"/>
          <p:cNvSpPr/>
          <p:nvPr/>
        </p:nvSpPr>
        <p:spPr>
          <a:xfrm>
            <a:off x="822960" y="3977640"/>
            <a:ext cx="8686800" cy="457200"/>
          </a:xfrm>
          <a:prstGeom prst="rect">
            <a:avLst/>
          </a:prstGeom>
          <a:noFill/>
          <a:ln/>
        </p:spPr>
        <p:txBody>
          <a:bodyPr wrap="square" rtlCol="0" anchor="ctr"/>
          <a:lstStyle/>
          <a:p>
            <a:pPr indent="0" marL="0">
              <a:buNone/>
            </a:pPr>
            <a:r>
              <a:rPr lang="en-US" sz="1400" i="1" dirty="0">
                <a:solidFill>
                  <a:srgbClr val="E8F1F5"/>
                </a:solidFill>
                <a:latin typeface="Calibri" pitchFamily="34" charset="0"/>
                <a:ea typeface="Calibri" pitchFamily="34" charset="-122"/>
                <a:cs typeface="Calibri" pitchFamily="34" charset="-120"/>
              </a:rPr>
              <a:t>Getting comfortable with the language of data analytics</a:t>
            </a:r>
            <a:endParaRPr lang="en-US" sz="1400" dirty="0"/>
          </a:p>
        </p:txBody>
      </p:sp>
      <p:sp>
        <p:nvSpPr>
          <p:cNvPr id="7"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What is Data Analytics?</a:t>
            </a:r>
            <a:endParaRPr lang="en-US" sz="3000" dirty="0"/>
          </a:p>
        </p:txBody>
      </p:sp>
      <p:sp>
        <p:nvSpPr>
          <p:cNvPr id="3" name="Shape 1"/>
          <p:cNvSpPr/>
          <p:nvPr/>
        </p:nvSpPr>
        <p:spPr>
          <a:xfrm>
            <a:off x="640080" y="1325880"/>
            <a:ext cx="5486400" cy="1554480"/>
          </a:xfrm>
          <a:prstGeom prst="roundRect">
            <a:avLst>
              <a:gd name="adj" fmla="val 4706"/>
            </a:avLst>
          </a:prstGeom>
          <a:solidFill>
            <a:srgbClr val="E8F1F5"/>
          </a:solidFill>
          <a:ln/>
        </p:spPr>
      </p:sp>
      <p:sp>
        <p:nvSpPr>
          <p:cNvPr id="4" name="Text 2"/>
          <p:cNvSpPr/>
          <p:nvPr/>
        </p:nvSpPr>
        <p:spPr>
          <a:xfrm>
            <a:off x="914400" y="1481328"/>
            <a:ext cx="4937760" cy="1280160"/>
          </a:xfrm>
          <a:prstGeom prst="rect">
            <a:avLst/>
          </a:prstGeom>
          <a:noFill/>
          <a:ln/>
        </p:spPr>
        <p:txBody>
          <a:bodyPr wrap="square" rtlCol="0" anchor="ctr"/>
          <a:lstStyle/>
          <a:p>
            <a:pPr indent="0" marL="0">
              <a:lnSpc>
                <a:spcPts val="2100"/>
              </a:lnSpc>
              <a:buNone/>
            </a:pPr>
            <a:r>
              <a:rPr lang="en-US" sz="1500" b="1" dirty="0">
                <a:solidFill>
                  <a:srgbClr val="065A82"/>
                </a:solidFill>
                <a:latin typeface="Calibri" pitchFamily="34" charset="0"/>
                <a:ea typeface="Calibri" pitchFamily="34" charset="-122"/>
                <a:cs typeface="Calibri" pitchFamily="34" charset="-120"/>
              </a:rPr>
              <a:t>Data Analytics </a:t>
            </a:r>
            <a:pPr indent="0" marL="0">
              <a:lnSpc>
                <a:spcPts val="2100"/>
              </a:lnSpc>
              <a:buNone/>
            </a:pPr>
            <a:r>
              <a:rPr lang="en-US" sz="1500" dirty="0">
                <a:solidFill>
                  <a:srgbClr val="1B1F27"/>
                </a:solidFill>
                <a:latin typeface="Calibri" pitchFamily="34" charset="0"/>
                <a:ea typeface="Calibri" pitchFamily="34" charset="-122"/>
                <a:cs typeface="Calibri" pitchFamily="34" charset="-120"/>
              </a:rPr>
              <a:t>is the process of examining raw data to uncover patterns, draw conclusions, and support decision-making.</a:t>
            </a:r>
            <a:endParaRPr lang="en-US" sz="1500" dirty="0"/>
          </a:p>
        </p:txBody>
      </p:sp>
      <p:sp>
        <p:nvSpPr>
          <p:cNvPr id="5" name="Shape 3"/>
          <p:cNvSpPr/>
          <p:nvPr/>
        </p:nvSpPr>
        <p:spPr>
          <a:xfrm>
            <a:off x="640080" y="3246120"/>
            <a:ext cx="2606040" cy="1417320"/>
          </a:xfrm>
          <a:prstGeom prst="roundRect">
            <a:avLst>
              <a:gd name="adj" fmla="val 5161"/>
            </a:avLst>
          </a:prstGeom>
          <a:solidFill>
            <a:srgbClr val="065A82"/>
          </a:solidFill>
          <a:ln/>
        </p:spPr>
      </p:sp>
      <p:sp>
        <p:nvSpPr>
          <p:cNvPr id="6" name="Text 4"/>
          <p:cNvSpPr/>
          <p:nvPr/>
        </p:nvSpPr>
        <p:spPr>
          <a:xfrm>
            <a:off x="804672" y="3355848"/>
            <a:ext cx="548640" cy="365760"/>
          </a:xfrm>
          <a:prstGeom prst="rect">
            <a:avLst/>
          </a:prstGeom>
          <a:noFill/>
          <a:ln/>
        </p:spPr>
        <p:txBody>
          <a:bodyPr wrap="square" rtlCol="0" anchor="ctr"/>
          <a:lstStyle/>
          <a:p>
            <a:pPr indent="0" marL="0">
              <a:buNone/>
            </a:pPr>
            <a:r>
              <a:rPr lang="en-US" sz="1800" b="1" dirty="0">
                <a:solidFill>
                  <a:srgbClr val="BBDDEA"/>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804672" y="3703320"/>
            <a:ext cx="2276856"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Collect</a:t>
            </a:r>
            <a:endParaRPr lang="en-US" sz="1500" dirty="0"/>
          </a:p>
        </p:txBody>
      </p:sp>
      <p:sp>
        <p:nvSpPr>
          <p:cNvPr id="8" name="Text 6"/>
          <p:cNvSpPr/>
          <p:nvPr/>
        </p:nvSpPr>
        <p:spPr>
          <a:xfrm>
            <a:off x="804672" y="4023360"/>
            <a:ext cx="2276856" cy="548640"/>
          </a:xfrm>
          <a:prstGeom prst="rect">
            <a:avLst/>
          </a:prstGeom>
          <a:noFill/>
          <a:ln/>
        </p:spPr>
        <p:txBody>
          <a:bodyPr wrap="square" rtlCol="0" anchor="ctr"/>
          <a:lstStyle/>
          <a:p>
            <a:pPr indent="0" marL="0">
              <a:lnSpc>
                <a:spcPts val="1300"/>
              </a:lnSpc>
              <a:buNone/>
            </a:pPr>
            <a:r>
              <a:rPr lang="en-US" sz="1050" dirty="0">
                <a:solidFill>
                  <a:srgbClr val="E4F0F5"/>
                </a:solidFill>
                <a:latin typeface="Calibri" pitchFamily="34" charset="0"/>
                <a:ea typeface="Calibri" pitchFamily="34" charset="-122"/>
                <a:cs typeface="Calibri" pitchFamily="34" charset="-120"/>
              </a:rPr>
              <a:t>Gather raw data from various sources</a:t>
            </a:r>
            <a:endParaRPr lang="en-US" sz="1050" dirty="0"/>
          </a:p>
        </p:txBody>
      </p:sp>
      <p:sp>
        <p:nvSpPr>
          <p:cNvPr id="9" name="Shape 7"/>
          <p:cNvSpPr/>
          <p:nvPr/>
        </p:nvSpPr>
        <p:spPr>
          <a:xfrm rot="5400000">
            <a:off x="3264408" y="3813048"/>
            <a:ext cx="146304" cy="274320"/>
          </a:xfrm>
          <a:prstGeom prst="triangle">
            <a:avLst/>
          </a:prstGeom>
          <a:solidFill>
            <a:srgbClr val="5B6672"/>
          </a:solidFill>
          <a:ln/>
        </p:spPr>
      </p:sp>
      <p:sp>
        <p:nvSpPr>
          <p:cNvPr id="10" name="Shape 8"/>
          <p:cNvSpPr/>
          <p:nvPr/>
        </p:nvSpPr>
        <p:spPr>
          <a:xfrm>
            <a:off x="3447288" y="3246120"/>
            <a:ext cx="2606040" cy="1417320"/>
          </a:xfrm>
          <a:prstGeom prst="roundRect">
            <a:avLst>
              <a:gd name="adj" fmla="val 5161"/>
            </a:avLst>
          </a:prstGeom>
          <a:solidFill>
            <a:srgbClr val="1C7293"/>
          </a:solidFill>
          <a:ln/>
        </p:spPr>
      </p:sp>
      <p:sp>
        <p:nvSpPr>
          <p:cNvPr id="11" name="Text 9"/>
          <p:cNvSpPr/>
          <p:nvPr/>
        </p:nvSpPr>
        <p:spPr>
          <a:xfrm>
            <a:off x="3611880" y="3355848"/>
            <a:ext cx="548640" cy="365760"/>
          </a:xfrm>
          <a:prstGeom prst="rect">
            <a:avLst/>
          </a:prstGeom>
          <a:noFill/>
          <a:ln/>
        </p:spPr>
        <p:txBody>
          <a:bodyPr wrap="square" rtlCol="0" anchor="ctr"/>
          <a:lstStyle/>
          <a:p>
            <a:pPr indent="0" marL="0">
              <a:buNone/>
            </a:pPr>
            <a:r>
              <a:rPr lang="en-US" sz="1800" b="1" dirty="0">
                <a:solidFill>
                  <a:srgbClr val="BBDDEA"/>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3611880" y="3703320"/>
            <a:ext cx="2276856"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Clean</a:t>
            </a:r>
            <a:endParaRPr lang="en-US" sz="1500" dirty="0"/>
          </a:p>
        </p:txBody>
      </p:sp>
      <p:sp>
        <p:nvSpPr>
          <p:cNvPr id="13" name="Text 11"/>
          <p:cNvSpPr/>
          <p:nvPr/>
        </p:nvSpPr>
        <p:spPr>
          <a:xfrm>
            <a:off x="3611880" y="4023360"/>
            <a:ext cx="2276856" cy="548640"/>
          </a:xfrm>
          <a:prstGeom prst="rect">
            <a:avLst/>
          </a:prstGeom>
          <a:noFill/>
          <a:ln/>
        </p:spPr>
        <p:txBody>
          <a:bodyPr wrap="square" rtlCol="0" anchor="ctr"/>
          <a:lstStyle/>
          <a:p>
            <a:pPr indent="0" marL="0">
              <a:lnSpc>
                <a:spcPts val="1300"/>
              </a:lnSpc>
              <a:buNone/>
            </a:pPr>
            <a:r>
              <a:rPr lang="en-US" sz="1050" dirty="0">
                <a:solidFill>
                  <a:srgbClr val="E4F0F5"/>
                </a:solidFill>
                <a:latin typeface="Calibri" pitchFamily="34" charset="0"/>
                <a:ea typeface="Calibri" pitchFamily="34" charset="-122"/>
                <a:cs typeface="Calibri" pitchFamily="34" charset="-120"/>
              </a:rPr>
              <a:t>Remove errors and inconsistencies</a:t>
            </a:r>
            <a:endParaRPr lang="en-US" sz="1050" dirty="0"/>
          </a:p>
        </p:txBody>
      </p:sp>
      <p:sp>
        <p:nvSpPr>
          <p:cNvPr id="14" name="Shape 12"/>
          <p:cNvSpPr/>
          <p:nvPr/>
        </p:nvSpPr>
        <p:spPr>
          <a:xfrm rot="5400000">
            <a:off x="6071616" y="3813048"/>
            <a:ext cx="146304" cy="274320"/>
          </a:xfrm>
          <a:prstGeom prst="triangle">
            <a:avLst/>
          </a:prstGeom>
          <a:solidFill>
            <a:srgbClr val="5B6672"/>
          </a:solidFill>
          <a:ln/>
        </p:spPr>
      </p:sp>
      <p:sp>
        <p:nvSpPr>
          <p:cNvPr id="15" name="Shape 13"/>
          <p:cNvSpPr/>
          <p:nvPr/>
        </p:nvSpPr>
        <p:spPr>
          <a:xfrm>
            <a:off x="6254496" y="3246120"/>
            <a:ext cx="2606040" cy="1417320"/>
          </a:xfrm>
          <a:prstGeom prst="roundRect">
            <a:avLst>
              <a:gd name="adj" fmla="val 5161"/>
            </a:avLst>
          </a:prstGeom>
          <a:solidFill>
            <a:srgbClr val="065A82"/>
          </a:solidFill>
          <a:ln/>
        </p:spPr>
      </p:sp>
      <p:sp>
        <p:nvSpPr>
          <p:cNvPr id="16" name="Text 14"/>
          <p:cNvSpPr/>
          <p:nvPr/>
        </p:nvSpPr>
        <p:spPr>
          <a:xfrm>
            <a:off x="6419088" y="3355848"/>
            <a:ext cx="548640" cy="365760"/>
          </a:xfrm>
          <a:prstGeom prst="rect">
            <a:avLst/>
          </a:prstGeom>
          <a:noFill/>
          <a:ln/>
        </p:spPr>
        <p:txBody>
          <a:bodyPr wrap="square" rtlCol="0" anchor="ctr"/>
          <a:lstStyle/>
          <a:p>
            <a:pPr indent="0" marL="0">
              <a:buNone/>
            </a:pPr>
            <a:r>
              <a:rPr lang="en-US" sz="1800" b="1" dirty="0">
                <a:solidFill>
                  <a:srgbClr val="BBDDEA"/>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6419088" y="3703320"/>
            <a:ext cx="2276856"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Analyze</a:t>
            </a:r>
            <a:endParaRPr lang="en-US" sz="1500" dirty="0"/>
          </a:p>
        </p:txBody>
      </p:sp>
      <p:sp>
        <p:nvSpPr>
          <p:cNvPr id="18" name="Text 16"/>
          <p:cNvSpPr/>
          <p:nvPr/>
        </p:nvSpPr>
        <p:spPr>
          <a:xfrm>
            <a:off x="6419088" y="4023360"/>
            <a:ext cx="2276856" cy="548640"/>
          </a:xfrm>
          <a:prstGeom prst="rect">
            <a:avLst/>
          </a:prstGeom>
          <a:noFill/>
          <a:ln/>
        </p:spPr>
        <p:txBody>
          <a:bodyPr wrap="square" rtlCol="0" anchor="ctr"/>
          <a:lstStyle/>
          <a:p>
            <a:pPr indent="0" marL="0">
              <a:lnSpc>
                <a:spcPts val="1300"/>
              </a:lnSpc>
              <a:buNone/>
            </a:pPr>
            <a:r>
              <a:rPr lang="en-US" sz="1050" dirty="0">
                <a:solidFill>
                  <a:srgbClr val="E4F0F5"/>
                </a:solidFill>
                <a:latin typeface="Calibri" pitchFamily="34" charset="0"/>
                <a:ea typeface="Calibri" pitchFamily="34" charset="-122"/>
                <a:cs typeface="Calibri" pitchFamily="34" charset="-120"/>
              </a:rPr>
              <a:t>Apply statistical &amp; computational methods</a:t>
            </a:r>
            <a:endParaRPr lang="en-US" sz="1050" dirty="0"/>
          </a:p>
        </p:txBody>
      </p:sp>
      <p:sp>
        <p:nvSpPr>
          <p:cNvPr id="19" name="Shape 17"/>
          <p:cNvSpPr/>
          <p:nvPr/>
        </p:nvSpPr>
        <p:spPr>
          <a:xfrm rot="5400000">
            <a:off x="8878824" y="3813048"/>
            <a:ext cx="146304" cy="274320"/>
          </a:xfrm>
          <a:prstGeom prst="triangle">
            <a:avLst/>
          </a:prstGeom>
          <a:solidFill>
            <a:srgbClr val="5B6672"/>
          </a:solidFill>
          <a:ln/>
        </p:spPr>
      </p:sp>
      <p:sp>
        <p:nvSpPr>
          <p:cNvPr id="20" name="Shape 18"/>
          <p:cNvSpPr/>
          <p:nvPr/>
        </p:nvSpPr>
        <p:spPr>
          <a:xfrm>
            <a:off x="9061704" y="3246120"/>
            <a:ext cx="2606040" cy="1417320"/>
          </a:xfrm>
          <a:prstGeom prst="roundRect">
            <a:avLst>
              <a:gd name="adj" fmla="val 5161"/>
            </a:avLst>
          </a:prstGeom>
          <a:solidFill>
            <a:srgbClr val="1C7293"/>
          </a:solidFill>
          <a:ln/>
        </p:spPr>
      </p:sp>
      <p:sp>
        <p:nvSpPr>
          <p:cNvPr id="21" name="Text 19"/>
          <p:cNvSpPr/>
          <p:nvPr/>
        </p:nvSpPr>
        <p:spPr>
          <a:xfrm>
            <a:off x="9226296" y="3355848"/>
            <a:ext cx="548640" cy="365760"/>
          </a:xfrm>
          <a:prstGeom prst="rect">
            <a:avLst/>
          </a:prstGeom>
          <a:noFill/>
          <a:ln/>
        </p:spPr>
        <p:txBody>
          <a:bodyPr wrap="square" rtlCol="0" anchor="ctr"/>
          <a:lstStyle/>
          <a:p>
            <a:pPr indent="0" marL="0">
              <a:buNone/>
            </a:pPr>
            <a:r>
              <a:rPr lang="en-US" sz="1800" b="1" dirty="0">
                <a:solidFill>
                  <a:srgbClr val="BBDDEA"/>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9226296" y="3703320"/>
            <a:ext cx="2276856"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Interpret</a:t>
            </a:r>
            <a:endParaRPr lang="en-US" sz="1500" dirty="0"/>
          </a:p>
        </p:txBody>
      </p:sp>
      <p:sp>
        <p:nvSpPr>
          <p:cNvPr id="23" name="Text 21"/>
          <p:cNvSpPr/>
          <p:nvPr/>
        </p:nvSpPr>
        <p:spPr>
          <a:xfrm>
            <a:off x="9226296" y="4023360"/>
            <a:ext cx="2276856" cy="548640"/>
          </a:xfrm>
          <a:prstGeom prst="rect">
            <a:avLst/>
          </a:prstGeom>
          <a:noFill/>
          <a:ln/>
        </p:spPr>
        <p:txBody>
          <a:bodyPr wrap="square" rtlCol="0" anchor="ctr"/>
          <a:lstStyle/>
          <a:p>
            <a:pPr indent="0" marL="0">
              <a:lnSpc>
                <a:spcPts val="1300"/>
              </a:lnSpc>
              <a:buNone/>
            </a:pPr>
            <a:r>
              <a:rPr lang="en-US" sz="1050" dirty="0">
                <a:solidFill>
                  <a:srgbClr val="E4F0F5"/>
                </a:solidFill>
                <a:latin typeface="Calibri" pitchFamily="34" charset="0"/>
                <a:ea typeface="Calibri" pitchFamily="34" charset="-122"/>
                <a:cs typeface="Calibri" pitchFamily="34" charset="-120"/>
              </a:rPr>
              <a:t>Turn results into decisions &amp; insight</a:t>
            </a:r>
            <a:endParaRPr lang="en-US" sz="1050" dirty="0"/>
          </a:p>
        </p:txBody>
      </p:sp>
      <p:sp>
        <p:nvSpPr>
          <p:cNvPr id="24" name="Shape 22"/>
          <p:cNvSpPr/>
          <p:nvPr/>
        </p:nvSpPr>
        <p:spPr>
          <a:xfrm>
            <a:off x="6400800" y="1325880"/>
            <a:ext cx="5148072" cy="1554480"/>
          </a:xfrm>
          <a:prstGeom prst="roundRect">
            <a:avLst>
              <a:gd name="adj" fmla="val 4706"/>
            </a:avLst>
          </a:prstGeom>
          <a:solidFill>
            <a:srgbClr val="21295C"/>
          </a:solidFill>
          <a:ln/>
        </p:spPr>
      </p:sp>
      <p:sp>
        <p:nvSpPr>
          <p:cNvPr id="25" name="Shape 23"/>
          <p:cNvSpPr/>
          <p:nvPr/>
        </p:nvSpPr>
        <p:spPr>
          <a:xfrm>
            <a:off x="6629400" y="1536192"/>
            <a:ext cx="640080" cy="640080"/>
          </a:xfrm>
          <a:prstGeom prst="ellipse">
            <a:avLst/>
          </a:prstGeom>
          <a:solidFill>
            <a:srgbClr val="065A82"/>
          </a:solidFill>
          <a:ln/>
        </p:spPr>
      </p:sp>
      <p:pic>
        <p:nvPicPr>
          <p:cNvPr id="26" name="Image 0" descr="/home/claude/ppt/icons/target.png">    </p:cNvPr>
          <p:cNvPicPr>
            <a:picLocks noChangeAspect="1"/>
          </p:cNvPicPr>
          <p:nvPr/>
        </p:nvPicPr>
        <p:blipFill>
          <a:blip r:embed="rId1"/>
          <a:stretch>
            <a:fillRect/>
          </a:stretch>
        </p:blipFill>
        <p:spPr>
          <a:xfrm>
            <a:off x="6795821" y="1702613"/>
            <a:ext cx="307238" cy="307238"/>
          </a:xfrm>
          <a:prstGeom prst="rect">
            <a:avLst/>
          </a:prstGeom>
        </p:spPr>
      </p:pic>
      <p:sp>
        <p:nvSpPr>
          <p:cNvPr id="27" name="Text 24"/>
          <p:cNvSpPr/>
          <p:nvPr/>
        </p:nvSpPr>
        <p:spPr>
          <a:xfrm>
            <a:off x="7406640" y="1481328"/>
            <a:ext cx="402336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p>
        </p:txBody>
      </p:sp>
      <p:sp>
        <p:nvSpPr>
          <p:cNvPr id="28" name="Text 25"/>
          <p:cNvSpPr/>
          <p:nvPr/>
        </p:nvSpPr>
        <p:spPr>
          <a:xfrm>
            <a:off x="7406640" y="1810512"/>
            <a:ext cx="3977640" cy="1005840"/>
          </a:xfrm>
          <a:prstGeom prst="rect">
            <a:avLst/>
          </a:prstGeom>
          <a:noFill/>
          <a:ln/>
        </p:spPr>
        <p:txBody>
          <a:bodyPr wrap="square" rtlCol="0" anchor="ctr"/>
          <a:lstStyle/>
          <a:p>
            <a:pPr indent="0" marL="0">
              <a:lnSpc>
                <a:spcPts val="1400"/>
              </a:lnSpc>
              <a:buNone/>
            </a:pPr>
            <a:r>
              <a:rPr lang="en-US" sz="1100" dirty="0">
                <a:solidFill>
                  <a:srgbClr val="E8F1F5"/>
                </a:solidFill>
                <a:latin typeface="Calibri" pitchFamily="34" charset="0"/>
                <a:ea typeface="Calibri" pitchFamily="34" charset="-122"/>
                <a:cs typeface="Calibri" pitchFamily="34" charset="-120"/>
              </a:rPr>
              <a:t>Organizations use analytics to spot trends, understand customers, reduce risk, and make evidence-based decisions instead of guesswork.</a:t>
            </a:r>
            <a:endParaRPr lang="en-US" sz="1100" dirty="0"/>
          </a:p>
        </p:txBody>
      </p:sp>
      <p:sp>
        <p:nvSpPr>
          <p:cNvPr id="29" name="Text 26"/>
          <p:cNvSpPr/>
          <p:nvPr/>
        </p:nvSpPr>
        <p:spPr>
          <a:xfrm>
            <a:off x="640080" y="4892040"/>
            <a:ext cx="10881360" cy="365760"/>
          </a:xfrm>
          <a:prstGeom prst="rect">
            <a:avLst/>
          </a:prstGeom>
          <a:noFill/>
          <a:ln/>
        </p:spPr>
        <p:txBody>
          <a:bodyPr wrap="square" rtlCol="0" anchor="ctr"/>
          <a:lstStyle/>
          <a:p>
            <a:pPr indent="0" marL="0">
              <a:buNone/>
            </a:pPr>
            <a:r>
              <a:rPr lang="en-US" sz="1050" i="1" dirty="0">
                <a:solidFill>
                  <a:srgbClr val="5B6672"/>
                </a:solidFill>
                <a:latin typeface="Calibri" pitchFamily="34" charset="0"/>
                <a:ea typeface="Calibri" pitchFamily="34" charset="-122"/>
                <a:cs typeface="Calibri" pitchFamily="34" charset="-120"/>
              </a:rPr>
              <a:t>Teaching tip: ask students for one everyday example of analytics (Netflix recommendations, Google Maps traffic, etc.)</a:t>
            </a:r>
            <a:endParaRPr lang="en-US" sz="1050" dirty="0"/>
          </a:p>
        </p:txBody>
      </p:sp>
      <p:sp>
        <p:nvSpPr>
          <p:cNvPr id="31" name="Text 2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Key Terminologies in Data Analytics</a:t>
            </a:r>
            <a:endParaRPr lang="en-US" sz="2800" dirty="0"/>
          </a:p>
        </p:txBody>
      </p:sp>
      <p:sp>
        <p:nvSpPr>
          <p:cNvPr id="3" name="Text 1"/>
          <p:cNvSpPr/>
          <p:nvPr/>
        </p:nvSpPr>
        <p:spPr>
          <a:xfrm>
            <a:off x="640080" y="1005840"/>
            <a:ext cx="9144000" cy="365760"/>
          </a:xfrm>
          <a:prstGeom prst="rect">
            <a:avLst/>
          </a:prstGeom>
          <a:noFill/>
          <a:ln/>
        </p:spPr>
        <p:txBody>
          <a:bodyPr wrap="square" rtlCol="0" anchor="ctr"/>
          <a:lstStyle/>
          <a:p>
            <a:pPr indent="0" marL="0">
              <a:buNone/>
            </a:pPr>
            <a:r>
              <a:rPr lang="en-US" sz="1300" dirty="0">
                <a:solidFill>
                  <a:srgbClr val="5B6672"/>
                </a:solidFill>
                <a:latin typeface="Calibri" pitchFamily="34" charset="0"/>
                <a:ea typeface="Calibri" pitchFamily="34" charset="-122"/>
                <a:cs typeface="Calibri" pitchFamily="34" charset="-120"/>
              </a:rPr>
              <a:t>Core vocabulary you'll use throughout this unit</a:t>
            </a:r>
            <a:endParaRPr lang="en-US" sz="1300" dirty="0"/>
          </a:p>
        </p:txBody>
      </p:sp>
      <p:sp>
        <p:nvSpPr>
          <p:cNvPr id="4" name="Shape 2"/>
          <p:cNvSpPr/>
          <p:nvPr/>
        </p:nvSpPr>
        <p:spPr>
          <a:xfrm>
            <a:off x="640080" y="1600200"/>
            <a:ext cx="3520440" cy="1600200"/>
          </a:xfrm>
          <a:prstGeom prst="roundRect">
            <a:avLst>
              <a:gd name="adj" fmla="val 4571"/>
            </a:avLst>
          </a:prstGeom>
          <a:solidFill>
            <a:srgbClr val="E8F1F5"/>
          </a:solidFill>
          <a:ln/>
        </p:spPr>
      </p:sp>
      <p:sp>
        <p:nvSpPr>
          <p:cNvPr id="5" name="Shape 3"/>
          <p:cNvSpPr/>
          <p:nvPr/>
        </p:nvSpPr>
        <p:spPr>
          <a:xfrm>
            <a:off x="841248" y="1801368"/>
            <a:ext cx="566928" cy="566928"/>
          </a:xfrm>
          <a:prstGeom prst="ellipse">
            <a:avLst/>
          </a:prstGeom>
          <a:solidFill>
            <a:srgbClr val="065A82"/>
          </a:solidFill>
          <a:ln/>
        </p:spPr>
      </p:sp>
      <p:pic>
        <p:nvPicPr>
          <p:cNvPr id="6" name="Image 0" descr="/home/claude/ppt/icons/data.png">    </p:cNvPr>
          <p:cNvPicPr>
            <a:picLocks noChangeAspect="1"/>
          </p:cNvPicPr>
          <p:nvPr/>
        </p:nvPicPr>
        <p:blipFill>
          <a:blip r:embed="rId1"/>
          <a:stretch>
            <a:fillRect/>
          </a:stretch>
        </p:blipFill>
        <p:spPr>
          <a:xfrm>
            <a:off x="988649" y="1948769"/>
            <a:ext cx="272125" cy="272125"/>
          </a:xfrm>
          <a:prstGeom prst="rect">
            <a:avLst/>
          </a:prstGeom>
        </p:spPr>
      </p:pic>
      <p:sp>
        <p:nvSpPr>
          <p:cNvPr id="7" name="Text 4"/>
          <p:cNvSpPr/>
          <p:nvPr/>
        </p:nvSpPr>
        <p:spPr>
          <a:xfrm>
            <a:off x="1554480" y="1783080"/>
            <a:ext cx="2468880" cy="365760"/>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Data</a:t>
            </a:r>
            <a:endParaRPr lang="en-US" sz="1450" dirty="0"/>
          </a:p>
        </p:txBody>
      </p:sp>
      <p:sp>
        <p:nvSpPr>
          <p:cNvPr id="8" name="Text 5"/>
          <p:cNvSpPr/>
          <p:nvPr/>
        </p:nvSpPr>
        <p:spPr>
          <a:xfrm>
            <a:off x="841248" y="2441448"/>
            <a:ext cx="3118104" cy="685800"/>
          </a:xfrm>
          <a:prstGeom prst="rect">
            <a:avLst/>
          </a:prstGeom>
          <a:noFill/>
          <a:ln/>
        </p:spPr>
        <p:txBody>
          <a:bodyPr wrap="square" rtlCol="0" anchor="ctr"/>
          <a:lstStyle/>
          <a:p>
            <a:pPr indent="0" marL="0">
              <a:lnSpc>
                <a:spcPts val="1300"/>
              </a:lnSpc>
              <a:buNone/>
            </a:pPr>
            <a:r>
              <a:rPr lang="en-US" sz="1050" dirty="0">
                <a:solidFill>
                  <a:srgbClr val="1B1F27"/>
                </a:solidFill>
                <a:latin typeface="Calibri" pitchFamily="34" charset="0"/>
                <a:ea typeface="Calibri" pitchFamily="34" charset="-122"/>
                <a:cs typeface="Calibri" pitchFamily="34" charset="-120"/>
              </a:rPr>
              <a:t>Raw, unprocessed facts and figures (numbers, text, images) with no context on their own.</a:t>
            </a:r>
            <a:endParaRPr lang="en-US" sz="1050" dirty="0"/>
          </a:p>
        </p:txBody>
      </p:sp>
      <p:sp>
        <p:nvSpPr>
          <p:cNvPr id="9" name="Shape 6"/>
          <p:cNvSpPr/>
          <p:nvPr/>
        </p:nvSpPr>
        <p:spPr>
          <a:xfrm>
            <a:off x="4343400" y="1600200"/>
            <a:ext cx="3520440" cy="1600200"/>
          </a:xfrm>
          <a:prstGeom prst="roundRect">
            <a:avLst>
              <a:gd name="adj" fmla="val 4571"/>
            </a:avLst>
          </a:prstGeom>
          <a:solidFill>
            <a:srgbClr val="E8F1F5"/>
          </a:solidFill>
          <a:ln/>
        </p:spPr>
      </p:sp>
      <p:sp>
        <p:nvSpPr>
          <p:cNvPr id="10" name="Shape 7"/>
          <p:cNvSpPr/>
          <p:nvPr/>
        </p:nvSpPr>
        <p:spPr>
          <a:xfrm>
            <a:off x="4544568" y="1801368"/>
            <a:ext cx="566928" cy="566928"/>
          </a:xfrm>
          <a:prstGeom prst="ellipse">
            <a:avLst/>
          </a:prstGeom>
          <a:solidFill>
            <a:srgbClr val="065A82"/>
          </a:solidFill>
          <a:ln/>
        </p:spPr>
      </p:sp>
      <p:pic>
        <p:nvPicPr>
          <p:cNvPr id="11" name="Image 1" descr="/home/claude/ppt/icons/info.png">    </p:cNvPr>
          <p:cNvPicPr>
            <a:picLocks noChangeAspect="1"/>
          </p:cNvPicPr>
          <p:nvPr/>
        </p:nvPicPr>
        <p:blipFill>
          <a:blip r:embed="rId2"/>
          <a:stretch>
            <a:fillRect/>
          </a:stretch>
        </p:blipFill>
        <p:spPr>
          <a:xfrm>
            <a:off x="4691969" y="1948769"/>
            <a:ext cx="272125" cy="272125"/>
          </a:xfrm>
          <a:prstGeom prst="rect">
            <a:avLst/>
          </a:prstGeom>
        </p:spPr>
      </p:pic>
      <p:sp>
        <p:nvSpPr>
          <p:cNvPr id="12" name="Text 8"/>
          <p:cNvSpPr/>
          <p:nvPr/>
        </p:nvSpPr>
        <p:spPr>
          <a:xfrm>
            <a:off x="5257800" y="1783080"/>
            <a:ext cx="2468880" cy="365760"/>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Information</a:t>
            </a:r>
            <a:endParaRPr lang="en-US" sz="1450" dirty="0"/>
          </a:p>
        </p:txBody>
      </p:sp>
      <p:sp>
        <p:nvSpPr>
          <p:cNvPr id="13" name="Text 9"/>
          <p:cNvSpPr/>
          <p:nvPr/>
        </p:nvSpPr>
        <p:spPr>
          <a:xfrm>
            <a:off x="4544568" y="2441448"/>
            <a:ext cx="3118104" cy="685800"/>
          </a:xfrm>
          <a:prstGeom prst="rect">
            <a:avLst/>
          </a:prstGeom>
          <a:noFill/>
          <a:ln/>
        </p:spPr>
        <p:txBody>
          <a:bodyPr wrap="square" rtlCol="0" anchor="ctr"/>
          <a:lstStyle/>
          <a:p>
            <a:pPr indent="0" marL="0">
              <a:lnSpc>
                <a:spcPts val="1300"/>
              </a:lnSpc>
              <a:buNone/>
            </a:pPr>
            <a:r>
              <a:rPr lang="en-US" sz="1050" dirty="0">
                <a:solidFill>
                  <a:srgbClr val="1B1F27"/>
                </a:solidFill>
                <a:latin typeface="Calibri" pitchFamily="34" charset="0"/>
                <a:ea typeface="Calibri" pitchFamily="34" charset="-122"/>
                <a:cs typeface="Calibri" pitchFamily="34" charset="-120"/>
              </a:rPr>
              <a:t>Data that has been processed and organized so it becomes meaningful.</a:t>
            </a:r>
            <a:endParaRPr lang="en-US" sz="1050" dirty="0"/>
          </a:p>
        </p:txBody>
      </p:sp>
      <p:sp>
        <p:nvSpPr>
          <p:cNvPr id="14" name="Shape 10"/>
          <p:cNvSpPr/>
          <p:nvPr/>
        </p:nvSpPr>
        <p:spPr>
          <a:xfrm>
            <a:off x="8046720" y="1600200"/>
            <a:ext cx="3520440" cy="1600200"/>
          </a:xfrm>
          <a:prstGeom prst="roundRect">
            <a:avLst>
              <a:gd name="adj" fmla="val 4571"/>
            </a:avLst>
          </a:prstGeom>
          <a:solidFill>
            <a:srgbClr val="E8F1F5"/>
          </a:solidFill>
          <a:ln/>
        </p:spPr>
      </p:sp>
      <p:sp>
        <p:nvSpPr>
          <p:cNvPr id="15" name="Shape 11"/>
          <p:cNvSpPr/>
          <p:nvPr/>
        </p:nvSpPr>
        <p:spPr>
          <a:xfrm>
            <a:off x="8247888" y="1801368"/>
            <a:ext cx="566928" cy="566928"/>
          </a:xfrm>
          <a:prstGeom prst="ellipse">
            <a:avLst/>
          </a:prstGeom>
          <a:solidFill>
            <a:srgbClr val="065A82"/>
          </a:solidFill>
          <a:ln/>
        </p:spPr>
      </p:sp>
      <p:pic>
        <p:nvPicPr>
          <p:cNvPr id="16" name="Image 2" descr="/home/claude/ppt/icons/dataset.png">    </p:cNvPr>
          <p:cNvPicPr>
            <a:picLocks noChangeAspect="1"/>
          </p:cNvPicPr>
          <p:nvPr/>
        </p:nvPicPr>
        <p:blipFill>
          <a:blip r:embed="rId3"/>
          <a:stretch>
            <a:fillRect/>
          </a:stretch>
        </p:blipFill>
        <p:spPr>
          <a:xfrm>
            <a:off x="8395289" y="1948769"/>
            <a:ext cx="272125" cy="272125"/>
          </a:xfrm>
          <a:prstGeom prst="rect">
            <a:avLst/>
          </a:prstGeom>
        </p:spPr>
      </p:pic>
      <p:sp>
        <p:nvSpPr>
          <p:cNvPr id="17" name="Text 12"/>
          <p:cNvSpPr/>
          <p:nvPr/>
        </p:nvSpPr>
        <p:spPr>
          <a:xfrm>
            <a:off x="8961120" y="1783080"/>
            <a:ext cx="2468880" cy="365760"/>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Dataset</a:t>
            </a:r>
            <a:endParaRPr lang="en-US" sz="1450" dirty="0"/>
          </a:p>
        </p:txBody>
      </p:sp>
      <p:sp>
        <p:nvSpPr>
          <p:cNvPr id="18" name="Text 13"/>
          <p:cNvSpPr/>
          <p:nvPr/>
        </p:nvSpPr>
        <p:spPr>
          <a:xfrm>
            <a:off x="8247888" y="2441448"/>
            <a:ext cx="3118104" cy="685800"/>
          </a:xfrm>
          <a:prstGeom prst="rect">
            <a:avLst/>
          </a:prstGeom>
          <a:noFill/>
          <a:ln/>
        </p:spPr>
        <p:txBody>
          <a:bodyPr wrap="square" rtlCol="0" anchor="ctr"/>
          <a:lstStyle/>
          <a:p>
            <a:pPr indent="0" marL="0">
              <a:lnSpc>
                <a:spcPts val="1300"/>
              </a:lnSpc>
              <a:buNone/>
            </a:pPr>
            <a:r>
              <a:rPr lang="en-US" sz="1050" dirty="0">
                <a:solidFill>
                  <a:srgbClr val="1B1F27"/>
                </a:solidFill>
                <a:latin typeface="Calibri" pitchFamily="34" charset="0"/>
                <a:ea typeface="Calibri" pitchFamily="34" charset="-122"/>
                <a:cs typeface="Calibri" pitchFamily="34" charset="-120"/>
              </a:rPr>
              <a:t>A structured collection of related data, usually organized in rows and columns.</a:t>
            </a:r>
            <a:endParaRPr lang="en-US" sz="1050" dirty="0"/>
          </a:p>
        </p:txBody>
      </p:sp>
      <p:sp>
        <p:nvSpPr>
          <p:cNvPr id="19" name="Shape 14"/>
          <p:cNvSpPr/>
          <p:nvPr/>
        </p:nvSpPr>
        <p:spPr>
          <a:xfrm>
            <a:off x="640080" y="3401568"/>
            <a:ext cx="3520440" cy="1600200"/>
          </a:xfrm>
          <a:prstGeom prst="roundRect">
            <a:avLst>
              <a:gd name="adj" fmla="val 4571"/>
            </a:avLst>
          </a:prstGeom>
          <a:solidFill>
            <a:srgbClr val="E8F1F5"/>
          </a:solidFill>
          <a:ln/>
        </p:spPr>
      </p:sp>
      <p:sp>
        <p:nvSpPr>
          <p:cNvPr id="20" name="Shape 15"/>
          <p:cNvSpPr/>
          <p:nvPr/>
        </p:nvSpPr>
        <p:spPr>
          <a:xfrm>
            <a:off x="841248" y="3602736"/>
            <a:ext cx="566928" cy="566928"/>
          </a:xfrm>
          <a:prstGeom prst="ellipse">
            <a:avLst/>
          </a:prstGeom>
          <a:solidFill>
            <a:srgbClr val="065A82"/>
          </a:solidFill>
          <a:ln/>
        </p:spPr>
      </p:sp>
      <p:pic>
        <p:nvPicPr>
          <p:cNvPr id="21" name="Image 3" descr="/home/claude/ppt/icons/variable.png">    </p:cNvPr>
          <p:cNvPicPr>
            <a:picLocks noChangeAspect="1"/>
          </p:cNvPicPr>
          <p:nvPr/>
        </p:nvPicPr>
        <p:blipFill>
          <a:blip r:embed="rId4"/>
          <a:stretch>
            <a:fillRect/>
          </a:stretch>
        </p:blipFill>
        <p:spPr>
          <a:xfrm>
            <a:off x="988649" y="3750137"/>
            <a:ext cx="272125" cy="272125"/>
          </a:xfrm>
          <a:prstGeom prst="rect">
            <a:avLst/>
          </a:prstGeom>
        </p:spPr>
      </p:pic>
      <p:sp>
        <p:nvSpPr>
          <p:cNvPr id="22" name="Text 16"/>
          <p:cNvSpPr/>
          <p:nvPr/>
        </p:nvSpPr>
        <p:spPr>
          <a:xfrm>
            <a:off x="1554480" y="3584448"/>
            <a:ext cx="2468880" cy="365760"/>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Variable</a:t>
            </a:r>
            <a:endParaRPr lang="en-US" sz="1450" dirty="0"/>
          </a:p>
        </p:txBody>
      </p:sp>
      <p:sp>
        <p:nvSpPr>
          <p:cNvPr id="23" name="Text 17"/>
          <p:cNvSpPr/>
          <p:nvPr/>
        </p:nvSpPr>
        <p:spPr>
          <a:xfrm>
            <a:off x="841248" y="4242816"/>
            <a:ext cx="3118104" cy="685800"/>
          </a:xfrm>
          <a:prstGeom prst="rect">
            <a:avLst/>
          </a:prstGeom>
          <a:noFill/>
          <a:ln/>
        </p:spPr>
        <p:txBody>
          <a:bodyPr wrap="square" rtlCol="0" anchor="ctr"/>
          <a:lstStyle/>
          <a:p>
            <a:pPr indent="0" marL="0">
              <a:lnSpc>
                <a:spcPts val="1300"/>
              </a:lnSpc>
              <a:buNone/>
            </a:pPr>
            <a:r>
              <a:rPr lang="en-US" sz="1050" dirty="0">
                <a:solidFill>
                  <a:srgbClr val="1B1F27"/>
                </a:solidFill>
                <a:latin typeface="Calibri" pitchFamily="34" charset="0"/>
                <a:ea typeface="Calibri" pitchFamily="34" charset="-122"/>
                <a:cs typeface="Calibri" pitchFamily="34" charset="-120"/>
              </a:rPr>
              <a:t>A characteristic or attribute that can be measured or observed (e.g., age, price).</a:t>
            </a:r>
            <a:endParaRPr lang="en-US" sz="1050" dirty="0"/>
          </a:p>
        </p:txBody>
      </p:sp>
      <p:sp>
        <p:nvSpPr>
          <p:cNvPr id="24" name="Shape 18"/>
          <p:cNvSpPr/>
          <p:nvPr/>
        </p:nvSpPr>
        <p:spPr>
          <a:xfrm>
            <a:off x="4343400" y="3401568"/>
            <a:ext cx="3520440" cy="1600200"/>
          </a:xfrm>
          <a:prstGeom prst="roundRect">
            <a:avLst>
              <a:gd name="adj" fmla="val 4571"/>
            </a:avLst>
          </a:prstGeom>
          <a:solidFill>
            <a:srgbClr val="E8F1F5"/>
          </a:solidFill>
          <a:ln/>
        </p:spPr>
      </p:sp>
      <p:sp>
        <p:nvSpPr>
          <p:cNvPr id="25" name="Shape 19"/>
          <p:cNvSpPr/>
          <p:nvPr/>
        </p:nvSpPr>
        <p:spPr>
          <a:xfrm>
            <a:off x="4544568" y="3602736"/>
            <a:ext cx="566928" cy="566928"/>
          </a:xfrm>
          <a:prstGeom prst="ellipse">
            <a:avLst/>
          </a:prstGeom>
          <a:solidFill>
            <a:srgbClr val="065A82"/>
          </a:solidFill>
          <a:ln/>
        </p:spPr>
      </p:sp>
      <p:pic>
        <p:nvPicPr>
          <p:cNvPr id="26" name="Image 4" descr="/home/claude/ppt/icons/population.png">    </p:cNvPr>
          <p:cNvPicPr>
            <a:picLocks noChangeAspect="1"/>
          </p:cNvPicPr>
          <p:nvPr/>
        </p:nvPicPr>
        <p:blipFill>
          <a:blip r:embed="rId5"/>
          <a:stretch>
            <a:fillRect/>
          </a:stretch>
        </p:blipFill>
        <p:spPr>
          <a:xfrm>
            <a:off x="4691969" y="3750137"/>
            <a:ext cx="272125" cy="272125"/>
          </a:xfrm>
          <a:prstGeom prst="rect">
            <a:avLst/>
          </a:prstGeom>
        </p:spPr>
      </p:pic>
      <p:sp>
        <p:nvSpPr>
          <p:cNvPr id="27" name="Text 20"/>
          <p:cNvSpPr/>
          <p:nvPr/>
        </p:nvSpPr>
        <p:spPr>
          <a:xfrm>
            <a:off x="5257800" y="3584448"/>
            <a:ext cx="2468880" cy="365760"/>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Population &amp; Sample</a:t>
            </a:r>
            <a:endParaRPr lang="en-US" sz="1450" dirty="0"/>
          </a:p>
        </p:txBody>
      </p:sp>
      <p:sp>
        <p:nvSpPr>
          <p:cNvPr id="28" name="Text 21"/>
          <p:cNvSpPr/>
          <p:nvPr/>
        </p:nvSpPr>
        <p:spPr>
          <a:xfrm>
            <a:off x="4544568" y="4242816"/>
            <a:ext cx="3118104" cy="685800"/>
          </a:xfrm>
          <a:prstGeom prst="rect">
            <a:avLst/>
          </a:prstGeom>
          <a:noFill/>
          <a:ln/>
        </p:spPr>
        <p:txBody>
          <a:bodyPr wrap="square" rtlCol="0" anchor="ctr"/>
          <a:lstStyle/>
          <a:p>
            <a:pPr indent="0" marL="0">
              <a:lnSpc>
                <a:spcPts val="1300"/>
              </a:lnSpc>
              <a:buNone/>
            </a:pPr>
            <a:r>
              <a:rPr lang="en-US" sz="1050" dirty="0">
                <a:solidFill>
                  <a:srgbClr val="1B1F27"/>
                </a:solidFill>
                <a:latin typeface="Calibri" pitchFamily="34" charset="0"/>
                <a:ea typeface="Calibri" pitchFamily="34" charset="-122"/>
                <a:cs typeface="Calibri" pitchFamily="34" charset="-120"/>
              </a:rPr>
              <a:t>The entire group being studied (population) vs. a subset drawn from it (sample).</a:t>
            </a:r>
            <a:endParaRPr lang="en-US" sz="1050" dirty="0"/>
          </a:p>
        </p:txBody>
      </p:sp>
      <p:sp>
        <p:nvSpPr>
          <p:cNvPr id="29" name="Shape 22"/>
          <p:cNvSpPr/>
          <p:nvPr/>
        </p:nvSpPr>
        <p:spPr>
          <a:xfrm>
            <a:off x="8046720" y="3401568"/>
            <a:ext cx="3520440" cy="1600200"/>
          </a:xfrm>
          <a:prstGeom prst="roundRect">
            <a:avLst>
              <a:gd name="adj" fmla="val 4571"/>
            </a:avLst>
          </a:prstGeom>
          <a:solidFill>
            <a:srgbClr val="E8F1F5"/>
          </a:solidFill>
          <a:ln/>
        </p:spPr>
      </p:sp>
      <p:sp>
        <p:nvSpPr>
          <p:cNvPr id="30" name="Shape 23"/>
          <p:cNvSpPr/>
          <p:nvPr/>
        </p:nvSpPr>
        <p:spPr>
          <a:xfrm>
            <a:off x="8247888" y="3602736"/>
            <a:ext cx="566928" cy="566928"/>
          </a:xfrm>
          <a:prstGeom prst="ellipse">
            <a:avLst/>
          </a:prstGeom>
          <a:solidFill>
            <a:srgbClr val="065A82"/>
          </a:solidFill>
          <a:ln/>
        </p:spPr>
      </p:sp>
      <p:pic>
        <p:nvPicPr>
          <p:cNvPr id="31" name="Image 5" descr="/home/claude/ppt/icons/bigdata.png">    </p:cNvPr>
          <p:cNvPicPr>
            <a:picLocks noChangeAspect="1"/>
          </p:cNvPicPr>
          <p:nvPr/>
        </p:nvPicPr>
        <p:blipFill>
          <a:blip r:embed="rId6"/>
          <a:stretch>
            <a:fillRect/>
          </a:stretch>
        </p:blipFill>
        <p:spPr>
          <a:xfrm>
            <a:off x="8395289" y="3750137"/>
            <a:ext cx="272125" cy="272125"/>
          </a:xfrm>
          <a:prstGeom prst="rect">
            <a:avLst/>
          </a:prstGeom>
        </p:spPr>
      </p:pic>
      <p:sp>
        <p:nvSpPr>
          <p:cNvPr id="32" name="Text 24"/>
          <p:cNvSpPr/>
          <p:nvPr/>
        </p:nvSpPr>
        <p:spPr>
          <a:xfrm>
            <a:off x="8961120" y="3584448"/>
            <a:ext cx="2468880" cy="365760"/>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Big Data</a:t>
            </a:r>
            <a:endParaRPr lang="en-US" sz="1450" dirty="0"/>
          </a:p>
        </p:txBody>
      </p:sp>
      <p:sp>
        <p:nvSpPr>
          <p:cNvPr id="33" name="Text 25"/>
          <p:cNvSpPr/>
          <p:nvPr/>
        </p:nvSpPr>
        <p:spPr>
          <a:xfrm>
            <a:off x="8247888" y="4242816"/>
            <a:ext cx="3118104" cy="685800"/>
          </a:xfrm>
          <a:prstGeom prst="rect">
            <a:avLst/>
          </a:prstGeom>
          <a:noFill/>
          <a:ln/>
        </p:spPr>
        <p:txBody>
          <a:bodyPr wrap="square" rtlCol="0" anchor="ctr"/>
          <a:lstStyle/>
          <a:p>
            <a:pPr indent="0" marL="0">
              <a:lnSpc>
                <a:spcPts val="1300"/>
              </a:lnSpc>
              <a:buNone/>
            </a:pPr>
            <a:r>
              <a:rPr lang="en-US" sz="1050" dirty="0">
                <a:solidFill>
                  <a:srgbClr val="1B1F27"/>
                </a:solidFill>
                <a:latin typeface="Calibri" pitchFamily="34" charset="0"/>
                <a:ea typeface="Calibri" pitchFamily="34" charset="-122"/>
                <a:cs typeface="Calibri" pitchFamily="34" charset="-120"/>
              </a:rPr>
              <a:t>Extremely large, fast-growing, and varied datasets that traditional tools struggle to handle.</a:t>
            </a:r>
            <a:endParaRPr lang="en-US" sz="1050" dirty="0"/>
          </a:p>
        </p:txBody>
      </p:sp>
      <p:sp>
        <p:nvSpPr>
          <p:cNvPr id="35" name="Text 2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1828800" y="2926080"/>
            <a:ext cx="5486400" cy="5486400"/>
          </a:xfrm>
          <a:prstGeom prst="ellipse">
            <a:avLst/>
          </a:prstGeom>
          <a:solidFill>
            <a:srgbClr val="1C7293">
              <a:alpha val="40000"/>
            </a:srgbClr>
          </a:solidFill>
          <a:ln/>
        </p:spPr>
      </p:sp>
      <p:sp>
        <p:nvSpPr>
          <p:cNvPr id="3" name="Shape 1"/>
          <p:cNvSpPr/>
          <p:nvPr/>
        </p:nvSpPr>
        <p:spPr>
          <a:xfrm>
            <a:off x="9601200" y="-1828800"/>
            <a:ext cx="4572000" cy="4572000"/>
          </a:xfrm>
          <a:prstGeom prst="ellipse">
            <a:avLst/>
          </a:prstGeom>
          <a:solidFill>
            <a:srgbClr val="21295C">
              <a:alpha val="60000"/>
            </a:srgbClr>
          </a:solidFill>
          <a:ln/>
        </p:spPr>
      </p:sp>
      <p:sp>
        <p:nvSpPr>
          <p:cNvPr id="4" name="Text 2"/>
          <p:cNvSpPr/>
          <p:nvPr/>
        </p:nvSpPr>
        <p:spPr>
          <a:xfrm>
            <a:off x="822960" y="2651760"/>
            <a:ext cx="7315200" cy="411480"/>
          </a:xfrm>
          <a:prstGeom prst="rect">
            <a:avLst/>
          </a:prstGeom>
          <a:noFill/>
          <a:ln/>
        </p:spPr>
        <p:txBody>
          <a:bodyPr wrap="square" rtlCol="0" anchor="ctr"/>
          <a:lstStyle/>
          <a:p>
            <a:pPr indent="0" marL="0">
              <a:buNone/>
            </a:pPr>
            <a:r>
              <a:rPr lang="en-US" sz="1500" b="1" spc="300" kern="0" dirty="0">
                <a:solidFill>
                  <a:srgbClr val="9FC4DA"/>
                </a:solidFill>
                <a:latin typeface="Calibri" pitchFamily="34" charset="0"/>
                <a:ea typeface="Calibri" pitchFamily="34" charset="-122"/>
                <a:cs typeface="Calibri" pitchFamily="34" charset="-120"/>
              </a:rPr>
              <a:t>PART TWO</a:t>
            </a:r>
            <a:endParaRPr lang="en-US" sz="1500" dirty="0"/>
          </a:p>
        </p:txBody>
      </p:sp>
      <p:sp>
        <p:nvSpPr>
          <p:cNvPr id="5" name="Text 3"/>
          <p:cNvSpPr/>
          <p:nvPr/>
        </p:nvSpPr>
        <p:spPr>
          <a:xfrm>
            <a:off x="777240" y="3017520"/>
            <a:ext cx="9601200" cy="118872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Types of Analytics</a:t>
            </a:r>
            <a:endParaRPr lang="en-US" sz="3800" dirty="0"/>
          </a:p>
        </p:txBody>
      </p:sp>
      <p:sp>
        <p:nvSpPr>
          <p:cNvPr id="6" name="Text 4"/>
          <p:cNvSpPr/>
          <p:nvPr/>
        </p:nvSpPr>
        <p:spPr>
          <a:xfrm>
            <a:off x="822960" y="3977640"/>
            <a:ext cx="8686800" cy="457200"/>
          </a:xfrm>
          <a:prstGeom prst="rect">
            <a:avLst/>
          </a:prstGeom>
          <a:noFill/>
          <a:ln/>
        </p:spPr>
        <p:txBody>
          <a:bodyPr wrap="square" rtlCol="0" anchor="ctr"/>
          <a:lstStyle/>
          <a:p>
            <a:pPr indent="0" marL="0">
              <a:buNone/>
            </a:pPr>
            <a:r>
              <a:rPr lang="en-US" sz="1400" i="1" dirty="0">
                <a:solidFill>
                  <a:srgbClr val="E8F1F5"/>
                </a:solidFill>
                <a:latin typeface="Calibri" pitchFamily="34" charset="0"/>
                <a:ea typeface="Calibri" pitchFamily="34" charset="-122"/>
                <a:cs typeface="Calibri" pitchFamily="34" charset="-120"/>
              </a:rPr>
              <a:t>Three lenses analysts use to make sense of different data sources</a:t>
            </a:r>
            <a:endParaRPr lang="en-US" sz="1400" dirty="0"/>
          </a:p>
        </p:txBody>
      </p:sp>
      <p:sp>
        <p:nvSpPr>
          <p:cNvPr id="7"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065A82"/>
          </a:solidFill>
          <a:ln/>
        </p:spPr>
      </p:sp>
      <p:pic>
        <p:nvPicPr>
          <p:cNvPr id="3" name="Image 0" descr="/home/claude/ppt/icons/text_analytics.png">    </p:cNvPr>
          <p:cNvPicPr>
            <a:picLocks noChangeAspect="1"/>
          </p:cNvPicPr>
          <p:nvPr/>
        </p:nvPicPr>
        <p:blipFill>
          <a:blip r:embed="rId1"/>
          <a:stretch>
            <a:fillRect/>
          </a:stretch>
        </p:blipFill>
        <p:spPr>
          <a:xfrm>
            <a:off x="854050" y="716890"/>
            <a:ext cx="395021" cy="395021"/>
          </a:xfrm>
          <a:prstGeom prst="rect">
            <a:avLst/>
          </a:prstGeom>
        </p:spPr>
      </p:pic>
      <p:sp>
        <p:nvSpPr>
          <p:cNvPr id="4" name="Text 1"/>
          <p:cNvSpPr/>
          <p:nvPr/>
        </p:nvSpPr>
        <p:spPr>
          <a:xfrm>
            <a:off x="1645920" y="502920"/>
            <a:ext cx="8229600" cy="45720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Text Analytics</a:t>
            </a:r>
            <a:endParaRPr lang="en-US" sz="2800" dirty="0"/>
          </a:p>
        </p:txBody>
      </p:sp>
      <p:sp>
        <p:nvSpPr>
          <p:cNvPr id="5" name="Shape 2"/>
          <p:cNvSpPr/>
          <p:nvPr/>
        </p:nvSpPr>
        <p:spPr>
          <a:xfrm>
            <a:off x="640080" y="1463040"/>
            <a:ext cx="10881360" cy="0"/>
          </a:xfrm>
          <a:prstGeom prst="line">
            <a:avLst/>
          </a:prstGeom>
          <a:noFill/>
          <a:ln w="12700">
            <a:solidFill>
              <a:srgbClr val="D6E3E9"/>
            </a:solidFill>
            <a:prstDash val="solid"/>
          </a:ln>
        </p:spPr>
      </p:sp>
      <p:sp>
        <p:nvSpPr>
          <p:cNvPr id="6" name="Text 3"/>
          <p:cNvSpPr/>
          <p:nvPr/>
        </p:nvSpPr>
        <p:spPr>
          <a:xfrm>
            <a:off x="640080" y="1691640"/>
            <a:ext cx="10881360" cy="777240"/>
          </a:xfrm>
          <a:prstGeom prst="rect">
            <a:avLst/>
          </a:prstGeom>
          <a:noFill/>
          <a:ln/>
        </p:spPr>
        <p:txBody>
          <a:bodyPr wrap="square" rtlCol="0" anchor="ctr"/>
          <a:lstStyle/>
          <a:p>
            <a:pPr indent="0" marL="0">
              <a:lnSpc>
                <a:spcPts val="2000"/>
              </a:lnSpc>
              <a:buNone/>
            </a:pPr>
            <a:r>
              <a:rPr lang="en-US" sz="1500" dirty="0">
                <a:solidFill>
                  <a:srgbClr val="1B1F27"/>
                </a:solidFill>
                <a:latin typeface="Calibri" pitchFamily="34" charset="0"/>
                <a:ea typeface="Calibri" pitchFamily="34" charset="-122"/>
                <a:cs typeface="Calibri" pitchFamily="34" charset="-120"/>
              </a:rPr>
              <a:t>Text Analytics (or text mining) uses computational techniques to extract meaningful information, patterns, and insights from unstructured text.</a:t>
            </a:r>
            <a:endParaRPr lang="en-US" sz="1500" dirty="0"/>
          </a:p>
        </p:txBody>
      </p:sp>
      <p:sp>
        <p:nvSpPr>
          <p:cNvPr id="7" name="Text 4"/>
          <p:cNvSpPr/>
          <p:nvPr/>
        </p:nvSpPr>
        <p:spPr>
          <a:xfrm>
            <a:off x="640080" y="2606040"/>
            <a:ext cx="5486400" cy="365760"/>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Key Features</a:t>
            </a:r>
            <a:endParaRPr lang="en-US" sz="1400" dirty="0"/>
          </a:p>
        </p:txBody>
      </p:sp>
      <p:sp>
        <p:nvSpPr>
          <p:cNvPr id="8" name="Shape 5"/>
          <p:cNvSpPr/>
          <p:nvPr/>
        </p:nvSpPr>
        <p:spPr>
          <a:xfrm>
            <a:off x="640080" y="3072384"/>
            <a:ext cx="128016" cy="128016"/>
          </a:xfrm>
          <a:prstGeom prst="ellipse">
            <a:avLst/>
          </a:prstGeom>
          <a:solidFill>
            <a:srgbClr val="065A82"/>
          </a:solidFill>
          <a:ln/>
        </p:spPr>
      </p:sp>
      <p:sp>
        <p:nvSpPr>
          <p:cNvPr id="9" name="Text 6"/>
          <p:cNvSpPr/>
          <p:nvPr/>
        </p:nvSpPr>
        <p:spPr>
          <a:xfrm>
            <a:off x="914400" y="2944368"/>
            <a:ext cx="5120640" cy="50292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Works on emails, reviews, articles, social posts, and documents</a:t>
            </a:r>
            <a:endParaRPr lang="en-US" sz="1200" dirty="0"/>
          </a:p>
        </p:txBody>
      </p:sp>
      <p:sp>
        <p:nvSpPr>
          <p:cNvPr id="10" name="Shape 7"/>
          <p:cNvSpPr/>
          <p:nvPr/>
        </p:nvSpPr>
        <p:spPr>
          <a:xfrm>
            <a:off x="640080" y="3639312"/>
            <a:ext cx="128016" cy="128016"/>
          </a:xfrm>
          <a:prstGeom prst="ellipse">
            <a:avLst/>
          </a:prstGeom>
          <a:solidFill>
            <a:srgbClr val="065A82"/>
          </a:solidFill>
          <a:ln/>
        </p:spPr>
      </p:sp>
      <p:sp>
        <p:nvSpPr>
          <p:cNvPr id="11" name="Text 8"/>
          <p:cNvSpPr/>
          <p:nvPr/>
        </p:nvSpPr>
        <p:spPr>
          <a:xfrm>
            <a:off x="914400" y="3511296"/>
            <a:ext cx="5120640" cy="50292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Uses NLP (Natural Language Processing) to interpret language</a:t>
            </a:r>
            <a:endParaRPr lang="en-US" sz="1200" dirty="0"/>
          </a:p>
        </p:txBody>
      </p:sp>
      <p:sp>
        <p:nvSpPr>
          <p:cNvPr id="12" name="Shape 9"/>
          <p:cNvSpPr/>
          <p:nvPr/>
        </p:nvSpPr>
        <p:spPr>
          <a:xfrm>
            <a:off x="640080" y="4206240"/>
            <a:ext cx="128016" cy="128016"/>
          </a:xfrm>
          <a:prstGeom prst="ellipse">
            <a:avLst/>
          </a:prstGeom>
          <a:solidFill>
            <a:srgbClr val="065A82"/>
          </a:solidFill>
          <a:ln/>
        </p:spPr>
      </p:sp>
      <p:sp>
        <p:nvSpPr>
          <p:cNvPr id="13" name="Text 10"/>
          <p:cNvSpPr/>
          <p:nvPr/>
        </p:nvSpPr>
        <p:spPr>
          <a:xfrm>
            <a:off x="914400" y="4078224"/>
            <a:ext cx="5120640" cy="50292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Common tasks: sentiment analysis, keyword extraction, topic modeling</a:t>
            </a:r>
            <a:endParaRPr lang="en-US" sz="1200" dirty="0"/>
          </a:p>
        </p:txBody>
      </p:sp>
      <p:sp>
        <p:nvSpPr>
          <p:cNvPr id="14" name="Shape 11"/>
          <p:cNvSpPr/>
          <p:nvPr/>
        </p:nvSpPr>
        <p:spPr>
          <a:xfrm>
            <a:off x="640080" y="4773168"/>
            <a:ext cx="128016" cy="128016"/>
          </a:xfrm>
          <a:prstGeom prst="ellipse">
            <a:avLst/>
          </a:prstGeom>
          <a:solidFill>
            <a:srgbClr val="065A82"/>
          </a:solidFill>
          <a:ln/>
        </p:spPr>
      </p:sp>
      <p:sp>
        <p:nvSpPr>
          <p:cNvPr id="15" name="Text 12"/>
          <p:cNvSpPr/>
          <p:nvPr/>
        </p:nvSpPr>
        <p:spPr>
          <a:xfrm>
            <a:off x="914400" y="4645152"/>
            <a:ext cx="5120640" cy="50292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Turns free-form text into structured, analyzable data</a:t>
            </a:r>
            <a:endParaRPr lang="en-US" sz="1200" dirty="0"/>
          </a:p>
        </p:txBody>
      </p:sp>
      <p:sp>
        <p:nvSpPr>
          <p:cNvPr id="16" name="Shape 13"/>
          <p:cNvSpPr/>
          <p:nvPr/>
        </p:nvSpPr>
        <p:spPr>
          <a:xfrm>
            <a:off x="6446520" y="2606040"/>
            <a:ext cx="5102352" cy="3246120"/>
          </a:xfrm>
          <a:prstGeom prst="roundRect">
            <a:avLst>
              <a:gd name="adj" fmla="val 2254"/>
            </a:avLst>
          </a:prstGeom>
          <a:solidFill>
            <a:srgbClr val="21295C"/>
          </a:solidFill>
          <a:ln/>
        </p:spPr>
      </p:sp>
      <p:sp>
        <p:nvSpPr>
          <p:cNvPr id="17" name="Text 14"/>
          <p:cNvSpPr/>
          <p:nvPr/>
        </p:nvSpPr>
        <p:spPr>
          <a:xfrm>
            <a:off x="6720840" y="2816352"/>
            <a:ext cx="4572000" cy="320040"/>
          </a:xfrm>
          <a:prstGeom prst="rect">
            <a:avLst/>
          </a:prstGeom>
          <a:noFill/>
          <a:ln/>
        </p:spPr>
        <p:txBody>
          <a:bodyPr wrap="square" rtlCol="0" anchor="ctr"/>
          <a:lstStyle/>
          <a:p>
            <a:pPr indent="0" marL="0">
              <a:buNone/>
            </a:pPr>
            <a:r>
              <a:rPr lang="en-US" sz="1100" b="1" spc="150" kern="0" dirty="0">
                <a:solidFill>
                  <a:srgbClr val="9FC4DA"/>
                </a:solidFill>
                <a:latin typeface="Calibri" pitchFamily="34" charset="0"/>
                <a:ea typeface="Calibri" pitchFamily="34" charset="-122"/>
                <a:cs typeface="Calibri" pitchFamily="34" charset="-120"/>
              </a:rPr>
              <a:t>REAL-WORLD EXAMPLE</a:t>
            </a:r>
            <a:endParaRPr lang="en-US" sz="1100" dirty="0"/>
          </a:p>
        </p:txBody>
      </p:sp>
      <p:sp>
        <p:nvSpPr>
          <p:cNvPr id="18" name="Text 15"/>
          <p:cNvSpPr/>
          <p:nvPr/>
        </p:nvSpPr>
        <p:spPr>
          <a:xfrm>
            <a:off x="6720840" y="3154680"/>
            <a:ext cx="4572000" cy="2514600"/>
          </a:xfrm>
          <a:prstGeom prst="rect">
            <a:avLst/>
          </a:prstGeom>
          <a:noFill/>
          <a:ln/>
        </p:spPr>
        <p:txBody>
          <a:bodyPr wrap="square"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A phone company scans thousands of customer support chats to automatically detect which complaints mention "slow internet" and routes them to the network team — without a human reading every message.</a:t>
            </a:r>
            <a:endParaRPr lang="en-US" sz="1250" dirty="0"/>
          </a:p>
        </p:txBody>
      </p:sp>
      <p:sp>
        <p:nvSpPr>
          <p:cNvPr id="19" name="Text 1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1C7293"/>
          </a:solidFill>
          <a:ln/>
        </p:spPr>
      </p:sp>
      <p:pic>
        <p:nvPicPr>
          <p:cNvPr id="3" name="Image 0" descr="/home/claude/ppt/icons/web_analytics.png">    </p:cNvPr>
          <p:cNvPicPr>
            <a:picLocks noChangeAspect="1"/>
          </p:cNvPicPr>
          <p:nvPr/>
        </p:nvPicPr>
        <p:blipFill>
          <a:blip r:embed="rId1"/>
          <a:stretch>
            <a:fillRect/>
          </a:stretch>
        </p:blipFill>
        <p:spPr>
          <a:xfrm>
            <a:off x="854050" y="716890"/>
            <a:ext cx="395021" cy="395021"/>
          </a:xfrm>
          <a:prstGeom prst="rect">
            <a:avLst/>
          </a:prstGeom>
        </p:spPr>
      </p:pic>
      <p:sp>
        <p:nvSpPr>
          <p:cNvPr id="4" name="Text 1"/>
          <p:cNvSpPr/>
          <p:nvPr/>
        </p:nvSpPr>
        <p:spPr>
          <a:xfrm>
            <a:off x="1645920" y="502920"/>
            <a:ext cx="8229600" cy="45720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Web Analytics</a:t>
            </a:r>
            <a:endParaRPr lang="en-US" sz="2800" dirty="0"/>
          </a:p>
        </p:txBody>
      </p:sp>
      <p:sp>
        <p:nvSpPr>
          <p:cNvPr id="5" name="Shape 2"/>
          <p:cNvSpPr/>
          <p:nvPr/>
        </p:nvSpPr>
        <p:spPr>
          <a:xfrm>
            <a:off x="640080" y="1463040"/>
            <a:ext cx="10881360" cy="0"/>
          </a:xfrm>
          <a:prstGeom prst="line">
            <a:avLst/>
          </a:prstGeom>
          <a:noFill/>
          <a:ln w="12700">
            <a:solidFill>
              <a:srgbClr val="D6E3E9"/>
            </a:solidFill>
            <a:prstDash val="solid"/>
          </a:ln>
        </p:spPr>
      </p:sp>
      <p:sp>
        <p:nvSpPr>
          <p:cNvPr id="6" name="Text 3"/>
          <p:cNvSpPr/>
          <p:nvPr/>
        </p:nvSpPr>
        <p:spPr>
          <a:xfrm>
            <a:off x="640080" y="1691640"/>
            <a:ext cx="10881360" cy="777240"/>
          </a:xfrm>
          <a:prstGeom prst="rect">
            <a:avLst/>
          </a:prstGeom>
          <a:noFill/>
          <a:ln/>
        </p:spPr>
        <p:txBody>
          <a:bodyPr wrap="square" rtlCol="0" anchor="ctr"/>
          <a:lstStyle/>
          <a:p>
            <a:pPr indent="0" marL="0">
              <a:lnSpc>
                <a:spcPts val="2000"/>
              </a:lnSpc>
              <a:buNone/>
            </a:pPr>
            <a:r>
              <a:rPr lang="en-US" sz="1500" dirty="0">
                <a:solidFill>
                  <a:srgbClr val="1B1F27"/>
                </a:solidFill>
                <a:latin typeface="Calibri" pitchFamily="34" charset="0"/>
                <a:ea typeface="Calibri" pitchFamily="34" charset="-122"/>
                <a:cs typeface="Calibri" pitchFamily="34" charset="-120"/>
              </a:rPr>
              <a:t>Web Analytics is the measurement, collection, and analysis of website data to understand and optimize how visitors use a site.</a:t>
            </a:r>
            <a:endParaRPr lang="en-US" sz="1500" dirty="0"/>
          </a:p>
        </p:txBody>
      </p:sp>
      <p:sp>
        <p:nvSpPr>
          <p:cNvPr id="7" name="Text 4"/>
          <p:cNvSpPr/>
          <p:nvPr/>
        </p:nvSpPr>
        <p:spPr>
          <a:xfrm>
            <a:off x="640080" y="2606040"/>
            <a:ext cx="5486400"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Key Features</a:t>
            </a:r>
            <a:endParaRPr lang="en-US" sz="1400" dirty="0"/>
          </a:p>
        </p:txBody>
      </p:sp>
      <p:sp>
        <p:nvSpPr>
          <p:cNvPr id="8" name="Shape 5"/>
          <p:cNvSpPr/>
          <p:nvPr/>
        </p:nvSpPr>
        <p:spPr>
          <a:xfrm>
            <a:off x="640080" y="3072384"/>
            <a:ext cx="128016" cy="128016"/>
          </a:xfrm>
          <a:prstGeom prst="ellipse">
            <a:avLst/>
          </a:prstGeom>
          <a:solidFill>
            <a:srgbClr val="1C7293"/>
          </a:solidFill>
          <a:ln/>
        </p:spPr>
      </p:sp>
      <p:sp>
        <p:nvSpPr>
          <p:cNvPr id="9" name="Text 6"/>
          <p:cNvSpPr/>
          <p:nvPr/>
        </p:nvSpPr>
        <p:spPr>
          <a:xfrm>
            <a:off x="914400" y="2944368"/>
            <a:ext cx="5120640" cy="50292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Tracks metrics like page views, bounce rate, and session duration</a:t>
            </a:r>
            <a:endParaRPr lang="en-US" sz="1200" dirty="0"/>
          </a:p>
        </p:txBody>
      </p:sp>
      <p:sp>
        <p:nvSpPr>
          <p:cNvPr id="10" name="Shape 7"/>
          <p:cNvSpPr/>
          <p:nvPr/>
        </p:nvSpPr>
        <p:spPr>
          <a:xfrm>
            <a:off x="640080" y="3639312"/>
            <a:ext cx="128016" cy="128016"/>
          </a:xfrm>
          <a:prstGeom prst="ellipse">
            <a:avLst/>
          </a:prstGeom>
          <a:solidFill>
            <a:srgbClr val="1C7293"/>
          </a:solidFill>
          <a:ln/>
        </p:spPr>
      </p:sp>
      <p:sp>
        <p:nvSpPr>
          <p:cNvPr id="11" name="Text 8"/>
          <p:cNvSpPr/>
          <p:nvPr/>
        </p:nvSpPr>
        <p:spPr>
          <a:xfrm>
            <a:off x="914400" y="3511296"/>
            <a:ext cx="5120640" cy="50292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Shows where traffic comes from (search, social, ads, direct)</a:t>
            </a:r>
            <a:endParaRPr lang="en-US" sz="1200" dirty="0"/>
          </a:p>
        </p:txBody>
      </p:sp>
      <p:sp>
        <p:nvSpPr>
          <p:cNvPr id="12" name="Shape 9"/>
          <p:cNvSpPr/>
          <p:nvPr/>
        </p:nvSpPr>
        <p:spPr>
          <a:xfrm>
            <a:off x="640080" y="4206240"/>
            <a:ext cx="128016" cy="128016"/>
          </a:xfrm>
          <a:prstGeom prst="ellipse">
            <a:avLst/>
          </a:prstGeom>
          <a:solidFill>
            <a:srgbClr val="1C7293"/>
          </a:solidFill>
          <a:ln/>
        </p:spPr>
      </p:sp>
      <p:sp>
        <p:nvSpPr>
          <p:cNvPr id="13" name="Text 10"/>
          <p:cNvSpPr/>
          <p:nvPr/>
        </p:nvSpPr>
        <p:spPr>
          <a:xfrm>
            <a:off x="914400" y="4078224"/>
            <a:ext cx="5120640" cy="50292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Reveals user paths and where visitors drop off</a:t>
            </a:r>
            <a:endParaRPr lang="en-US" sz="1200" dirty="0"/>
          </a:p>
        </p:txBody>
      </p:sp>
      <p:sp>
        <p:nvSpPr>
          <p:cNvPr id="14" name="Shape 11"/>
          <p:cNvSpPr/>
          <p:nvPr/>
        </p:nvSpPr>
        <p:spPr>
          <a:xfrm>
            <a:off x="640080" y="4773168"/>
            <a:ext cx="128016" cy="128016"/>
          </a:xfrm>
          <a:prstGeom prst="ellipse">
            <a:avLst/>
          </a:prstGeom>
          <a:solidFill>
            <a:srgbClr val="1C7293"/>
          </a:solidFill>
          <a:ln/>
        </p:spPr>
      </p:sp>
      <p:sp>
        <p:nvSpPr>
          <p:cNvPr id="15" name="Text 12"/>
          <p:cNvSpPr/>
          <p:nvPr/>
        </p:nvSpPr>
        <p:spPr>
          <a:xfrm>
            <a:off x="914400" y="4645152"/>
            <a:ext cx="5120640" cy="50292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Tools: Google Analytics, Adobe Analytics, Hotjar</a:t>
            </a:r>
            <a:endParaRPr lang="en-US" sz="1200" dirty="0"/>
          </a:p>
        </p:txBody>
      </p:sp>
      <p:sp>
        <p:nvSpPr>
          <p:cNvPr id="16" name="Shape 13"/>
          <p:cNvSpPr/>
          <p:nvPr/>
        </p:nvSpPr>
        <p:spPr>
          <a:xfrm>
            <a:off x="6446520" y="2606040"/>
            <a:ext cx="5102352" cy="3246120"/>
          </a:xfrm>
          <a:prstGeom prst="roundRect">
            <a:avLst>
              <a:gd name="adj" fmla="val 2254"/>
            </a:avLst>
          </a:prstGeom>
          <a:solidFill>
            <a:srgbClr val="21295C"/>
          </a:solidFill>
          <a:ln/>
        </p:spPr>
      </p:sp>
      <p:sp>
        <p:nvSpPr>
          <p:cNvPr id="17" name="Text 14"/>
          <p:cNvSpPr/>
          <p:nvPr/>
        </p:nvSpPr>
        <p:spPr>
          <a:xfrm>
            <a:off x="6720840" y="2816352"/>
            <a:ext cx="4572000" cy="320040"/>
          </a:xfrm>
          <a:prstGeom prst="rect">
            <a:avLst/>
          </a:prstGeom>
          <a:noFill/>
          <a:ln/>
        </p:spPr>
        <p:txBody>
          <a:bodyPr wrap="square" rtlCol="0" anchor="ctr"/>
          <a:lstStyle/>
          <a:p>
            <a:pPr indent="0" marL="0">
              <a:buNone/>
            </a:pPr>
            <a:r>
              <a:rPr lang="en-US" sz="1100" b="1" spc="150" kern="0" dirty="0">
                <a:solidFill>
                  <a:srgbClr val="9FC4DA"/>
                </a:solidFill>
                <a:latin typeface="Calibri" pitchFamily="34" charset="0"/>
                <a:ea typeface="Calibri" pitchFamily="34" charset="-122"/>
                <a:cs typeface="Calibri" pitchFamily="34" charset="-120"/>
              </a:rPr>
              <a:t>REAL-WORLD EXAMPLE</a:t>
            </a:r>
            <a:endParaRPr lang="en-US" sz="1100" dirty="0"/>
          </a:p>
        </p:txBody>
      </p:sp>
      <p:sp>
        <p:nvSpPr>
          <p:cNvPr id="18" name="Text 15"/>
          <p:cNvSpPr/>
          <p:nvPr/>
        </p:nvSpPr>
        <p:spPr>
          <a:xfrm>
            <a:off x="6720840" y="3154680"/>
            <a:ext cx="4572000" cy="2514600"/>
          </a:xfrm>
          <a:prstGeom prst="rect">
            <a:avLst/>
          </a:prstGeom>
          <a:noFill/>
          <a:ln/>
        </p:spPr>
        <p:txBody>
          <a:bodyPr wrap="square"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An online store notices in Google Analytics that 70% of visitors leave the checkout page before paying. They redesign that page and cart abandonment drops significantly.</a:t>
            </a:r>
            <a:endParaRPr lang="en-US" sz="1250" dirty="0"/>
          </a:p>
        </p:txBody>
      </p:sp>
      <p:sp>
        <p:nvSpPr>
          <p:cNvPr id="19" name="Text 1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3B7EA1"/>
          </a:solidFill>
          <a:ln/>
        </p:spPr>
      </p:sp>
      <p:pic>
        <p:nvPicPr>
          <p:cNvPr id="3" name="Image 0" descr="/home/claude/ppt/icons/marketing_analytics.png">    </p:cNvPr>
          <p:cNvPicPr>
            <a:picLocks noChangeAspect="1"/>
          </p:cNvPicPr>
          <p:nvPr/>
        </p:nvPicPr>
        <p:blipFill>
          <a:blip r:embed="rId1"/>
          <a:stretch>
            <a:fillRect/>
          </a:stretch>
        </p:blipFill>
        <p:spPr>
          <a:xfrm>
            <a:off x="854050" y="716890"/>
            <a:ext cx="395021" cy="395021"/>
          </a:xfrm>
          <a:prstGeom prst="rect">
            <a:avLst/>
          </a:prstGeom>
        </p:spPr>
      </p:pic>
      <p:sp>
        <p:nvSpPr>
          <p:cNvPr id="4" name="Text 1"/>
          <p:cNvSpPr/>
          <p:nvPr/>
        </p:nvSpPr>
        <p:spPr>
          <a:xfrm>
            <a:off x="1645920" y="502920"/>
            <a:ext cx="8229600" cy="45720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Marketing Analytics</a:t>
            </a:r>
            <a:endParaRPr lang="en-US" sz="2800" dirty="0"/>
          </a:p>
        </p:txBody>
      </p:sp>
      <p:sp>
        <p:nvSpPr>
          <p:cNvPr id="5" name="Shape 2"/>
          <p:cNvSpPr/>
          <p:nvPr/>
        </p:nvSpPr>
        <p:spPr>
          <a:xfrm>
            <a:off x="640080" y="1463040"/>
            <a:ext cx="10881360" cy="0"/>
          </a:xfrm>
          <a:prstGeom prst="line">
            <a:avLst/>
          </a:prstGeom>
          <a:noFill/>
          <a:ln w="12700">
            <a:solidFill>
              <a:srgbClr val="D6E3E9"/>
            </a:solidFill>
            <a:prstDash val="solid"/>
          </a:ln>
        </p:spPr>
      </p:sp>
      <p:sp>
        <p:nvSpPr>
          <p:cNvPr id="6" name="Text 3"/>
          <p:cNvSpPr/>
          <p:nvPr/>
        </p:nvSpPr>
        <p:spPr>
          <a:xfrm>
            <a:off x="640080" y="1691640"/>
            <a:ext cx="10881360" cy="777240"/>
          </a:xfrm>
          <a:prstGeom prst="rect">
            <a:avLst/>
          </a:prstGeom>
          <a:noFill/>
          <a:ln/>
        </p:spPr>
        <p:txBody>
          <a:bodyPr wrap="square" rtlCol="0" anchor="ctr"/>
          <a:lstStyle/>
          <a:p>
            <a:pPr indent="0" marL="0">
              <a:lnSpc>
                <a:spcPts val="2000"/>
              </a:lnSpc>
              <a:buNone/>
            </a:pPr>
            <a:r>
              <a:rPr lang="en-US" sz="1500" dirty="0">
                <a:solidFill>
                  <a:srgbClr val="1B1F27"/>
                </a:solidFill>
                <a:latin typeface="Calibri" pitchFamily="34" charset="0"/>
                <a:ea typeface="Calibri" pitchFamily="34" charset="-122"/>
                <a:cs typeface="Calibri" pitchFamily="34" charset="-120"/>
              </a:rPr>
              <a:t>Marketing Analytics measures, manages, and analyzes marketing performance to maximize effectiveness and optimize return on investment (ROI).</a:t>
            </a:r>
            <a:endParaRPr lang="en-US" sz="1500" dirty="0"/>
          </a:p>
        </p:txBody>
      </p:sp>
      <p:sp>
        <p:nvSpPr>
          <p:cNvPr id="7" name="Text 4"/>
          <p:cNvSpPr/>
          <p:nvPr/>
        </p:nvSpPr>
        <p:spPr>
          <a:xfrm>
            <a:off x="640080" y="2606040"/>
            <a:ext cx="5486400" cy="365760"/>
          </a:xfrm>
          <a:prstGeom prst="rect">
            <a:avLst/>
          </a:prstGeom>
          <a:noFill/>
          <a:ln/>
        </p:spPr>
        <p:txBody>
          <a:bodyPr wrap="square" rtlCol="0" anchor="ctr"/>
          <a:lstStyle/>
          <a:p>
            <a:pPr indent="0" marL="0">
              <a:buNone/>
            </a:pPr>
            <a:r>
              <a:rPr lang="en-US" sz="1400" b="1" dirty="0">
                <a:solidFill>
                  <a:srgbClr val="3B7EA1"/>
                </a:solidFill>
                <a:latin typeface="Calibri" pitchFamily="34" charset="0"/>
                <a:ea typeface="Calibri" pitchFamily="34" charset="-122"/>
                <a:cs typeface="Calibri" pitchFamily="34" charset="-120"/>
              </a:rPr>
              <a:t>Key Features</a:t>
            </a:r>
            <a:endParaRPr lang="en-US" sz="1400" dirty="0"/>
          </a:p>
        </p:txBody>
      </p:sp>
      <p:sp>
        <p:nvSpPr>
          <p:cNvPr id="8" name="Shape 5"/>
          <p:cNvSpPr/>
          <p:nvPr/>
        </p:nvSpPr>
        <p:spPr>
          <a:xfrm>
            <a:off x="640080" y="3072384"/>
            <a:ext cx="128016" cy="128016"/>
          </a:xfrm>
          <a:prstGeom prst="ellipse">
            <a:avLst/>
          </a:prstGeom>
          <a:solidFill>
            <a:srgbClr val="3B7EA1"/>
          </a:solidFill>
          <a:ln/>
        </p:spPr>
      </p:sp>
      <p:sp>
        <p:nvSpPr>
          <p:cNvPr id="9" name="Text 6"/>
          <p:cNvSpPr/>
          <p:nvPr/>
        </p:nvSpPr>
        <p:spPr>
          <a:xfrm>
            <a:off x="914400" y="2944368"/>
            <a:ext cx="5120640" cy="50292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Evaluates campaigns across email, social media, ads, and search</a:t>
            </a:r>
            <a:endParaRPr lang="en-US" sz="1200" dirty="0"/>
          </a:p>
        </p:txBody>
      </p:sp>
      <p:sp>
        <p:nvSpPr>
          <p:cNvPr id="10" name="Shape 7"/>
          <p:cNvSpPr/>
          <p:nvPr/>
        </p:nvSpPr>
        <p:spPr>
          <a:xfrm>
            <a:off x="640080" y="3639312"/>
            <a:ext cx="128016" cy="128016"/>
          </a:xfrm>
          <a:prstGeom prst="ellipse">
            <a:avLst/>
          </a:prstGeom>
          <a:solidFill>
            <a:srgbClr val="3B7EA1"/>
          </a:solidFill>
          <a:ln/>
        </p:spPr>
      </p:sp>
      <p:sp>
        <p:nvSpPr>
          <p:cNvPr id="11" name="Text 8"/>
          <p:cNvSpPr/>
          <p:nvPr/>
        </p:nvSpPr>
        <p:spPr>
          <a:xfrm>
            <a:off x="914400" y="3511296"/>
            <a:ext cx="5120640" cy="50292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Tracks conversion rates, customer acquisition cost, ROI</a:t>
            </a:r>
            <a:endParaRPr lang="en-US" sz="1200" dirty="0"/>
          </a:p>
        </p:txBody>
      </p:sp>
      <p:sp>
        <p:nvSpPr>
          <p:cNvPr id="12" name="Shape 9"/>
          <p:cNvSpPr/>
          <p:nvPr/>
        </p:nvSpPr>
        <p:spPr>
          <a:xfrm>
            <a:off x="640080" y="4206240"/>
            <a:ext cx="128016" cy="128016"/>
          </a:xfrm>
          <a:prstGeom prst="ellipse">
            <a:avLst/>
          </a:prstGeom>
          <a:solidFill>
            <a:srgbClr val="3B7EA1"/>
          </a:solidFill>
          <a:ln/>
        </p:spPr>
      </p:sp>
      <p:sp>
        <p:nvSpPr>
          <p:cNvPr id="13" name="Text 10"/>
          <p:cNvSpPr/>
          <p:nvPr/>
        </p:nvSpPr>
        <p:spPr>
          <a:xfrm>
            <a:off x="914400" y="4078224"/>
            <a:ext cx="5120640" cy="50292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Helps identify which channels bring the most valuable customers</a:t>
            </a:r>
            <a:endParaRPr lang="en-US" sz="1200" dirty="0"/>
          </a:p>
        </p:txBody>
      </p:sp>
      <p:sp>
        <p:nvSpPr>
          <p:cNvPr id="14" name="Shape 11"/>
          <p:cNvSpPr/>
          <p:nvPr/>
        </p:nvSpPr>
        <p:spPr>
          <a:xfrm>
            <a:off x="640080" y="4773168"/>
            <a:ext cx="128016" cy="128016"/>
          </a:xfrm>
          <a:prstGeom prst="ellipse">
            <a:avLst/>
          </a:prstGeom>
          <a:solidFill>
            <a:srgbClr val="3B7EA1"/>
          </a:solidFill>
          <a:ln/>
        </p:spPr>
      </p:sp>
      <p:sp>
        <p:nvSpPr>
          <p:cNvPr id="15" name="Text 12"/>
          <p:cNvSpPr/>
          <p:nvPr/>
        </p:nvSpPr>
        <p:spPr>
          <a:xfrm>
            <a:off x="914400" y="4645152"/>
            <a:ext cx="5120640" cy="50292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Guides budget allocation across marketing channels</a:t>
            </a:r>
            <a:endParaRPr lang="en-US" sz="1200" dirty="0"/>
          </a:p>
        </p:txBody>
      </p:sp>
      <p:sp>
        <p:nvSpPr>
          <p:cNvPr id="16" name="Shape 13"/>
          <p:cNvSpPr/>
          <p:nvPr/>
        </p:nvSpPr>
        <p:spPr>
          <a:xfrm>
            <a:off x="6446520" y="2606040"/>
            <a:ext cx="5102352" cy="3246120"/>
          </a:xfrm>
          <a:prstGeom prst="roundRect">
            <a:avLst>
              <a:gd name="adj" fmla="val 2254"/>
            </a:avLst>
          </a:prstGeom>
          <a:solidFill>
            <a:srgbClr val="21295C"/>
          </a:solidFill>
          <a:ln/>
        </p:spPr>
      </p:sp>
      <p:sp>
        <p:nvSpPr>
          <p:cNvPr id="17" name="Text 14"/>
          <p:cNvSpPr/>
          <p:nvPr/>
        </p:nvSpPr>
        <p:spPr>
          <a:xfrm>
            <a:off x="6720840" y="2816352"/>
            <a:ext cx="4572000" cy="320040"/>
          </a:xfrm>
          <a:prstGeom prst="rect">
            <a:avLst/>
          </a:prstGeom>
          <a:noFill/>
          <a:ln/>
        </p:spPr>
        <p:txBody>
          <a:bodyPr wrap="square" rtlCol="0" anchor="ctr"/>
          <a:lstStyle/>
          <a:p>
            <a:pPr indent="0" marL="0">
              <a:buNone/>
            </a:pPr>
            <a:r>
              <a:rPr lang="en-US" sz="1100" b="1" spc="150" kern="0" dirty="0">
                <a:solidFill>
                  <a:srgbClr val="9FC4DA"/>
                </a:solidFill>
                <a:latin typeface="Calibri" pitchFamily="34" charset="0"/>
                <a:ea typeface="Calibri" pitchFamily="34" charset="-122"/>
                <a:cs typeface="Calibri" pitchFamily="34" charset="-120"/>
              </a:rPr>
              <a:t>REAL-WORLD EXAMPLE</a:t>
            </a:r>
            <a:endParaRPr lang="en-US" sz="1100" dirty="0"/>
          </a:p>
        </p:txBody>
      </p:sp>
      <p:sp>
        <p:nvSpPr>
          <p:cNvPr id="18" name="Text 15"/>
          <p:cNvSpPr/>
          <p:nvPr/>
        </p:nvSpPr>
        <p:spPr>
          <a:xfrm>
            <a:off x="6720840" y="3154680"/>
            <a:ext cx="4572000" cy="2514600"/>
          </a:xfrm>
          <a:prstGeom prst="rect">
            <a:avLst/>
          </a:prstGeom>
          <a:noFill/>
          <a:ln/>
        </p:spPr>
        <p:txBody>
          <a:bodyPr wrap="square"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A brand runs the same product ad on Instagram and YouTube. Marketing analytics shows Instagram brings 3x more paying customers per rupee spent, so next month's budget shifts toward Instagram.</a:t>
            </a:r>
            <a:endParaRPr lang="en-US" sz="1250" dirty="0"/>
          </a:p>
        </p:txBody>
      </p:sp>
      <p:sp>
        <p:nvSpPr>
          <p:cNvPr id="19" name="Text 1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1828800" y="2926080"/>
            <a:ext cx="5486400" cy="5486400"/>
          </a:xfrm>
          <a:prstGeom prst="ellipse">
            <a:avLst/>
          </a:prstGeom>
          <a:solidFill>
            <a:srgbClr val="1C7293">
              <a:alpha val="40000"/>
            </a:srgbClr>
          </a:solidFill>
          <a:ln/>
        </p:spPr>
      </p:sp>
      <p:sp>
        <p:nvSpPr>
          <p:cNvPr id="3" name="Shape 1"/>
          <p:cNvSpPr/>
          <p:nvPr/>
        </p:nvSpPr>
        <p:spPr>
          <a:xfrm>
            <a:off x="9601200" y="-1828800"/>
            <a:ext cx="4572000" cy="4572000"/>
          </a:xfrm>
          <a:prstGeom prst="ellipse">
            <a:avLst/>
          </a:prstGeom>
          <a:solidFill>
            <a:srgbClr val="21295C">
              <a:alpha val="60000"/>
            </a:srgbClr>
          </a:solidFill>
          <a:ln/>
        </p:spPr>
      </p:sp>
      <p:sp>
        <p:nvSpPr>
          <p:cNvPr id="4" name="Text 2"/>
          <p:cNvSpPr/>
          <p:nvPr/>
        </p:nvSpPr>
        <p:spPr>
          <a:xfrm>
            <a:off x="822960" y="2651760"/>
            <a:ext cx="7315200" cy="411480"/>
          </a:xfrm>
          <a:prstGeom prst="rect">
            <a:avLst/>
          </a:prstGeom>
          <a:noFill/>
          <a:ln/>
        </p:spPr>
        <p:txBody>
          <a:bodyPr wrap="square" rtlCol="0" anchor="ctr"/>
          <a:lstStyle/>
          <a:p>
            <a:pPr indent="0" marL="0">
              <a:buNone/>
            </a:pPr>
            <a:r>
              <a:rPr lang="en-US" sz="1500" b="1" spc="300" kern="0" dirty="0">
                <a:solidFill>
                  <a:srgbClr val="9FC4DA"/>
                </a:solidFill>
                <a:latin typeface="Calibri" pitchFamily="34" charset="0"/>
                <a:ea typeface="Calibri" pitchFamily="34" charset="-122"/>
                <a:cs typeface="Calibri" pitchFamily="34" charset="-120"/>
              </a:rPr>
              <a:t>PART THREE</a:t>
            </a:r>
            <a:endParaRPr lang="en-US" sz="1500" dirty="0"/>
          </a:p>
        </p:txBody>
      </p:sp>
      <p:sp>
        <p:nvSpPr>
          <p:cNvPr id="5" name="Text 3"/>
          <p:cNvSpPr/>
          <p:nvPr/>
        </p:nvSpPr>
        <p:spPr>
          <a:xfrm>
            <a:off x="777240" y="3017520"/>
            <a:ext cx="9601200" cy="118872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Types of Data</a:t>
            </a:r>
            <a:endParaRPr lang="en-US" sz="3800" dirty="0"/>
          </a:p>
        </p:txBody>
      </p:sp>
      <p:sp>
        <p:nvSpPr>
          <p:cNvPr id="6" name="Text 4"/>
          <p:cNvSpPr/>
          <p:nvPr/>
        </p:nvSpPr>
        <p:spPr>
          <a:xfrm>
            <a:off x="822960" y="3977640"/>
            <a:ext cx="8686800" cy="457200"/>
          </a:xfrm>
          <a:prstGeom prst="rect">
            <a:avLst/>
          </a:prstGeom>
          <a:noFill/>
          <a:ln/>
        </p:spPr>
        <p:txBody>
          <a:bodyPr wrap="square" rtlCol="0" anchor="ctr"/>
          <a:lstStyle/>
          <a:p>
            <a:pPr indent="0" marL="0">
              <a:buNone/>
            </a:pPr>
            <a:r>
              <a:rPr lang="en-US" sz="1400" i="1" dirty="0">
                <a:solidFill>
                  <a:srgbClr val="E8F1F5"/>
                </a:solidFill>
                <a:latin typeface="Calibri" pitchFamily="34" charset="0"/>
                <a:ea typeface="Calibri" pitchFamily="34" charset="-122"/>
                <a:cs typeface="Calibri" pitchFamily="34" charset="-120"/>
              </a:rPr>
              <a:t>Every dataset can be classified by what it measures and how it's organized</a:t>
            </a:r>
            <a:endParaRPr lang="en-US" sz="1400" dirty="0"/>
          </a:p>
        </p:txBody>
      </p:sp>
      <p:sp>
        <p:nvSpPr>
          <p:cNvPr id="7"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How Data is Classified</a:t>
            </a:r>
            <a:endParaRPr lang="en-US" sz="3000" dirty="0"/>
          </a:p>
        </p:txBody>
      </p:sp>
      <p:sp>
        <p:nvSpPr>
          <p:cNvPr id="3" name="Text 1"/>
          <p:cNvSpPr/>
          <p:nvPr/>
        </p:nvSpPr>
        <p:spPr>
          <a:xfrm>
            <a:off x="640080" y="1051560"/>
            <a:ext cx="10058400" cy="365760"/>
          </a:xfrm>
          <a:prstGeom prst="rect">
            <a:avLst/>
          </a:prstGeom>
          <a:noFill/>
          <a:ln/>
        </p:spPr>
        <p:txBody>
          <a:bodyPr wrap="square" rtlCol="0" anchor="ctr"/>
          <a:lstStyle/>
          <a:p>
            <a:pPr indent="0" marL="0">
              <a:buNone/>
            </a:pPr>
            <a:r>
              <a:rPr lang="en-US" sz="1300" dirty="0">
                <a:solidFill>
                  <a:srgbClr val="5B6672"/>
                </a:solidFill>
                <a:latin typeface="Calibri" pitchFamily="34" charset="0"/>
                <a:ea typeface="Calibri" pitchFamily="34" charset="-122"/>
                <a:cs typeface="Calibri" pitchFamily="34" charset="-120"/>
              </a:rPr>
              <a:t>Two independent ways to look at the same data: by nature, and by organization</a:t>
            </a:r>
            <a:endParaRPr lang="en-US" sz="1300" dirty="0"/>
          </a:p>
        </p:txBody>
      </p:sp>
      <p:sp>
        <p:nvSpPr>
          <p:cNvPr id="4" name="Shape 2"/>
          <p:cNvSpPr/>
          <p:nvPr/>
        </p:nvSpPr>
        <p:spPr>
          <a:xfrm>
            <a:off x="640080" y="1691640"/>
            <a:ext cx="5212080" cy="594360"/>
          </a:xfrm>
          <a:prstGeom prst="roundRect">
            <a:avLst>
              <a:gd name="adj" fmla="val 12308"/>
            </a:avLst>
          </a:prstGeom>
          <a:solidFill>
            <a:srgbClr val="065A82"/>
          </a:solidFill>
          <a:ln/>
        </p:spPr>
      </p:sp>
      <p:sp>
        <p:nvSpPr>
          <p:cNvPr id="5" name="Text 3"/>
          <p:cNvSpPr/>
          <p:nvPr/>
        </p:nvSpPr>
        <p:spPr>
          <a:xfrm>
            <a:off x="822960" y="1691640"/>
            <a:ext cx="4846320" cy="5943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BY NATURE OF VALUES</a:t>
            </a:r>
            <a:endParaRPr lang="en-US" sz="1400" dirty="0"/>
          </a:p>
        </p:txBody>
      </p:sp>
      <p:sp>
        <p:nvSpPr>
          <p:cNvPr id="6" name="Shape 4"/>
          <p:cNvSpPr/>
          <p:nvPr/>
        </p:nvSpPr>
        <p:spPr>
          <a:xfrm>
            <a:off x="640080" y="2468880"/>
            <a:ext cx="2514600" cy="1280160"/>
          </a:xfrm>
          <a:prstGeom prst="roundRect">
            <a:avLst>
              <a:gd name="adj" fmla="val 5714"/>
            </a:avLst>
          </a:prstGeom>
          <a:solidFill>
            <a:srgbClr val="E8F1F5"/>
          </a:solidFill>
          <a:ln/>
        </p:spPr>
      </p:sp>
      <p:sp>
        <p:nvSpPr>
          <p:cNvPr id="7" name="Text 5"/>
          <p:cNvSpPr/>
          <p:nvPr/>
        </p:nvSpPr>
        <p:spPr>
          <a:xfrm>
            <a:off x="822960" y="2606040"/>
            <a:ext cx="2194560" cy="320040"/>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Numerical Data</a:t>
            </a:r>
            <a:endParaRPr lang="en-US" sz="1350" dirty="0"/>
          </a:p>
        </p:txBody>
      </p:sp>
      <p:sp>
        <p:nvSpPr>
          <p:cNvPr id="8" name="Text 6"/>
          <p:cNvSpPr/>
          <p:nvPr/>
        </p:nvSpPr>
        <p:spPr>
          <a:xfrm>
            <a:off x="822960" y="2926080"/>
            <a:ext cx="2194560" cy="731520"/>
          </a:xfrm>
          <a:prstGeom prst="rect">
            <a:avLst/>
          </a:prstGeom>
          <a:noFill/>
          <a:ln/>
        </p:spPr>
        <p:txBody>
          <a:bodyPr wrap="square" rtlCol="0" anchor="ctr"/>
          <a:lstStyle/>
          <a:p>
            <a:pPr indent="0" marL="0">
              <a:lnSpc>
                <a:spcPts val="1300"/>
              </a:lnSpc>
              <a:buNone/>
            </a:pPr>
            <a:r>
              <a:rPr lang="en-US" sz="1050" dirty="0">
                <a:solidFill>
                  <a:srgbClr val="1B1F27"/>
                </a:solidFill>
                <a:latin typeface="Calibri" pitchFamily="34" charset="0"/>
                <a:ea typeface="Calibri" pitchFamily="34" charset="-122"/>
                <a:cs typeface="Calibri" pitchFamily="34" charset="-120"/>
              </a:rPr>
              <a:t>Measurable quantities (discrete or continuous)</a:t>
            </a:r>
            <a:endParaRPr lang="en-US" sz="1050" dirty="0"/>
          </a:p>
        </p:txBody>
      </p:sp>
      <p:sp>
        <p:nvSpPr>
          <p:cNvPr id="9" name="Shape 7"/>
          <p:cNvSpPr/>
          <p:nvPr/>
        </p:nvSpPr>
        <p:spPr>
          <a:xfrm>
            <a:off x="3337560" y="2468880"/>
            <a:ext cx="2514600" cy="1280160"/>
          </a:xfrm>
          <a:prstGeom prst="roundRect">
            <a:avLst>
              <a:gd name="adj" fmla="val 5714"/>
            </a:avLst>
          </a:prstGeom>
          <a:solidFill>
            <a:srgbClr val="E8F1F5"/>
          </a:solidFill>
          <a:ln/>
        </p:spPr>
      </p:sp>
      <p:sp>
        <p:nvSpPr>
          <p:cNvPr id="10" name="Text 8"/>
          <p:cNvSpPr/>
          <p:nvPr/>
        </p:nvSpPr>
        <p:spPr>
          <a:xfrm>
            <a:off x="3520440" y="2606040"/>
            <a:ext cx="2194560" cy="320040"/>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Categorical Data</a:t>
            </a:r>
            <a:endParaRPr lang="en-US" sz="1350" dirty="0"/>
          </a:p>
        </p:txBody>
      </p:sp>
      <p:sp>
        <p:nvSpPr>
          <p:cNvPr id="11" name="Text 9"/>
          <p:cNvSpPr/>
          <p:nvPr/>
        </p:nvSpPr>
        <p:spPr>
          <a:xfrm>
            <a:off x="3520440" y="2926080"/>
            <a:ext cx="2194560" cy="731520"/>
          </a:xfrm>
          <a:prstGeom prst="rect">
            <a:avLst/>
          </a:prstGeom>
          <a:noFill/>
          <a:ln/>
        </p:spPr>
        <p:txBody>
          <a:bodyPr wrap="square" rtlCol="0" anchor="ctr"/>
          <a:lstStyle/>
          <a:p>
            <a:pPr indent="0" marL="0">
              <a:lnSpc>
                <a:spcPts val="1300"/>
              </a:lnSpc>
              <a:buNone/>
            </a:pPr>
            <a:r>
              <a:rPr lang="en-US" sz="1050" dirty="0">
                <a:solidFill>
                  <a:srgbClr val="1B1F27"/>
                </a:solidFill>
                <a:latin typeface="Calibri" pitchFamily="34" charset="0"/>
                <a:ea typeface="Calibri" pitchFamily="34" charset="-122"/>
                <a:cs typeface="Calibri" pitchFamily="34" charset="-120"/>
              </a:rPr>
              <a:t>Labels or groups (nominal or ordinal)</a:t>
            </a:r>
            <a:endParaRPr lang="en-US" sz="1050" dirty="0"/>
          </a:p>
        </p:txBody>
      </p:sp>
      <p:sp>
        <p:nvSpPr>
          <p:cNvPr id="12" name="Shape 10"/>
          <p:cNvSpPr/>
          <p:nvPr/>
        </p:nvSpPr>
        <p:spPr>
          <a:xfrm>
            <a:off x="6355080" y="1691640"/>
            <a:ext cx="5193792" cy="594360"/>
          </a:xfrm>
          <a:prstGeom prst="roundRect">
            <a:avLst>
              <a:gd name="adj" fmla="val 12308"/>
            </a:avLst>
          </a:prstGeom>
          <a:solidFill>
            <a:srgbClr val="1C7293"/>
          </a:solidFill>
          <a:ln/>
        </p:spPr>
      </p:sp>
      <p:sp>
        <p:nvSpPr>
          <p:cNvPr id="13" name="Text 11"/>
          <p:cNvSpPr/>
          <p:nvPr/>
        </p:nvSpPr>
        <p:spPr>
          <a:xfrm>
            <a:off x="6537960" y="1691640"/>
            <a:ext cx="4846320" cy="5943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BY STRUCTURE / FORMAT</a:t>
            </a:r>
            <a:endParaRPr lang="en-US" sz="1400" dirty="0"/>
          </a:p>
        </p:txBody>
      </p:sp>
      <p:sp>
        <p:nvSpPr>
          <p:cNvPr id="14" name="Shape 12"/>
          <p:cNvSpPr/>
          <p:nvPr/>
        </p:nvSpPr>
        <p:spPr>
          <a:xfrm>
            <a:off x="6355080" y="2468880"/>
            <a:ext cx="1673352" cy="1280160"/>
          </a:xfrm>
          <a:prstGeom prst="roundRect">
            <a:avLst>
              <a:gd name="adj" fmla="val 5714"/>
            </a:avLst>
          </a:prstGeom>
          <a:solidFill>
            <a:srgbClr val="E8F1F5"/>
          </a:solidFill>
          <a:ln/>
        </p:spPr>
      </p:sp>
      <p:sp>
        <p:nvSpPr>
          <p:cNvPr id="15" name="Text 13"/>
          <p:cNvSpPr/>
          <p:nvPr/>
        </p:nvSpPr>
        <p:spPr>
          <a:xfrm>
            <a:off x="6483096" y="2587752"/>
            <a:ext cx="1417320" cy="502920"/>
          </a:xfrm>
          <a:prstGeom prst="rect">
            <a:avLst/>
          </a:prstGeom>
          <a:noFill/>
          <a:ln/>
        </p:spPr>
        <p:txBody>
          <a:bodyPr wrap="square" rtlCol="0" anchor="ctr"/>
          <a:lstStyle/>
          <a:p>
            <a:pPr indent="0" marL="0">
              <a:lnSpc>
                <a:spcPts val="1300"/>
              </a:lnSpc>
              <a:buNone/>
            </a:pPr>
            <a:r>
              <a:rPr lang="en-US" sz="1200" b="1" dirty="0">
                <a:solidFill>
                  <a:srgbClr val="21295C"/>
                </a:solidFill>
                <a:latin typeface="Calibri" pitchFamily="34" charset="0"/>
                <a:ea typeface="Calibri" pitchFamily="34" charset="-122"/>
                <a:cs typeface="Calibri" pitchFamily="34" charset="-120"/>
              </a:rPr>
              <a:t>Structured</a:t>
            </a:r>
            <a:endParaRPr lang="en-US" sz="1200" dirty="0"/>
          </a:p>
        </p:txBody>
      </p:sp>
      <p:sp>
        <p:nvSpPr>
          <p:cNvPr id="16" name="Text 14"/>
          <p:cNvSpPr/>
          <p:nvPr/>
        </p:nvSpPr>
        <p:spPr>
          <a:xfrm>
            <a:off x="6483096" y="3063240"/>
            <a:ext cx="1417320" cy="594360"/>
          </a:xfrm>
          <a:prstGeom prst="rect">
            <a:avLst/>
          </a:prstGeom>
          <a:noFill/>
          <a:ln/>
        </p:spPr>
        <p:txBody>
          <a:bodyPr wrap="square" rtlCol="0" anchor="ctr"/>
          <a:lstStyle/>
          <a:p>
            <a:pPr indent="0" marL="0">
              <a:lnSpc>
                <a:spcPts val="1100"/>
              </a:lnSpc>
              <a:buNone/>
            </a:pPr>
            <a:r>
              <a:rPr lang="en-US" sz="950" dirty="0">
                <a:solidFill>
                  <a:srgbClr val="1B1F27"/>
                </a:solidFill>
                <a:latin typeface="Calibri" pitchFamily="34" charset="0"/>
                <a:ea typeface="Calibri" pitchFamily="34" charset="-122"/>
                <a:cs typeface="Calibri" pitchFamily="34" charset="-120"/>
              </a:rPr>
              <a:t>Fits neatly in rows &amp; columns</a:t>
            </a:r>
            <a:endParaRPr lang="en-US" sz="950" dirty="0"/>
          </a:p>
        </p:txBody>
      </p:sp>
      <p:sp>
        <p:nvSpPr>
          <p:cNvPr id="17" name="Shape 15"/>
          <p:cNvSpPr/>
          <p:nvPr/>
        </p:nvSpPr>
        <p:spPr>
          <a:xfrm>
            <a:off x="8119872" y="2468880"/>
            <a:ext cx="1673352" cy="1280160"/>
          </a:xfrm>
          <a:prstGeom prst="roundRect">
            <a:avLst>
              <a:gd name="adj" fmla="val 5714"/>
            </a:avLst>
          </a:prstGeom>
          <a:solidFill>
            <a:srgbClr val="E8F1F5"/>
          </a:solidFill>
          <a:ln/>
        </p:spPr>
      </p:sp>
      <p:sp>
        <p:nvSpPr>
          <p:cNvPr id="18" name="Text 16"/>
          <p:cNvSpPr/>
          <p:nvPr/>
        </p:nvSpPr>
        <p:spPr>
          <a:xfrm>
            <a:off x="8247888" y="2587752"/>
            <a:ext cx="1417320" cy="502920"/>
          </a:xfrm>
          <a:prstGeom prst="rect">
            <a:avLst/>
          </a:prstGeom>
          <a:noFill/>
          <a:ln/>
        </p:spPr>
        <p:txBody>
          <a:bodyPr wrap="square" rtlCol="0" anchor="ctr"/>
          <a:lstStyle/>
          <a:p>
            <a:pPr indent="0" marL="0">
              <a:lnSpc>
                <a:spcPts val="1300"/>
              </a:lnSpc>
              <a:buNone/>
            </a:pPr>
            <a:r>
              <a:rPr lang="en-US" sz="1200" b="1" dirty="0">
                <a:solidFill>
                  <a:srgbClr val="21295C"/>
                </a:solidFill>
                <a:latin typeface="Calibri" pitchFamily="34" charset="0"/>
                <a:ea typeface="Calibri" pitchFamily="34" charset="-122"/>
                <a:cs typeface="Calibri" pitchFamily="34" charset="-120"/>
              </a:rPr>
              <a:t>Semi-Structured</a:t>
            </a:r>
            <a:endParaRPr lang="en-US" sz="1200" dirty="0"/>
          </a:p>
        </p:txBody>
      </p:sp>
      <p:sp>
        <p:nvSpPr>
          <p:cNvPr id="19" name="Text 17"/>
          <p:cNvSpPr/>
          <p:nvPr/>
        </p:nvSpPr>
        <p:spPr>
          <a:xfrm>
            <a:off x="8247888" y="3063240"/>
            <a:ext cx="1417320" cy="594360"/>
          </a:xfrm>
          <a:prstGeom prst="rect">
            <a:avLst/>
          </a:prstGeom>
          <a:noFill/>
          <a:ln/>
        </p:spPr>
        <p:txBody>
          <a:bodyPr wrap="square" rtlCol="0" anchor="ctr"/>
          <a:lstStyle/>
          <a:p>
            <a:pPr indent="0" marL="0">
              <a:lnSpc>
                <a:spcPts val="1100"/>
              </a:lnSpc>
              <a:buNone/>
            </a:pPr>
            <a:r>
              <a:rPr lang="en-US" sz="950" dirty="0">
                <a:solidFill>
                  <a:srgbClr val="1B1F27"/>
                </a:solidFill>
                <a:latin typeface="Calibri" pitchFamily="34" charset="0"/>
                <a:ea typeface="Calibri" pitchFamily="34" charset="-122"/>
                <a:cs typeface="Calibri" pitchFamily="34" charset="-120"/>
              </a:rPr>
              <a:t>Some organization, no rigid schema</a:t>
            </a:r>
            <a:endParaRPr lang="en-US" sz="950" dirty="0"/>
          </a:p>
        </p:txBody>
      </p:sp>
      <p:sp>
        <p:nvSpPr>
          <p:cNvPr id="20" name="Shape 18"/>
          <p:cNvSpPr/>
          <p:nvPr/>
        </p:nvSpPr>
        <p:spPr>
          <a:xfrm>
            <a:off x="9884664" y="2468880"/>
            <a:ext cx="1673352" cy="1280160"/>
          </a:xfrm>
          <a:prstGeom prst="roundRect">
            <a:avLst>
              <a:gd name="adj" fmla="val 5714"/>
            </a:avLst>
          </a:prstGeom>
          <a:solidFill>
            <a:srgbClr val="E8F1F5"/>
          </a:solidFill>
          <a:ln/>
        </p:spPr>
      </p:sp>
      <p:sp>
        <p:nvSpPr>
          <p:cNvPr id="21" name="Text 19"/>
          <p:cNvSpPr/>
          <p:nvPr/>
        </p:nvSpPr>
        <p:spPr>
          <a:xfrm>
            <a:off x="10012680" y="2587752"/>
            <a:ext cx="1417320" cy="502920"/>
          </a:xfrm>
          <a:prstGeom prst="rect">
            <a:avLst/>
          </a:prstGeom>
          <a:noFill/>
          <a:ln/>
        </p:spPr>
        <p:txBody>
          <a:bodyPr wrap="square" rtlCol="0" anchor="ctr"/>
          <a:lstStyle/>
          <a:p>
            <a:pPr indent="0" marL="0">
              <a:lnSpc>
                <a:spcPts val="1300"/>
              </a:lnSpc>
              <a:buNone/>
            </a:pPr>
            <a:r>
              <a:rPr lang="en-US" sz="1200" b="1" dirty="0">
                <a:solidFill>
                  <a:srgbClr val="21295C"/>
                </a:solidFill>
                <a:latin typeface="Calibri" pitchFamily="34" charset="0"/>
                <a:ea typeface="Calibri" pitchFamily="34" charset="-122"/>
                <a:cs typeface="Calibri" pitchFamily="34" charset="-120"/>
              </a:rPr>
              <a:t>Unstructured</a:t>
            </a:r>
            <a:endParaRPr lang="en-US" sz="1200" dirty="0"/>
          </a:p>
        </p:txBody>
      </p:sp>
      <p:sp>
        <p:nvSpPr>
          <p:cNvPr id="22" name="Text 20"/>
          <p:cNvSpPr/>
          <p:nvPr/>
        </p:nvSpPr>
        <p:spPr>
          <a:xfrm>
            <a:off x="10012680" y="3063240"/>
            <a:ext cx="1417320" cy="594360"/>
          </a:xfrm>
          <a:prstGeom prst="rect">
            <a:avLst/>
          </a:prstGeom>
          <a:noFill/>
          <a:ln/>
        </p:spPr>
        <p:txBody>
          <a:bodyPr wrap="square" rtlCol="0" anchor="ctr"/>
          <a:lstStyle/>
          <a:p>
            <a:pPr indent="0" marL="0">
              <a:lnSpc>
                <a:spcPts val="1100"/>
              </a:lnSpc>
              <a:buNone/>
            </a:pPr>
            <a:r>
              <a:rPr lang="en-US" sz="950" dirty="0">
                <a:solidFill>
                  <a:srgbClr val="1B1F27"/>
                </a:solidFill>
                <a:latin typeface="Calibri" pitchFamily="34" charset="0"/>
                <a:ea typeface="Calibri" pitchFamily="34" charset="-122"/>
                <a:cs typeface="Calibri" pitchFamily="34" charset="-120"/>
              </a:rPr>
              <a:t>No predefined format</a:t>
            </a:r>
            <a:endParaRPr lang="en-US" sz="950" dirty="0"/>
          </a:p>
        </p:txBody>
      </p:sp>
      <p:sp>
        <p:nvSpPr>
          <p:cNvPr id="23" name="Shape 21"/>
          <p:cNvSpPr/>
          <p:nvPr/>
        </p:nvSpPr>
        <p:spPr>
          <a:xfrm>
            <a:off x="640080" y="4160520"/>
            <a:ext cx="10908792" cy="1417320"/>
          </a:xfrm>
          <a:prstGeom prst="roundRect">
            <a:avLst>
              <a:gd name="adj" fmla="val 5161"/>
            </a:avLst>
          </a:prstGeom>
          <a:solidFill>
            <a:srgbClr val="21295C"/>
          </a:solidFill>
          <a:ln/>
        </p:spPr>
      </p:sp>
      <p:sp>
        <p:nvSpPr>
          <p:cNvPr id="24" name="Text 22"/>
          <p:cNvSpPr/>
          <p:nvPr/>
        </p:nvSpPr>
        <p:spPr>
          <a:xfrm>
            <a:off x="914400" y="4343400"/>
            <a:ext cx="10332720" cy="1097280"/>
          </a:xfrm>
          <a:prstGeom prst="rect">
            <a:avLst/>
          </a:prstGeom>
          <a:noFill/>
          <a:ln/>
        </p:spPr>
        <p:txBody>
          <a:bodyPr wrap="square" rtlCol="0" anchor="ctr"/>
          <a:lstStyle/>
          <a:p>
            <a:pPr indent="0" marL="0">
              <a:lnSpc>
                <a:spcPts val="1700"/>
              </a:lnSpc>
              <a:buNone/>
            </a:pPr>
            <a:r>
              <a:rPr lang="en-US" sz="1250" b="1" dirty="0">
                <a:solidFill>
                  <a:srgbClr val="9FC4DA"/>
                </a:solidFill>
                <a:latin typeface="Calibri" pitchFamily="34" charset="0"/>
                <a:ea typeface="Calibri" pitchFamily="34" charset="-122"/>
                <a:cs typeface="Calibri" pitchFamily="34" charset="-120"/>
              </a:rPr>
              <a:t>Important: </a:t>
            </a:r>
            <a:pPr indent="0" marL="0">
              <a:lnSpc>
                <a:spcPts val="1700"/>
              </a:lnSpc>
              <a:buNone/>
            </a:pPr>
            <a:r>
              <a:rPr lang="en-US" sz="1250" dirty="0">
                <a:solidFill>
                  <a:srgbClr val="FFFFFF"/>
                </a:solidFill>
                <a:latin typeface="Calibri" pitchFamily="34" charset="0"/>
                <a:ea typeface="Calibri" pitchFamily="34" charset="-122"/>
                <a:cs typeface="Calibri" pitchFamily="34" charset="-120"/>
              </a:rPr>
              <a:t>these two classifications are independent. A single dataset can be, for example, numerical AND structured (a spreadsheet of sales figures), or categorical AND unstructured (customer opinions scattered across social media posts). We'll explore both classifications in depth over the next slides.</a:t>
            </a:r>
            <a:endParaRPr lang="en-US" sz="1250" dirty="0"/>
          </a:p>
        </p:txBody>
      </p:sp>
      <p:sp>
        <p:nvSpPr>
          <p:cNvPr id="26" name="Text 2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065A82"/>
          </a:solidFill>
          <a:ln/>
        </p:spPr>
      </p:sp>
      <p:pic>
        <p:nvPicPr>
          <p:cNvPr id="3" name="Image 0" descr="/home/claude/ppt/icons/numerical.png">    </p:cNvPr>
          <p:cNvPicPr>
            <a:picLocks noChangeAspect="1"/>
          </p:cNvPicPr>
          <p:nvPr/>
        </p:nvPicPr>
        <p:blipFill>
          <a:blip r:embed="rId1"/>
          <a:stretch>
            <a:fillRect/>
          </a:stretch>
        </p:blipFill>
        <p:spPr>
          <a:xfrm>
            <a:off x="854050" y="716890"/>
            <a:ext cx="395021" cy="395021"/>
          </a:xfrm>
          <a:prstGeom prst="rect">
            <a:avLst/>
          </a:prstGeom>
        </p:spPr>
      </p:pic>
      <p:sp>
        <p:nvSpPr>
          <p:cNvPr id="4" name="Text 1"/>
          <p:cNvSpPr/>
          <p:nvPr/>
        </p:nvSpPr>
        <p:spPr>
          <a:xfrm>
            <a:off x="1645920" y="502920"/>
            <a:ext cx="9144000" cy="457200"/>
          </a:xfrm>
          <a:prstGeom prst="rect">
            <a:avLst/>
          </a:prstGeom>
          <a:noFill/>
          <a:ln/>
        </p:spPr>
        <p:txBody>
          <a:bodyPr wrap="square" rtlCol="0" anchor="ctr"/>
          <a:lstStyle/>
          <a:p>
            <a:pPr indent="0" marL="0">
              <a:buNone/>
            </a:pPr>
            <a:r>
              <a:rPr lang="en-US" sz="2700" b="1" dirty="0">
                <a:solidFill>
                  <a:srgbClr val="21295C"/>
                </a:solidFill>
                <a:latin typeface="Cambria" pitchFamily="34" charset="0"/>
                <a:ea typeface="Cambria" pitchFamily="34" charset="-122"/>
                <a:cs typeface="Cambria" pitchFamily="34" charset="-120"/>
              </a:rPr>
              <a:t>Numerical (Quantitative) Data</a:t>
            </a:r>
            <a:endParaRPr lang="en-US" sz="2700" dirty="0"/>
          </a:p>
        </p:txBody>
      </p:sp>
      <p:sp>
        <p:nvSpPr>
          <p:cNvPr id="5" name="Shape 2"/>
          <p:cNvSpPr/>
          <p:nvPr/>
        </p:nvSpPr>
        <p:spPr>
          <a:xfrm>
            <a:off x="640080" y="1463040"/>
            <a:ext cx="10881360" cy="0"/>
          </a:xfrm>
          <a:prstGeom prst="line">
            <a:avLst/>
          </a:prstGeom>
          <a:noFill/>
          <a:ln w="12700">
            <a:solidFill>
              <a:srgbClr val="D6E3E9"/>
            </a:solidFill>
            <a:prstDash val="solid"/>
          </a:ln>
        </p:spPr>
      </p:sp>
      <p:sp>
        <p:nvSpPr>
          <p:cNvPr id="6" name="Text 3"/>
          <p:cNvSpPr/>
          <p:nvPr/>
        </p:nvSpPr>
        <p:spPr>
          <a:xfrm>
            <a:off x="640080" y="1645920"/>
            <a:ext cx="10881360" cy="640080"/>
          </a:xfrm>
          <a:prstGeom prst="rect">
            <a:avLst/>
          </a:prstGeom>
          <a:noFill/>
          <a:ln/>
        </p:spPr>
        <p:txBody>
          <a:bodyPr wrap="square" rtlCol="0" anchor="ctr"/>
          <a:lstStyle/>
          <a:p>
            <a:pPr indent="0" marL="0">
              <a:lnSpc>
                <a:spcPts val="1900"/>
              </a:lnSpc>
              <a:buNone/>
            </a:pPr>
            <a:r>
              <a:rPr lang="en-US" sz="1450" dirty="0">
                <a:solidFill>
                  <a:srgbClr val="1B1F27"/>
                </a:solidFill>
                <a:latin typeface="Calibri" pitchFamily="34" charset="0"/>
                <a:ea typeface="Calibri" pitchFamily="34" charset="-122"/>
                <a:cs typeface="Calibri" pitchFamily="34" charset="-120"/>
              </a:rPr>
              <a:t>Data that represents measurable quantities and can be expressed as numbers, used in mathematical operations like averaging and summing.</a:t>
            </a:r>
            <a:endParaRPr lang="en-US" sz="1450" dirty="0"/>
          </a:p>
        </p:txBody>
      </p:sp>
      <p:sp>
        <p:nvSpPr>
          <p:cNvPr id="7" name="Shape 4"/>
          <p:cNvSpPr/>
          <p:nvPr/>
        </p:nvSpPr>
        <p:spPr>
          <a:xfrm>
            <a:off x="640080" y="2514600"/>
            <a:ext cx="5212080" cy="3017520"/>
          </a:xfrm>
          <a:prstGeom prst="roundRect">
            <a:avLst>
              <a:gd name="adj" fmla="val 2424"/>
            </a:avLst>
          </a:prstGeom>
          <a:solidFill>
            <a:srgbClr val="E8F1F5"/>
          </a:solidFill>
          <a:ln/>
        </p:spPr>
      </p:sp>
      <p:sp>
        <p:nvSpPr>
          <p:cNvPr id="8" name="Text 5"/>
          <p:cNvSpPr/>
          <p:nvPr/>
        </p:nvSpPr>
        <p:spPr>
          <a:xfrm>
            <a:off x="868680" y="2697480"/>
            <a:ext cx="4754880" cy="365760"/>
          </a:xfrm>
          <a:prstGeom prst="rect">
            <a:avLst/>
          </a:prstGeom>
          <a:noFill/>
          <a:ln/>
        </p:spPr>
        <p:txBody>
          <a:bodyPr wrap="square"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DISCRETE</a:t>
            </a:r>
            <a:endParaRPr lang="en-US" sz="1500" dirty="0"/>
          </a:p>
        </p:txBody>
      </p:sp>
      <p:sp>
        <p:nvSpPr>
          <p:cNvPr id="9" name="Text 6"/>
          <p:cNvSpPr/>
          <p:nvPr/>
        </p:nvSpPr>
        <p:spPr>
          <a:xfrm>
            <a:off x="868680" y="3063240"/>
            <a:ext cx="4754880" cy="685800"/>
          </a:xfrm>
          <a:prstGeom prst="rect">
            <a:avLst/>
          </a:prstGeom>
          <a:noFill/>
          <a:ln/>
        </p:spPr>
        <p:txBody>
          <a:bodyPr wrap="square" rtlCol="0" anchor="ctr"/>
          <a:lstStyle/>
          <a:p>
            <a:pPr indent="0" marL="0">
              <a:lnSpc>
                <a:spcPts val="1500"/>
              </a:lnSpc>
              <a:buNone/>
            </a:pPr>
            <a:r>
              <a:rPr lang="en-US" sz="1200" dirty="0">
                <a:solidFill>
                  <a:srgbClr val="1B1F27"/>
                </a:solidFill>
                <a:latin typeface="Calibri" pitchFamily="34" charset="0"/>
                <a:ea typeface="Calibri" pitchFamily="34" charset="-122"/>
                <a:cs typeface="Calibri" pitchFamily="34" charset="-120"/>
              </a:rPr>
              <a:t>Countable values, usually whole numbers. You cannot have a fraction of the unit.</a:t>
            </a:r>
            <a:endParaRPr lang="en-US" sz="1200" dirty="0"/>
          </a:p>
        </p:txBody>
      </p:sp>
      <p:sp>
        <p:nvSpPr>
          <p:cNvPr id="10" name="Text 7"/>
          <p:cNvSpPr/>
          <p:nvPr/>
        </p:nvSpPr>
        <p:spPr>
          <a:xfrm>
            <a:off x="868680" y="3794760"/>
            <a:ext cx="4754880" cy="274320"/>
          </a:xfrm>
          <a:prstGeom prst="rect">
            <a:avLst/>
          </a:prstGeom>
          <a:noFill/>
          <a:ln/>
        </p:spPr>
        <p:txBody>
          <a:bodyPr wrap="square"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Examples:</a:t>
            </a:r>
            <a:endParaRPr lang="en-US" sz="1150" dirty="0"/>
          </a:p>
        </p:txBody>
      </p:sp>
      <p:sp>
        <p:nvSpPr>
          <p:cNvPr id="11" name="Text 8"/>
          <p:cNvSpPr/>
          <p:nvPr/>
        </p:nvSpPr>
        <p:spPr>
          <a:xfrm>
            <a:off x="960120" y="4087368"/>
            <a:ext cx="4572000" cy="347472"/>
          </a:xfrm>
          <a:prstGeom prst="rect">
            <a:avLst/>
          </a:prstGeom>
          <a:noFill/>
          <a:ln/>
        </p:spPr>
        <p:txBody>
          <a:bodyPr wrap="square" rtlCol="0" anchor="ctr"/>
          <a:lstStyle/>
          <a:p>
            <a:pPr indent="0" marL="0">
              <a:buNone/>
            </a:pPr>
            <a:r>
              <a:rPr lang="en-US" sz="1150" dirty="0">
                <a:solidFill>
                  <a:srgbClr val="1B1F27"/>
                </a:solidFill>
                <a:latin typeface="Calibri" pitchFamily="34" charset="0"/>
                <a:ea typeface="Calibri" pitchFamily="34" charset="-122"/>
                <a:cs typeface="Calibri" pitchFamily="34" charset="-120"/>
              </a:rPr>
              <a:t>•  Number of students in a class</a:t>
            </a:r>
            <a:endParaRPr lang="en-US" sz="1150" dirty="0"/>
          </a:p>
        </p:txBody>
      </p:sp>
      <p:sp>
        <p:nvSpPr>
          <p:cNvPr id="12" name="Text 9"/>
          <p:cNvSpPr/>
          <p:nvPr/>
        </p:nvSpPr>
        <p:spPr>
          <a:xfrm>
            <a:off x="960120" y="4453128"/>
            <a:ext cx="4572000" cy="347472"/>
          </a:xfrm>
          <a:prstGeom prst="rect">
            <a:avLst/>
          </a:prstGeom>
          <a:noFill/>
          <a:ln/>
        </p:spPr>
        <p:txBody>
          <a:bodyPr wrap="square" rtlCol="0" anchor="ctr"/>
          <a:lstStyle/>
          <a:p>
            <a:pPr indent="0" marL="0">
              <a:buNone/>
            </a:pPr>
            <a:r>
              <a:rPr lang="en-US" sz="1150" dirty="0">
                <a:solidFill>
                  <a:srgbClr val="1B1F27"/>
                </a:solidFill>
                <a:latin typeface="Calibri" pitchFamily="34" charset="0"/>
                <a:ea typeface="Calibri" pitchFamily="34" charset="-122"/>
                <a:cs typeface="Calibri" pitchFamily="34" charset="-120"/>
              </a:rPr>
              <a:t>•  Number of cars sold</a:t>
            </a:r>
            <a:endParaRPr lang="en-US" sz="1150" dirty="0"/>
          </a:p>
        </p:txBody>
      </p:sp>
      <p:sp>
        <p:nvSpPr>
          <p:cNvPr id="13" name="Text 10"/>
          <p:cNvSpPr/>
          <p:nvPr/>
        </p:nvSpPr>
        <p:spPr>
          <a:xfrm>
            <a:off x="960120" y="4818888"/>
            <a:ext cx="4572000" cy="347472"/>
          </a:xfrm>
          <a:prstGeom prst="rect">
            <a:avLst/>
          </a:prstGeom>
          <a:noFill/>
          <a:ln/>
        </p:spPr>
        <p:txBody>
          <a:bodyPr wrap="square" rtlCol="0" anchor="ctr"/>
          <a:lstStyle/>
          <a:p>
            <a:pPr indent="0" marL="0">
              <a:buNone/>
            </a:pPr>
            <a:r>
              <a:rPr lang="en-US" sz="1150" dirty="0">
                <a:solidFill>
                  <a:srgbClr val="1B1F27"/>
                </a:solidFill>
                <a:latin typeface="Calibri" pitchFamily="34" charset="0"/>
                <a:ea typeface="Calibri" pitchFamily="34" charset="-122"/>
                <a:cs typeface="Calibri" pitchFamily="34" charset="-120"/>
              </a:rPr>
              <a:t>•  Number of clicks on a page</a:t>
            </a:r>
            <a:endParaRPr lang="en-US" sz="1150" dirty="0"/>
          </a:p>
        </p:txBody>
      </p:sp>
      <p:sp>
        <p:nvSpPr>
          <p:cNvPr id="14" name="Shape 11"/>
          <p:cNvSpPr/>
          <p:nvPr/>
        </p:nvSpPr>
        <p:spPr>
          <a:xfrm>
            <a:off x="6126480" y="2514600"/>
            <a:ext cx="5212080" cy="3017520"/>
          </a:xfrm>
          <a:prstGeom prst="roundRect">
            <a:avLst>
              <a:gd name="adj" fmla="val 2424"/>
            </a:avLst>
          </a:prstGeom>
          <a:solidFill>
            <a:srgbClr val="E8F1F5"/>
          </a:solidFill>
          <a:ln/>
        </p:spPr>
      </p:sp>
      <p:sp>
        <p:nvSpPr>
          <p:cNvPr id="15" name="Text 12"/>
          <p:cNvSpPr/>
          <p:nvPr/>
        </p:nvSpPr>
        <p:spPr>
          <a:xfrm>
            <a:off x="6355080" y="2697480"/>
            <a:ext cx="4754880" cy="365760"/>
          </a:xfrm>
          <a:prstGeom prst="rect">
            <a:avLst/>
          </a:prstGeom>
          <a:noFill/>
          <a:ln/>
        </p:spPr>
        <p:txBody>
          <a:bodyPr wrap="square"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CONTINUOUS</a:t>
            </a:r>
            <a:endParaRPr lang="en-US" sz="1500" dirty="0"/>
          </a:p>
        </p:txBody>
      </p:sp>
      <p:sp>
        <p:nvSpPr>
          <p:cNvPr id="16" name="Text 13"/>
          <p:cNvSpPr/>
          <p:nvPr/>
        </p:nvSpPr>
        <p:spPr>
          <a:xfrm>
            <a:off x="6355080" y="3063240"/>
            <a:ext cx="4754880" cy="685800"/>
          </a:xfrm>
          <a:prstGeom prst="rect">
            <a:avLst/>
          </a:prstGeom>
          <a:noFill/>
          <a:ln/>
        </p:spPr>
        <p:txBody>
          <a:bodyPr wrap="square" rtlCol="0" anchor="ctr"/>
          <a:lstStyle/>
          <a:p>
            <a:pPr indent="0" marL="0">
              <a:lnSpc>
                <a:spcPts val="1500"/>
              </a:lnSpc>
              <a:buNone/>
            </a:pPr>
            <a:r>
              <a:rPr lang="en-US" sz="1200" dirty="0">
                <a:solidFill>
                  <a:srgbClr val="1B1F27"/>
                </a:solidFill>
                <a:latin typeface="Calibri" pitchFamily="34" charset="0"/>
                <a:ea typeface="Calibri" pitchFamily="34" charset="-122"/>
                <a:cs typeface="Calibri" pitchFamily="34" charset="-120"/>
              </a:rPr>
              <a:t>Measurable values that can take any value within a range, including fractions and decimals.</a:t>
            </a:r>
            <a:endParaRPr lang="en-US" sz="1200" dirty="0"/>
          </a:p>
        </p:txBody>
      </p:sp>
      <p:sp>
        <p:nvSpPr>
          <p:cNvPr id="17" name="Text 14"/>
          <p:cNvSpPr/>
          <p:nvPr/>
        </p:nvSpPr>
        <p:spPr>
          <a:xfrm>
            <a:off x="6355080" y="3794760"/>
            <a:ext cx="4754880" cy="274320"/>
          </a:xfrm>
          <a:prstGeom prst="rect">
            <a:avLst/>
          </a:prstGeom>
          <a:noFill/>
          <a:ln/>
        </p:spPr>
        <p:txBody>
          <a:bodyPr wrap="square"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Examples:</a:t>
            </a:r>
            <a:endParaRPr lang="en-US" sz="1150" dirty="0"/>
          </a:p>
        </p:txBody>
      </p:sp>
      <p:sp>
        <p:nvSpPr>
          <p:cNvPr id="18" name="Text 15"/>
          <p:cNvSpPr/>
          <p:nvPr/>
        </p:nvSpPr>
        <p:spPr>
          <a:xfrm>
            <a:off x="6446520" y="4087368"/>
            <a:ext cx="4572000" cy="347472"/>
          </a:xfrm>
          <a:prstGeom prst="rect">
            <a:avLst/>
          </a:prstGeom>
          <a:noFill/>
          <a:ln/>
        </p:spPr>
        <p:txBody>
          <a:bodyPr wrap="square" rtlCol="0" anchor="ctr"/>
          <a:lstStyle/>
          <a:p>
            <a:pPr indent="0" marL="0">
              <a:buNone/>
            </a:pPr>
            <a:r>
              <a:rPr lang="en-US" sz="1150" dirty="0">
                <a:solidFill>
                  <a:srgbClr val="1B1F27"/>
                </a:solidFill>
                <a:latin typeface="Calibri" pitchFamily="34" charset="0"/>
                <a:ea typeface="Calibri" pitchFamily="34" charset="-122"/>
                <a:cs typeface="Calibri" pitchFamily="34" charset="-120"/>
              </a:rPr>
              <a:t>•  Height or weight of a person</a:t>
            </a:r>
            <a:endParaRPr lang="en-US" sz="1150" dirty="0"/>
          </a:p>
        </p:txBody>
      </p:sp>
      <p:sp>
        <p:nvSpPr>
          <p:cNvPr id="19" name="Text 16"/>
          <p:cNvSpPr/>
          <p:nvPr/>
        </p:nvSpPr>
        <p:spPr>
          <a:xfrm>
            <a:off x="6446520" y="4453128"/>
            <a:ext cx="4572000" cy="347472"/>
          </a:xfrm>
          <a:prstGeom prst="rect">
            <a:avLst/>
          </a:prstGeom>
          <a:noFill/>
          <a:ln/>
        </p:spPr>
        <p:txBody>
          <a:bodyPr wrap="square" rtlCol="0" anchor="ctr"/>
          <a:lstStyle/>
          <a:p>
            <a:pPr indent="0" marL="0">
              <a:buNone/>
            </a:pPr>
            <a:r>
              <a:rPr lang="en-US" sz="1150" dirty="0">
                <a:solidFill>
                  <a:srgbClr val="1B1F27"/>
                </a:solidFill>
                <a:latin typeface="Calibri" pitchFamily="34" charset="0"/>
                <a:ea typeface="Calibri" pitchFamily="34" charset="-122"/>
                <a:cs typeface="Calibri" pitchFamily="34" charset="-120"/>
              </a:rPr>
              <a:t>•  Temperature of a city</a:t>
            </a:r>
            <a:endParaRPr lang="en-US" sz="1150" dirty="0"/>
          </a:p>
        </p:txBody>
      </p:sp>
      <p:sp>
        <p:nvSpPr>
          <p:cNvPr id="20" name="Text 17"/>
          <p:cNvSpPr/>
          <p:nvPr/>
        </p:nvSpPr>
        <p:spPr>
          <a:xfrm>
            <a:off x="6446520" y="4818888"/>
            <a:ext cx="4572000" cy="347472"/>
          </a:xfrm>
          <a:prstGeom prst="rect">
            <a:avLst/>
          </a:prstGeom>
          <a:noFill/>
          <a:ln/>
        </p:spPr>
        <p:txBody>
          <a:bodyPr wrap="square" rtlCol="0" anchor="ctr"/>
          <a:lstStyle/>
          <a:p>
            <a:pPr indent="0" marL="0">
              <a:buNone/>
            </a:pPr>
            <a:r>
              <a:rPr lang="en-US" sz="1150" dirty="0">
                <a:solidFill>
                  <a:srgbClr val="1B1F27"/>
                </a:solidFill>
                <a:latin typeface="Calibri" pitchFamily="34" charset="0"/>
                <a:ea typeface="Calibri" pitchFamily="34" charset="-122"/>
                <a:cs typeface="Calibri" pitchFamily="34" charset="-120"/>
              </a:rPr>
              <a:t>•  Time taken to finish a race</a:t>
            </a:r>
            <a:endParaRPr lang="en-US" sz="1150" dirty="0"/>
          </a:p>
        </p:txBody>
      </p:sp>
      <p:sp>
        <p:nvSpPr>
          <p:cNvPr id="22" name="Text 1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1C7293"/>
          </a:solidFill>
          <a:ln/>
        </p:spPr>
      </p:sp>
      <p:pic>
        <p:nvPicPr>
          <p:cNvPr id="3" name="Image 0" descr="/home/claude/ppt/icons/categorical.png">    </p:cNvPr>
          <p:cNvPicPr>
            <a:picLocks noChangeAspect="1"/>
          </p:cNvPicPr>
          <p:nvPr/>
        </p:nvPicPr>
        <p:blipFill>
          <a:blip r:embed="rId1"/>
          <a:stretch>
            <a:fillRect/>
          </a:stretch>
        </p:blipFill>
        <p:spPr>
          <a:xfrm>
            <a:off x="854050" y="716890"/>
            <a:ext cx="395021" cy="395021"/>
          </a:xfrm>
          <a:prstGeom prst="rect">
            <a:avLst/>
          </a:prstGeom>
        </p:spPr>
      </p:pic>
      <p:sp>
        <p:nvSpPr>
          <p:cNvPr id="4" name="Text 1"/>
          <p:cNvSpPr/>
          <p:nvPr/>
        </p:nvSpPr>
        <p:spPr>
          <a:xfrm>
            <a:off x="1645920" y="502920"/>
            <a:ext cx="9144000" cy="457200"/>
          </a:xfrm>
          <a:prstGeom prst="rect">
            <a:avLst/>
          </a:prstGeom>
          <a:noFill/>
          <a:ln/>
        </p:spPr>
        <p:txBody>
          <a:bodyPr wrap="square" rtlCol="0" anchor="ctr"/>
          <a:lstStyle/>
          <a:p>
            <a:pPr indent="0" marL="0">
              <a:buNone/>
            </a:pPr>
            <a:r>
              <a:rPr lang="en-US" sz="2700" b="1" dirty="0">
                <a:solidFill>
                  <a:srgbClr val="21295C"/>
                </a:solidFill>
                <a:latin typeface="Cambria" pitchFamily="34" charset="0"/>
                <a:ea typeface="Cambria" pitchFamily="34" charset="-122"/>
                <a:cs typeface="Cambria" pitchFamily="34" charset="-120"/>
              </a:rPr>
              <a:t>Categorical (Qualitative) Data</a:t>
            </a:r>
            <a:endParaRPr lang="en-US" sz="2700" dirty="0"/>
          </a:p>
        </p:txBody>
      </p:sp>
      <p:sp>
        <p:nvSpPr>
          <p:cNvPr id="5" name="Shape 2"/>
          <p:cNvSpPr/>
          <p:nvPr/>
        </p:nvSpPr>
        <p:spPr>
          <a:xfrm>
            <a:off x="640080" y="1463040"/>
            <a:ext cx="10881360" cy="0"/>
          </a:xfrm>
          <a:prstGeom prst="line">
            <a:avLst/>
          </a:prstGeom>
          <a:noFill/>
          <a:ln w="12700">
            <a:solidFill>
              <a:srgbClr val="D6E3E9"/>
            </a:solidFill>
            <a:prstDash val="solid"/>
          </a:ln>
        </p:spPr>
      </p:sp>
      <p:sp>
        <p:nvSpPr>
          <p:cNvPr id="6" name="Text 3"/>
          <p:cNvSpPr/>
          <p:nvPr/>
        </p:nvSpPr>
        <p:spPr>
          <a:xfrm>
            <a:off x="640080" y="1645920"/>
            <a:ext cx="10881360" cy="640080"/>
          </a:xfrm>
          <a:prstGeom prst="rect">
            <a:avLst/>
          </a:prstGeom>
          <a:noFill/>
          <a:ln/>
        </p:spPr>
        <p:txBody>
          <a:bodyPr wrap="square" rtlCol="0" anchor="ctr"/>
          <a:lstStyle/>
          <a:p>
            <a:pPr indent="0" marL="0">
              <a:lnSpc>
                <a:spcPts val="1900"/>
              </a:lnSpc>
              <a:buNone/>
            </a:pPr>
            <a:r>
              <a:rPr lang="en-US" sz="1450" dirty="0">
                <a:solidFill>
                  <a:srgbClr val="1B1F27"/>
                </a:solidFill>
                <a:latin typeface="Calibri" pitchFamily="34" charset="0"/>
                <a:ea typeface="Calibri" pitchFamily="34" charset="-122"/>
                <a:cs typeface="Calibri" pitchFamily="34" charset="-120"/>
              </a:rPr>
              <a:t>Data that represents characteristics, labels, or groupings rather than numeric measurements. It describes qualities, not quantities.</a:t>
            </a:r>
            <a:endParaRPr lang="en-US" sz="1450" dirty="0"/>
          </a:p>
        </p:txBody>
      </p:sp>
      <p:sp>
        <p:nvSpPr>
          <p:cNvPr id="7" name="Shape 4"/>
          <p:cNvSpPr/>
          <p:nvPr/>
        </p:nvSpPr>
        <p:spPr>
          <a:xfrm>
            <a:off x="640080" y="2606040"/>
            <a:ext cx="2578608" cy="1325880"/>
          </a:xfrm>
          <a:prstGeom prst="roundRect">
            <a:avLst>
              <a:gd name="adj" fmla="val 5517"/>
            </a:avLst>
          </a:prstGeom>
          <a:solidFill>
            <a:srgbClr val="E8F1F5"/>
          </a:solidFill>
          <a:ln/>
        </p:spPr>
      </p:sp>
      <p:sp>
        <p:nvSpPr>
          <p:cNvPr id="8" name="Text 5"/>
          <p:cNvSpPr/>
          <p:nvPr/>
        </p:nvSpPr>
        <p:spPr>
          <a:xfrm>
            <a:off x="804672" y="2770632"/>
            <a:ext cx="2249424" cy="365760"/>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Gender</a:t>
            </a:r>
            <a:endParaRPr lang="en-US" sz="1350" dirty="0"/>
          </a:p>
        </p:txBody>
      </p:sp>
      <p:sp>
        <p:nvSpPr>
          <p:cNvPr id="9" name="Text 6"/>
          <p:cNvSpPr/>
          <p:nvPr/>
        </p:nvSpPr>
        <p:spPr>
          <a:xfrm>
            <a:off x="804672" y="3172968"/>
            <a:ext cx="2249424" cy="640080"/>
          </a:xfrm>
          <a:prstGeom prst="rect">
            <a:avLst/>
          </a:prstGeom>
          <a:noFill/>
          <a:ln/>
        </p:spPr>
        <p:txBody>
          <a:bodyPr wrap="square" rtlCol="0" anchor="ctr"/>
          <a:lstStyle/>
          <a:p>
            <a:pPr indent="0" marL="0">
              <a:lnSpc>
                <a:spcPts val="1400"/>
              </a:lnSpc>
              <a:buNone/>
            </a:pPr>
            <a:r>
              <a:rPr lang="en-US" sz="1100" dirty="0">
                <a:solidFill>
                  <a:srgbClr val="1B1F27"/>
                </a:solidFill>
                <a:latin typeface="Calibri" pitchFamily="34" charset="0"/>
                <a:ea typeface="Calibri" pitchFamily="34" charset="-122"/>
                <a:cs typeface="Calibri" pitchFamily="34" charset="-120"/>
              </a:rPr>
              <a:t>Male, Female, Other</a:t>
            </a:r>
            <a:endParaRPr lang="en-US" sz="1100" dirty="0"/>
          </a:p>
        </p:txBody>
      </p:sp>
      <p:sp>
        <p:nvSpPr>
          <p:cNvPr id="10" name="Shape 7"/>
          <p:cNvSpPr/>
          <p:nvPr/>
        </p:nvSpPr>
        <p:spPr>
          <a:xfrm>
            <a:off x="3383280" y="2606040"/>
            <a:ext cx="2578608" cy="1325880"/>
          </a:xfrm>
          <a:prstGeom prst="roundRect">
            <a:avLst>
              <a:gd name="adj" fmla="val 5517"/>
            </a:avLst>
          </a:prstGeom>
          <a:solidFill>
            <a:srgbClr val="E8F1F5"/>
          </a:solidFill>
          <a:ln/>
        </p:spPr>
      </p:sp>
      <p:sp>
        <p:nvSpPr>
          <p:cNvPr id="11" name="Text 8"/>
          <p:cNvSpPr/>
          <p:nvPr/>
        </p:nvSpPr>
        <p:spPr>
          <a:xfrm>
            <a:off x="3547872" y="2770632"/>
            <a:ext cx="2249424" cy="365760"/>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Blood Group</a:t>
            </a:r>
            <a:endParaRPr lang="en-US" sz="1350" dirty="0"/>
          </a:p>
        </p:txBody>
      </p:sp>
      <p:sp>
        <p:nvSpPr>
          <p:cNvPr id="12" name="Text 9"/>
          <p:cNvSpPr/>
          <p:nvPr/>
        </p:nvSpPr>
        <p:spPr>
          <a:xfrm>
            <a:off x="3547872" y="3172968"/>
            <a:ext cx="2249424" cy="640080"/>
          </a:xfrm>
          <a:prstGeom prst="rect">
            <a:avLst/>
          </a:prstGeom>
          <a:noFill/>
          <a:ln/>
        </p:spPr>
        <p:txBody>
          <a:bodyPr wrap="square" rtlCol="0" anchor="ctr"/>
          <a:lstStyle/>
          <a:p>
            <a:pPr indent="0" marL="0">
              <a:lnSpc>
                <a:spcPts val="1400"/>
              </a:lnSpc>
              <a:buNone/>
            </a:pPr>
            <a:r>
              <a:rPr lang="en-US" sz="1100" dirty="0">
                <a:solidFill>
                  <a:srgbClr val="1B1F27"/>
                </a:solidFill>
                <a:latin typeface="Calibri" pitchFamily="34" charset="0"/>
                <a:ea typeface="Calibri" pitchFamily="34" charset="-122"/>
                <a:cs typeface="Calibri" pitchFamily="34" charset="-120"/>
              </a:rPr>
              <a:t>A, B, AB, O</a:t>
            </a:r>
            <a:endParaRPr lang="en-US" sz="1100" dirty="0"/>
          </a:p>
        </p:txBody>
      </p:sp>
      <p:sp>
        <p:nvSpPr>
          <p:cNvPr id="13" name="Shape 10"/>
          <p:cNvSpPr/>
          <p:nvPr/>
        </p:nvSpPr>
        <p:spPr>
          <a:xfrm>
            <a:off x="6126480" y="2606040"/>
            <a:ext cx="2578608" cy="1325880"/>
          </a:xfrm>
          <a:prstGeom prst="roundRect">
            <a:avLst>
              <a:gd name="adj" fmla="val 5517"/>
            </a:avLst>
          </a:prstGeom>
          <a:solidFill>
            <a:srgbClr val="E8F1F5"/>
          </a:solidFill>
          <a:ln/>
        </p:spPr>
      </p:sp>
      <p:sp>
        <p:nvSpPr>
          <p:cNvPr id="14" name="Text 11"/>
          <p:cNvSpPr/>
          <p:nvPr/>
        </p:nvSpPr>
        <p:spPr>
          <a:xfrm>
            <a:off x="6291072" y="2770632"/>
            <a:ext cx="2249424" cy="365760"/>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Marital Status</a:t>
            </a:r>
            <a:endParaRPr lang="en-US" sz="1350" dirty="0"/>
          </a:p>
        </p:txBody>
      </p:sp>
      <p:sp>
        <p:nvSpPr>
          <p:cNvPr id="15" name="Text 12"/>
          <p:cNvSpPr/>
          <p:nvPr/>
        </p:nvSpPr>
        <p:spPr>
          <a:xfrm>
            <a:off x="6291072" y="3172968"/>
            <a:ext cx="2249424" cy="640080"/>
          </a:xfrm>
          <a:prstGeom prst="rect">
            <a:avLst/>
          </a:prstGeom>
          <a:noFill/>
          <a:ln/>
        </p:spPr>
        <p:txBody>
          <a:bodyPr wrap="square" rtlCol="0" anchor="ctr"/>
          <a:lstStyle/>
          <a:p>
            <a:pPr indent="0" marL="0">
              <a:lnSpc>
                <a:spcPts val="1400"/>
              </a:lnSpc>
              <a:buNone/>
            </a:pPr>
            <a:r>
              <a:rPr lang="en-US" sz="1100" dirty="0">
                <a:solidFill>
                  <a:srgbClr val="1B1F27"/>
                </a:solidFill>
                <a:latin typeface="Calibri" pitchFamily="34" charset="0"/>
                <a:ea typeface="Calibri" pitchFamily="34" charset="-122"/>
                <a:cs typeface="Calibri" pitchFamily="34" charset="-120"/>
              </a:rPr>
              <a:t>Single, Married, Divorced</a:t>
            </a:r>
            <a:endParaRPr lang="en-US" sz="1100" dirty="0"/>
          </a:p>
        </p:txBody>
      </p:sp>
      <p:sp>
        <p:nvSpPr>
          <p:cNvPr id="16" name="Shape 13"/>
          <p:cNvSpPr/>
          <p:nvPr/>
        </p:nvSpPr>
        <p:spPr>
          <a:xfrm>
            <a:off x="8869680" y="2606040"/>
            <a:ext cx="2578608" cy="1325880"/>
          </a:xfrm>
          <a:prstGeom prst="roundRect">
            <a:avLst>
              <a:gd name="adj" fmla="val 5517"/>
            </a:avLst>
          </a:prstGeom>
          <a:solidFill>
            <a:srgbClr val="E8F1F5"/>
          </a:solidFill>
          <a:ln/>
        </p:spPr>
      </p:sp>
      <p:sp>
        <p:nvSpPr>
          <p:cNvPr id="17" name="Text 14"/>
          <p:cNvSpPr/>
          <p:nvPr/>
        </p:nvSpPr>
        <p:spPr>
          <a:xfrm>
            <a:off x="9034272" y="2770632"/>
            <a:ext cx="2249424" cy="365760"/>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Product Color</a:t>
            </a:r>
            <a:endParaRPr lang="en-US" sz="1350" dirty="0"/>
          </a:p>
        </p:txBody>
      </p:sp>
      <p:sp>
        <p:nvSpPr>
          <p:cNvPr id="18" name="Text 15"/>
          <p:cNvSpPr/>
          <p:nvPr/>
        </p:nvSpPr>
        <p:spPr>
          <a:xfrm>
            <a:off x="9034272" y="3172968"/>
            <a:ext cx="2249424" cy="640080"/>
          </a:xfrm>
          <a:prstGeom prst="rect">
            <a:avLst/>
          </a:prstGeom>
          <a:noFill/>
          <a:ln/>
        </p:spPr>
        <p:txBody>
          <a:bodyPr wrap="square" rtlCol="0" anchor="ctr"/>
          <a:lstStyle/>
          <a:p>
            <a:pPr indent="0" marL="0">
              <a:lnSpc>
                <a:spcPts val="1400"/>
              </a:lnSpc>
              <a:buNone/>
            </a:pPr>
            <a:r>
              <a:rPr lang="en-US" sz="1100" dirty="0">
                <a:solidFill>
                  <a:srgbClr val="1B1F27"/>
                </a:solidFill>
                <a:latin typeface="Calibri" pitchFamily="34" charset="0"/>
                <a:ea typeface="Calibri" pitchFamily="34" charset="-122"/>
                <a:cs typeface="Calibri" pitchFamily="34" charset="-120"/>
              </a:rPr>
              <a:t>Red, Blue, Green</a:t>
            </a:r>
            <a:endParaRPr lang="en-US" sz="1100" dirty="0"/>
          </a:p>
        </p:txBody>
      </p:sp>
      <p:sp>
        <p:nvSpPr>
          <p:cNvPr id="19" name="Shape 16"/>
          <p:cNvSpPr/>
          <p:nvPr/>
        </p:nvSpPr>
        <p:spPr>
          <a:xfrm>
            <a:off x="640080" y="4206240"/>
            <a:ext cx="10908792" cy="1371600"/>
          </a:xfrm>
          <a:prstGeom prst="roundRect">
            <a:avLst>
              <a:gd name="adj" fmla="val 5333"/>
            </a:avLst>
          </a:prstGeom>
          <a:solidFill>
            <a:srgbClr val="21295C"/>
          </a:solidFill>
          <a:ln/>
        </p:spPr>
      </p:sp>
      <p:sp>
        <p:nvSpPr>
          <p:cNvPr id="20" name="Text 17"/>
          <p:cNvSpPr/>
          <p:nvPr/>
        </p:nvSpPr>
        <p:spPr>
          <a:xfrm>
            <a:off x="914400" y="4389120"/>
            <a:ext cx="10332720" cy="1005840"/>
          </a:xfrm>
          <a:prstGeom prst="rect">
            <a:avLst/>
          </a:prstGeom>
          <a:noFill/>
          <a:ln/>
        </p:spPr>
        <p:txBody>
          <a:bodyPr wrap="square" rtlCol="0" anchor="ctr"/>
          <a:lstStyle/>
          <a:p>
            <a:pPr indent="0" marL="0">
              <a:lnSpc>
                <a:spcPts val="1800"/>
              </a:lnSpc>
              <a:buNone/>
            </a:pPr>
            <a:r>
              <a:rPr lang="en-US" sz="1300" b="1" dirty="0">
                <a:solidFill>
                  <a:srgbClr val="9FC4DA"/>
                </a:solidFill>
                <a:latin typeface="Calibri" pitchFamily="34" charset="0"/>
                <a:ea typeface="Calibri" pitchFamily="34" charset="-122"/>
                <a:cs typeface="Calibri" pitchFamily="34" charset="-120"/>
              </a:rPr>
              <a:t>Key distinction from numerical data:  </a:t>
            </a:r>
            <a:pPr indent="0" marL="0">
              <a:lnSpc>
                <a:spcPts val="1800"/>
              </a:lnSpc>
              <a:buNone/>
            </a:pPr>
            <a:r>
              <a:rPr lang="en-US" sz="1300" dirty="0">
                <a:solidFill>
                  <a:srgbClr val="FFFFFF"/>
                </a:solidFill>
                <a:latin typeface="Calibri" pitchFamily="34" charset="0"/>
                <a:ea typeface="Calibri" pitchFamily="34" charset="-122"/>
                <a:cs typeface="Calibri" pitchFamily="34" charset="-120"/>
              </a:rPr>
              <a:t>you cannot meaningfully average categorical values. "Average blood group" makes no sense — but you CAN count frequencies (e.g., 40% of patients are type O).</a:t>
            </a:r>
            <a:endParaRPr lang="en-US" sz="1300" dirty="0"/>
          </a:p>
        </p:txBody>
      </p:sp>
      <p:sp>
        <p:nvSpPr>
          <p:cNvPr id="22" name="Text 1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Nominal vs. Ordinal Data</a:t>
            </a:r>
            <a:endParaRPr lang="en-US" sz="3000" dirty="0"/>
          </a:p>
        </p:txBody>
      </p:sp>
      <p:sp>
        <p:nvSpPr>
          <p:cNvPr id="3" name="Text 1"/>
          <p:cNvSpPr/>
          <p:nvPr/>
        </p:nvSpPr>
        <p:spPr>
          <a:xfrm>
            <a:off x="640080" y="1051560"/>
            <a:ext cx="9144000" cy="365760"/>
          </a:xfrm>
          <a:prstGeom prst="rect">
            <a:avLst/>
          </a:prstGeom>
          <a:noFill/>
          <a:ln/>
        </p:spPr>
        <p:txBody>
          <a:bodyPr wrap="square" rtlCol="0" anchor="ctr"/>
          <a:lstStyle/>
          <a:p>
            <a:pPr indent="0" marL="0">
              <a:buNone/>
            </a:pPr>
            <a:r>
              <a:rPr lang="en-US" sz="1300" dirty="0">
                <a:solidFill>
                  <a:srgbClr val="5B6672"/>
                </a:solidFill>
                <a:latin typeface="Calibri" pitchFamily="34" charset="0"/>
                <a:ea typeface="Calibri" pitchFamily="34" charset="-122"/>
                <a:cs typeface="Calibri" pitchFamily="34" charset="-120"/>
              </a:rPr>
              <a:t>Two subtypes of categorical data</a:t>
            </a:r>
            <a:endParaRPr lang="en-US" sz="1300" dirty="0"/>
          </a:p>
        </p:txBody>
      </p:sp>
      <p:sp>
        <p:nvSpPr>
          <p:cNvPr id="4" name="Shape 2"/>
          <p:cNvSpPr/>
          <p:nvPr/>
        </p:nvSpPr>
        <p:spPr>
          <a:xfrm>
            <a:off x="640080" y="1691640"/>
            <a:ext cx="5212080" cy="3931920"/>
          </a:xfrm>
          <a:prstGeom prst="roundRect">
            <a:avLst>
              <a:gd name="adj" fmla="val 2326"/>
            </a:avLst>
          </a:prstGeom>
          <a:solidFill>
            <a:srgbClr val="065A82"/>
          </a:solidFill>
          <a:ln/>
        </p:spPr>
      </p:sp>
      <p:sp>
        <p:nvSpPr>
          <p:cNvPr id="5" name="Shape 3"/>
          <p:cNvSpPr/>
          <p:nvPr/>
        </p:nvSpPr>
        <p:spPr>
          <a:xfrm>
            <a:off x="868680" y="1920240"/>
            <a:ext cx="640080" cy="640080"/>
          </a:xfrm>
          <a:prstGeom prst="ellipse">
            <a:avLst/>
          </a:prstGeom>
          <a:solidFill>
            <a:srgbClr val="1C7293"/>
          </a:solidFill>
          <a:ln/>
        </p:spPr>
      </p:sp>
      <p:pic>
        <p:nvPicPr>
          <p:cNvPr id="6" name="Image 0" descr="/home/claude/ppt/icons/nominal.png">    </p:cNvPr>
          <p:cNvPicPr>
            <a:picLocks noChangeAspect="1"/>
          </p:cNvPicPr>
          <p:nvPr/>
        </p:nvPicPr>
        <p:blipFill>
          <a:blip r:embed="rId1"/>
          <a:stretch>
            <a:fillRect/>
          </a:stretch>
        </p:blipFill>
        <p:spPr>
          <a:xfrm>
            <a:off x="1035101" y="2086661"/>
            <a:ext cx="307238" cy="307238"/>
          </a:xfrm>
          <a:prstGeom prst="rect">
            <a:avLst/>
          </a:prstGeom>
        </p:spPr>
      </p:pic>
      <p:sp>
        <p:nvSpPr>
          <p:cNvPr id="7" name="Text 4"/>
          <p:cNvSpPr/>
          <p:nvPr/>
        </p:nvSpPr>
        <p:spPr>
          <a:xfrm>
            <a:off x="1645920" y="1965960"/>
            <a:ext cx="4023360" cy="5486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Nominal Data</a:t>
            </a:r>
            <a:endParaRPr lang="en-US" sz="1800" dirty="0"/>
          </a:p>
        </p:txBody>
      </p:sp>
      <p:sp>
        <p:nvSpPr>
          <p:cNvPr id="8" name="Text 5"/>
          <p:cNvSpPr/>
          <p:nvPr/>
        </p:nvSpPr>
        <p:spPr>
          <a:xfrm>
            <a:off x="868680" y="2743200"/>
            <a:ext cx="4754880" cy="822960"/>
          </a:xfrm>
          <a:prstGeom prst="rect">
            <a:avLst/>
          </a:prstGeom>
          <a:noFill/>
          <a:ln/>
        </p:spPr>
        <p:txBody>
          <a:bodyPr wrap="square" rtlCol="0" anchor="ctr"/>
          <a:lstStyle/>
          <a:p>
            <a:pPr indent="0" marL="0">
              <a:lnSpc>
                <a:spcPts val="1600"/>
              </a:lnSpc>
              <a:buNone/>
            </a:pPr>
            <a:r>
              <a:rPr lang="en-US" sz="1250" dirty="0">
                <a:solidFill>
                  <a:srgbClr val="E4F0F5"/>
                </a:solidFill>
                <a:latin typeface="Calibri" pitchFamily="34" charset="0"/>
                <a:ea typeface="Calibri" pitchFamily="34" charset="-122"/>
                <a:cs typeface="Calibri" pitchFamily="34" charset="-120"/>
              </a:rPr>
              <a:t>Categories with NO natural order or ranking. Labels are simply different from one another.</a:t>
            </a:r>
            <a:endParaRPr lang="en-US" sz="1250" dirty="0"/>
          </a:p>
        </p:txBody>
      </p:sp>
      <p:sp>
        <p:nvSpPr>
          <p:cNvPr id="9" name="Text 6"/>
          <p:cNvSpPr/>
          <p:nvPr/>
        </p:nvSpPr>
        <p:spPr>
          <a:xfrm>
            <a:off x="868680" y="3566160"/>
            <a:ext cx="4754880" cy="274320"/>
          </a:xfrm>
          <a:prstGeom prst="rect">
            <a:avLst/>
          </a:prstGeom>
          <a:noFill/>
          <a:ln/>
        </p:spPr>
        <p:txBody>
          <a:bodyPr wrap="square" rtlCol="0" anchor="ctr"/>
          <a:lstStyle/>
          <a:p>
            <a:pPr indent="0" marL="0">
              <a:buNone/>
            </a:pPr>
            <a:r>
              <a:rPr lang="en-US" sz="1200" b="1" dirty="0">
                <a:solidFill>
                  <a:srgbClr val="9FC4DA"/>
                </a:solidFill>
                <a:latin typeface="Calibri" pitchFamily="34" charset="0"/>
                <a:ea typeface="Calibri" pitchFamily="34" charset="-122"/>
                <a:cs typeface="Calibri" pitchFamily="34" charset="-120"/>
              </a:rPr>
              <a:t>Examples:</a:t>
            </a:r>
            <a:endParaRPr lang="en-US" sz="1200" dirty="0"/>
          </a:p>
        </p:txBody>
      </p:sp>
      <p:sp>
        <p:nvSpPr>
          <p:cNvPr id="10" name="Text 7"/>
          <p:cNvSpPr/>
          <p:nvPr/>
        </p:nvSpPr>
        <p:spPr>
          <a:xfrm>
            <a:off x="960120" y="3886200"/>
            <a:ext cx="457200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Colors: Red, Blue, Green</a:t>
            </a:r>
            <a:endParaRPr lang="en-US" sz="1200" dirty="0"/>
          </a:p>
        </p:txBody>
      </p:sp>
      <p:sp>
        <p:nvSpPr>
          <p:cNvPr id="11" name="Text 8"/>
          <p:cNvSpPr/>
          <p:nvPr/>
        </p:nvSpPr>
        <p:spPr>
          <a:xfrm>
            <a:off x="960120" y="4270248"/>
            <a:ext cx="457200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Nationality: Indian, French, Kenyan</a:t>
            </a:r>
            <a:endParaRPr lang="en-US" sz="1200" dirty="0"/>
          </a:p>
        </p:txBody>
      </p:sp>
      <p:sp>
        <p:nvSpPr>
          <p:cNvPr id="12" name="Text 9"/>
          <p:cNvSpPr/>
          <p:nvPr/>
        </p:nvSpPr>
        <p:spPr>
          <a:xfrm>
            <a:off x="960120" y="4654296"/>
            <a:ext cx="457200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Payment Type: Cash, Card, UPI</a:t>
            </a:r>
            <a:endParaRPr lang="en-US" sz="1200" dirty="0"/>
          </a:p>
        </p:txBody>
      </p:sp>
      <p:sp>
        <p:nvSpPr>
          <p:cNvPr id="13" name="Text 10"/>
          <p:cNvSpPr/>
          <p:nvPr/>
        </p:nvSpPr>
        <p:spPr>
          <a:xfrm>
            <a:off x="868680" y="5120640"/>
            <a:ext cx="4754880" cy="411480"/>
          </a:xfrm>
          <a:prstGeom prst="rect">
            <a:avLst/>
          </a:prstGeom>
          <a:noFill/>
          <a:ln/>
        </p:spPr>
        <p:txBody>
          <a:bodyPr wrap="square" rtlCol="0" anchor="ctr"/>
          <a:lstStyle/>
          <a:p>
            <a:pPr indent="0" marL="0">
              <a:buNone/>
            </a:pPr>
            <a:r>
              <a:rPr lang="en-US" sz="1100" i="1" dirty="0">
                <a:solidFill>
                  <a:srgbClr val="9FC4DA"/>
                </a:solidFill>
                <a:latin typeface="Calibri" pitchFamily="34" charset="0"/>
                <a:ea typeface="Calibri" pitchFamily="34" charset="-122"/>
                <a:cs typeface="Calibri" pitchFamily="34" charset="-120"/>
              </a:rPr>
              <a:t>Cannot be ordered as "greater" or "lesser"</a:t>
            </a:r>
            <a:endParaRPr lang="en-US" sz="1100" dirty="0"/>
          </a:p>
        </p:txBody>
      </p:sp>
      <p:sp>
        <p:nvSpPr>
          <p:cNvPr id="14" name="Shape 11"/>
          <p:cNvSpPr/>
          <p:nvPr/>
        </p:nvSpPr>
        <p:spPr>
          <a:xfrm>
            <a:off x="6126480" y="1691640"/>
            <a:ext cx="5212080" cy="3931920"/>
          </a:xfrm>
          <a:prstGeom prst="roundRect">
            <a:avLst>
              <a:gd name="adj" fmla="val 2326"/>
            </a:avLst>
          </a:prstGeom>
          <a:solidFill>
            <a:srgbClr val="1C7293"/>
          </a:solidFill>
          <a:ln/>
        </p:spPr>
      </p:sp>
      <p:sp>
        <p:nvSpPr>
          <p:cNvPr id="15" name="Shape 12"/>
          <p:cNvSpPr/>
          <p:nvPr/>
        </p:nvSpPr>
        <p:spPr>
          <a:xfrm>
            <a:off x="6355080" y="1920240"/>
            <a:ext cx="640080" cy="640080"/>
          </a:xfrm>
          <a:prstGeom prst="ellipse">
            <a:avLst/>
          </a:prstGeom>
          <a:solidFill>
            <a:srgbClr val="065A82"/>
          </a:solidFill>
          <a:ln/>
        </p:spPr>
      </p:sp>
      <p:pic>
        <p:nvPicPr>
          <p:cNvPr id="16" name="Image 1" descr="/home/claude/ppt/icons/ordinal.png">    </p:cNvPr>
          <p:cNvPicPr>
            <a:picLocks noChangeAspect="1"/>
          </p:cNvPicPr>
          <p:nvPr/>
        </p:nvPicPr>
        <p:blipFill>
          <a:blip r:embed="rId2"/>
          <a:stretch>
            <a:fillRect/>
          </a:stretch>
        </p:blipFill>
        <p:spPr>
          <a:xfrm>
            <a:off x="6521501" y="2086661"/>
            <a:ext cx="307238" cy="307238"/>
          </a:xfrm>
          <a:prstGeom prst="rect">
            <a:avLst/>
          </a:prstGeom>
        </p:spPr>
      </p:pic>
      <p:sp>
        <p:nvSpPr>
          <p:cNvPr id="17" name="Text 13"/>
          <p:cNvSpPr/>
          <p:nvPr/>
        </p:nvSpPr>
        <p:spPr>
          <a:xfrm>
            <a:off x="7132320" y="1965960"/>
            <a:ext cx="4023360" cy="5486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Ordinal Data</a:t>
            </a:r>
            <a:endParaRPr lang="en-US" sz="1800" dirty="0"/>
          </a:p>
        </p:txBody>
      </p:sp>
      <p:sp>
        <p:nvSpPr>
          <p:cNvPr id="18" name="Text 14"/>
          <p:cNvSpPr/>
          <p:nvPr/>
        </p:nvSpPr>
        <p:spPr>
          <a:xfrm>
            <a:off x="6355080" y="2743200"/>
            <a:ext cx="4754880" cy="822960"/>
          </a:xfrm>
          <a:prstGeom prst="rect">
            <a:avLst/>
          </a:prstGeom>
          <a:noFill/>
          <a:ln/>
        </p:spPr>
        <p:txBody>
          <a:bodyPr wrap="square" rtlCol="0" anchor="ctr"/>
          <a:lstStyle/>
          <a:p>
            <a:pPr indent="0" marL="0">
              <a:lnSpc>
                <a:spcPts val="1600"/>
              </a:lnSpc>
              <a:buNone/>
            </a:pPr>
            <a:r>
              <a:rPr lang="en-US" sz="1250" dirty="0">
                <a:solidFill>
                  <a:srgbClr val="E4F0F5"/>
                </a:solidFill>
                <a:latin typeface="Calibri" pitchFamily="34" charset="0"/>
                <a:ea typeface="Calibri" pitchFamily="34" charset="-122"/>
                <a:cs typeface="Calibri" pitchFamily="34" charset="-120"/>
              </a:rPr>
              <a:t>Categories WITH a meaningful order or ranking, but the gaps between them aren't precisely measurable.</a:t>
            </a:r>
            <a:endParaRPr lang="en-US" sz="1250" dirty="0"/>
          </a:p>
        </p:txBody>
      </p:sp>
      <p:sp>
        <p:nvSpPr>
          <p:cNvPr id="19" name="Text 15"/>
          <p:cNvSpPr/>
          <p:nvPr/>
        </p:nvSpPr>
        <p:spPr>
          <a:xfrm>
            <a:off x="6355080" y="3566160"/>
            <a:ext cx="4754880" cy="274320"/>
          </a:xfrm>
          <a:prstGeom prst="rect">
            <a:avLst/>
          </a:prstGeom>
          <a:noFill/>
          <a:ln/>
        </p:spPr>
        <p:txBody>
          <a:bodyPr wrap="square" rtlCol="0" anchor="ctr"/>
          <a:lstStyle/>
          <a:p>
            <a:pPr indent="0" marL="0">
              <a:buNone/>
            </a:pPr>
            <a:r>
              <a:rPr lang="en-US" sz="1200" b="1" dirty="0">
                <a:solidFill>
                  <a:srgbClr val="BBDDEA"/>
                </a:solidFill>
                <a:latin typeface="Calibri" pitchFamily="34" charset="0"/>
                <a:ea typeface="Calibri" pitchFamily="34" charset="-122"/>
                <a:cs typeface="Calibri" pitchFamily="34" charset="-120"/>
              </a:rPr>
              <a:t>Examples:</a:t>
            </a:r>
            <a:endParaRPr lang="en-US" sz="1200" dirty="0"/>
          </a:p>
        </p:txBody>
      </p:sp>
      <p:sp>
        <p:nvSpPr>
          <p:cNvPr id="20" name="Text 16"/>
          <p:cNvSpPr/>
          <p:nvPr/>
        </p:nvSpPr>
        <p:spPr>
          <a:xfrm>
            <a:off x="6446520" y="3886200"/>
            <a:ext cx="457200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Education: High School &lt; Bachelor's &lt; Master's</a:t>
            </a:r>
            <a:endParaRPr lang="en-US" sz="1200" dirty="0"/>
          </a:p>
        </p:txBody>
      </p:sp>
      <p:sp>
        <p:nvSpPr>
          <p:cNvPr id="21" name="Text 17"/>
          <p:cNvSpPr/>
          <p:nvPr/>
        </p:nvSpPr>
        <p:spPr>
          <a:xfrm>
            <a:off x="6446520" y="4270248"/>
            <a:ext cx="457200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Satisfaction: Low, Medium, High</a:t>
            </a:r>
            <a:endParaRPr lang="en-US" sz="1200" dirty="0"/>
          </a:p>
        </p:txBody>
      </p:sp>
      <p:sp>
        <p:nvSpPr>
          <p:cNvPr id="22" name="Text 18"/>
          <p:cNvSpPr/>
          <p:nvPr/>
        </p:nvSpPr>
        <p:spPr>
          <a:xfrm>
            <a:off x="6446520" y="4654296"/>
            <a:ext cx="457200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Rating: 1 star to 5 stars</a:t>
            </a:r>
            <a:endParaRPr lang="en-US" sz="1200" dirty="0"/>
          </a:p>
        </p:txBody>
      </p:sp>
      <p:sp>
        <p:nvSpPr>
          <p:cNvPr id="23" name="Text 19"/>
          <p:cNvSpPr/>
          <p:nvPr/>
        </p:nvSpPr>
        <p:spPr>
          <a:xfrm>
            <a:off x="6355080" y="5120640"/>
            <a:ext cx="4754880" cy="411480"/>
          </a:xfrm>
          <a:prstGeom prst="rect">
            <a:avLst/>
          </a:prstGeom>
          <a:noFill/>
          <a:ln/>
        </p:spPr>
        <p:txBody>
          <a:bodyPr wrap="square" rtlCol="0" anchor="ctr"/>
          <a:lstStyle/>
          <a:p>
            <a:pPr indent="0" marL="0">
              <a:buNone/>
            </a:pPr>
            <a:r>
              <a:rPr lang="en-US" sz="1100" i="1" dirty="0">
                <a:solidFill>
                  <a:srgbClr val="BBDDEA"/>
                </a:solidFill>
                <a:latin typeface="Calibri" pitchFamily="34" charset="0"/>
                <a:ea typeface="Calibri" pitchFamily="34" charset="-122"/>
                <a:cs typeface="Calibri" pitchFamily="34" charset="-120"/>
              </a:rPr>
              <a:t>Order matters, but distances between ranks are uneven</a:t>
            </a:r>
            <a:endParaRPr lang="en-US" sz="1100" dirty="0"/>
          </a:p>
        </p:txBody>
      </p:sp>
      <p:sp>
        <p:nvSpPr>
          <p:cNvPr id="25" name="Text 2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065A82"/>
          </a:solidFill>
          <a:ln/>
        </p:spPr>
      </p:sp>
      <p:pic>
        <p:nvPicPr>
          <p:cNvPr id="3" name="Image 0" descr="/home/claude/ppt/icons/structured.png">    </p:cNvPr>
          <p:cNvPicPr>
            <a:picLocks noChangeAspect="1"/>
          </p:cNvPicPr>
          <p:nvPr/>
        </p:nvPicPr>
        <p:blipFill>
          <a:blip r:embed="rId1"/>
          <a:stretch>
            <a:fillRect/>
          </a:stretch>
        </p:blipFill>
        <p:spPr>
          <a:xfrm>
            <a:off x="854050" y="716890"/>
            <a:ext cx="395021" cy="395021"/>
          </a:xfrm>
          <a:prstGeom prst="rect">
            <a:avLst/>
          </a:prstGeom>
        </p:spPr>
      </p:pic>
      <p:sp>
        <p:nvSpPr>
          <p:cNvPr id="4" name="Text 1"/>
          <p:cNvSpPr/>
          <p:nvPr/>
        </p:nvSpPr>
        <p:spPr>
          <a:xfrm>
            <a:off x="1645920" y="502920"/>
            <a:ext cx="7315200" cy="45720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Structured Data</a:t>
            </a:r>
            <a:endParaRPr lang="en-US" sz="2800" dirty="0"/>
          </a:p>
        </p:txBody>
      </p:sp>
      <p:sp>
        <p:nvSpPr>
          <p:cNvPr id="5" name="Shape 2"/>
          <p:cNvSpPr/>
          <p:nvPr/>
        </p:nvSpPr>
        <p:spPr>
          <a:xfrm>
            <a:off x="640080" y="1463040"/>
            <a:ext cx="10881360" cy="0"/>
          </a:xfrm>
          <a:prstGeom prst="line">
            <a:avLst/>
          </a:prstGeom>
          <a:noFill/>
          <a:ln w="12700">
            <a:solidFill>
              <a:srgbClr val="D6E3E9"/>
            </a:solidFill>
            <a:prstDash val="solid"/>
          </a:ln>
        </p:spPr>
      </p:sp>
      <p:sp>
        <p:nvSpPr>
          <p:cNvPr id="6" name="Text 3"/>
          <p:cNvSpPr/>
          <p:nvPr/>
        </p:nvSpPr>
        <p:spPr>
          <a:xfrm>
            <a:off x="640080" y="1645920"/>
            <a:ext cx="5394960" cy="1188720"/>
          </a:xfrm>
          <a:prstGeom prst="rect">
            <a:avLst/>
          </a:prstGeom>
          <a:noFill/>
          <a:ln/>
        </p:spPr>
        <p:txBody>
          <a:bodyPr wrap="square" rtlCol="0" anchor="ctr"/>
          <a:lstStyle/>
          <a:p>
            <a:pPr indent="0" marL="0">
              <a:lnSpc>
                <a:spcPts val="1800"/>
              </a:lnSpc>
              <a:buNone/>
            </a:pPr>
            <a:r>
              <a:rPr lang="en-US" sz="1350" dirty="0">
                <a:solidFill>
                  <a:srgbClr val="1B1F27"/>
                </a:solidFill>
                <a:latin typeface="Calibri" pitchFamily="34" charset="0"/>
                <a:ea typeface="Calibri" pitchFamily="34" charset="-122"/>
                <a:cs typeface="Calibri" pitchFamily="34" charset="-120"/>
              </a:rPr>
              <a:t>Data that is highly organized and formatted into a well-defined model — typically a table of rows and columns — making it easy to search, sort, and analyze.</a:t>
            </a:r>
            <a:endParaRPr lang="en-US" sz="1350" dirty="0"/>
          </a:p>
        </p:txBody>
      </p:sp>
      <p:sp>
        <p:nvSpPr>
          <p:cNvPr id="7" name="Text 4"/>
          <p:cNvSpPr/>
          <p:nvPr/>
        </p:nvSpPr>
        <p:spPr>
          <a:xfrm>
            <a:off x="640080" y="2880360"/>
            <a:ext cx="4572000" cy="320040"/>
          </a:xfrm>
          <a:prstGeom prst="rect">
            <a:avLst/>
          </a:prstGeom>
          <a:noFill/>
          <a:ln/>
        </p:spPr>
        <p:txBody>
          <a:bodyPr wrap="square"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Characteristics</a:t>
            </a:r>
            <a:endParaRPr lang="en-US" sz="1350" dirty="0"/>
          </a:p>
        </p:txBody>
      </p:sp>
      <p:sp>
        <p:nvSpPr>
          <p:cNvPr id="8" name="Shape 5"/>
          <p:cNvSpPr/>
          <p:nvPr/>
        </p:nvSpPr>
        <p:spPr>
          <a:xfrm>
            <a:off x="640080" y="3300984"/>
            <a:ext cx="118872" cy="118872"/>
          </a:xfrm>
          <a:prstGeom prst="ellipse">
            <a:avLst/>
          </a:prstGeom>
          <a:solidFill>
            <a:srgbClr val="065A82"/>
          </a:solidFill>
          <a:ln/>
        </p:spPr>
      </p:sp>
      <p:sp>
        <p:nvSpPr>
          <p:cNvPr id="9" name="Text 6"/>
          <p:cNvSpPr/>
          <p:nvPr/>
        </p:nvSpPr>
        <p:spPr>
          <a:xfrm>
            <a:off x="914400" y="3191256"/>
            <a:ext cx="5029200" cy="420624"/>
          </a:xfrm>
          <a:prstGeom prst="rect">
            <a:avLst/>
          </a:prstGeom>
          <a:noFill/>
          <a:ln/>
        </p:spPr>
        <p:txBody>
          <a:bodyPr wrap="square" rtlCol="0" anchor="ctr"/>
          <a:lstStyle/>
          <a:p>
            <a:pPr indent="0" marL="0">
              <a:lnSpc>
                <a:spcPts val="1400"/>
              </a:lnSpc>
              <a:buNone/>
            </a:pPr>
            <a:r>
              <a:rPr lang="en-US" sz="1150" dirty="0">
                <a:solidFill>
                  <a:srgbClr val="1B1F27"/>
                </a:solidFill>
                <a:latin typeface="Calibri" pitchFamily="34" charset="0"/>
                <a:ea typeface="Calibri" pitchFamily="34" charset="-122"/>
                <a:cs typeface="Calibri" pitchFamily="34" charset="-120"/>
              </a:rPr>
              <a:t>Follows a fixed schema (predefined columns &amp; data types)</a:t>
            </a:r>
            <a:endParaRPr lang="en-US" sz="1150" dirty="0"/>
          </a:p>
        </p:txBody>
      </p:sp>
      <p:sp>
        <p:nvSpPr>
          <p:cNvPr id="10" name="Shape 7"/>
          <p:cNvSpPr/>
          <p:nvPr/>
        </p:nvSpPr>
        <p:spPr>
          <a:xfrm>
            <a:off x="640080" y="3758184"/>
            <a:ext cx="118872" cy="118872"/>
          </a:xfrm>
          <a:prstGeom prst="ellipse">
            <a:avLst/>
          </a:prstGeom>
          <a:solidFill>
            <a:srgbClr val="065A82"/>
          </a:solidFill>
          <a:ln/>
        </p:spPr>
      </p:sp>
      <p:sp>
        <p:nvSpPr>
          <p:cNvPr id="11" name="Text 8"/>
          <p:cNvSpPr/>
          <p:nvPr/>
        </p:nvSpPr>
        <p:spPr>
          <a:xfrm>
            <a:off x="914400" y="3648456"/>
            <a:ext cx="5029200" cy="420624"/>
          </a:xfrm>
          <a:prstGeom prst="rect">
            <a:avLst/>
          </a:prstGeom>
          <a:noFill/>
          <a:ln/>
        </p:spPr>
        <p:txBody>
          <a:bodyPr wrap="square" rtlCol="0" anchor="ctr"/>
          <a:lstStyle/>
          <a:p>
            <a:pPr indent="0" marL="0">
              <a:lnSpc>
                <a:spcPts val="1400"/>
              </a:lnSpc>
              <a:buNone/>
            </a:pPr>
            <a:r>
              <a:rPr lang="en-US" sz="1150" dirty="0">
                <a:solidFill>
                  <a:srgbClr val="1B1F27"/>
                </a:solidFill>
                <a:latin typeface="Calibri" pitchFamily="34" charset="0"/>
                <a:ea typeface="Calibri" pitchFamily="34" charset="-122"/>
                <a:cs typeface="Calibri" pitchFamily="34" charset="-120"/>
              </a:rPr>
              <a:t>Easily stored in relational databases (SQL)</a:t>
            </a:r>
            <a:endParaRPr lang="en-US" sz="1150" dirty="0"/>
          </a:p>
        </p:txBody>
      </p:sp>
      <p:sp>
        <p:nvSpPr>
          <p:cNvPr id="12" name="Shape 9"/>
          <p:cNvSpPr/>
          <p:nvPr/>
        </p:nvSpPr>
        <p:spPr>
          <a:xfrm>
            <a:off x="640080" y="4215384"/>
            <a:ext cx="118872" cy="118872"/>
          </a:xfrm>
          <a:prstGeom prst="ellipse">
            <a:avLst/>
          </a:prstGeom>
          <a:solidFill>
            <a:srgbClr val="065A82"/>
          </a:solidFill>
          <a:ln/>
        </p:spPr>
      </p:sp>
      <p:sp>
        <p:nvSpPr>
          <p:cNvPr id="13" name="Text 10"/>
          <p:cNvSpPr/>
          <p:nvPr/>
        </p:nvSpPr>
        <p:spPr>
          <a:xfrm>
            <a:off x="914400" y="4105656"/>
            <a:ext cx="5029200" cy="420624"/>
          </a:xfrm>
          <a:prstGeom prst="rect">
            <a:avLst/>
          </a:prstGeom>
          <a:noFill/>
          <a:ln/>
        </p:spPr>
        <p:txBody>
          <a:bodyPr wrap="square" rtlCol="0" anchor="ctr"/>
          <a:lstStyle/>
          <a:p>
            <a:pPr indent="0" marL="0">
              <a:lnSpc>
                <a:spcPts val="1400"/>
              </a:lnSpc>
              <a:buNone/>
            </a:pPr>
            <a:r>
              <a:rPr lang="en-US" sz="1150" dirty="0">
                <a:solidFill>
                  <a:srgbClr val="1B1F27"/>
                </a:solidFill>
                <a:latin typeface="Calibri" pitchFamily="34" charset="0"/>
                <a:ea typeface="Calibri" pitchFamily="34" charset="-122"/>
                <a:cs typeface="Calibri" pitchFamily="34" charset="-120"/>
              </a:rPr>
              <a:t>Simple to query, sort, and analyze</a:t>
            </a:r>
            <a:endParaRPr lang="en-US" sz="1150" dirty="0"/>
          </a:p>
        </p:txBody>
      </p:sp>
      <p:sp>
        <p:nvSpPr>
          <p:cNvPr id="14" name="Shape 11"/>
          <p:cNvSpPr/>
          <p:nvPr/>
        </p:nvSpPr>
        <p:spPr>
          <a:xfrm>
            <a:off x="640080" y="4672584"/>
            <a:ext cx="118872" cy="118872"/>
          </a:xfrm>
          <a:prstGeom prst="ellipse">
            <a:avLst/>
          </a:prstGeom>
          <a:solidFill>
            <a:srgbClr val="065A82"/>
          </a:solidFill>
          <a:ln/>
        </p:spPr>
      </p:sp>
      <p:sp>
        <p:nvSpPr>
          <p:cNvPr id="15" name="Text 12"/>
          <p:cNvSpPr/>
          <p:nvPr/>
        </p:nvSpPr>
        <p:spPr>
          <a:xfrm>
            <a:off x="914400" y="4562856"/>
            <a:ext cx="5029200" cy="420624"/>
          </a:xfrm>
          <a:prstGeom prst="rect">
            <a:avLst/>
          </a:prstGeom>
          <a:noFill/>
          <a:ln/>
        </p:spPr>
        <p:txBody>
          <a:bodyPr wrap="square" rtlCol="0" anchor="ctr"/>
          <a:lstStyle/>
          <a:p>
            <a:pPr indent="0" marL="0">
              <a:lnSpc>
                <a:spcPts val="1400"/>
              </a:lnSpc>
              <a:buNone/>
            </a:pPr>
            <a:r>
              <a:rPr lang="en-US" sz="1150" dirty="0">
                <a:solidFill>
                  <a:srgbClr val="1B1F27"/>
                </a:solidFill>
                <a:latin typeface="Calibri" pitchFamily="34" charset="0"/>
                <a:ea typeface="Calibri" pitchFamily="34" charset="-122"/>
                <a:cs typeface="Calibri" pitchFamily="34" charset="-120"/>
              </a:rPr>
              <a:t>Examples: Excel sheets, SQL tables, CSV files</a:t>
            </a:r>
            <a:endParaRPr lang="en-US" sz="1150" dirty="0"/>
          </a:p>
        </p:txBody>
      </p:sp>
      <p:sp>
        <p:nvSpPr>
          <p:cNvPr id="16" name="Shape 13"/>
          <p:cNvSpPr/>
          <p:nvPr/>
        </p:nvSpPr>
        <p:spPr>
          <a:xfrm>
            <a:off x="6446520" y="1691640"/>
            <a:ext cx="5120640" cy="3429000"/>
          </a:xfrm>
          <a:prstGeom prst="roundRect">
            <a:avLst>
              <a:gd name="adj" fmla="val 1600"/>
            </a:avLst>
          </a:prstGeom>
          <a:solidFill>
            <a:srgbClr val="E8F1F5"/>
          </a:solidFill>
          <a:ln w="12700">
            <a:solidFill>
              <a:srgbClr val="D6E3E9"/>
            </a:solidFill>
            <a:prstDash val="solid"/>
          </a:ln>
        </p:spPr>
      </p:sp>
      <p:sp>
        <p:nvSpPr>
          <p:cNvPr id="17" name="Shape 14"/>
          <p:cNvSpPr/>
          <p:nvPr/>
        </p:nvSpPr>
        <p:spPr>
          <a:xfrm>
            <a:off x="6446520" y="1737360"/>
            <a:ext cx="1234440" cy="457200"/>
          </a:xfrm>
          <a:prstGeom prst="rect">
            <a:avLst/>
          </a:prstGeom>
          <a:solidFill>
            <a:srgbClr val="065A82"/>
          </a:solidFill>
          <a:ln w="9525">
            <a:solidFill>
              <a:srgbClr val="FFFFFF"/>
            </a:solidFill>
            <a:prstDash val="solid"/>
          </a:ln>
        </p:spPr>
      </p:sp>
      <p:sp>
        <p:nvSpPr>
          <p:cNvPr id="18" name="Text 15"/>
          <p:cNvSpPr/>
          <p:nvPr/>
        </p:nvSpPr>
        <p:spPr>
          <a:xfrm>
            <a:off x="6446520" y="1737360"/>
            <a:ext cx="123444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p>
        </p:txBody>
      </p:sp>
      <p:sp>
        <p:nvSpPr>
          <p:cNvPr id="19" name="Shape 16"/>
          <p:cNvSpPr/>
          <p:nvPr/>
        </p:nvSpPr>
        <p:spPr>
          <a:xfrm>
            <a:off x="7680960" y="1737360"/>
            <a:ext cx="1645920" cy="457200"/>
          </a:xfrm>
          <a:prstGeom prst="rect">
            <a:avLst/>
          </a:prstGeom>
          <a:solidFill>
            <a:srgbClr val="065A82"/>
          </a:solidFill>
          <a:ln w="9525">
            <a:solidFill>
              <a:srgbClr val="FFFFFF"/>
            </a:solidFill>
            <a:prstDash val="solid"/>
          </a:ln>
        </p:spPr>
      </p:sp>
      <p:sp>
        <p:nvSpPr>
          <p:cNvPr id="20" name="Text 17"/>
          <p:cNvSpPr/>
          <p:nvPr/>
        </p:nvSpPr>
        <p:spPr>
          <a:xfrm>
            <a:off x="7680960" y="1737360"/>
            <a:ext cx="16459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Name</a:t>
            </a:r>
            <a:endParaRPr lang="en-US" sz="1100" dirty="0"/>
          </a:p>
        </p:txBody>
      </p:sp>
      <p:sp>
        <p:nvSpPr>
          <p:cNvPr id="21" name="Shape 18"/>
          <p:cNvSpPr/>
          <p:nvPr/>
        </p:nvSpPr>
        <p:spPr>
          <a:xfrm>
            <a:off x="9326880" y="1737360"/>
            <a:ext cx="1143000" cy="457200"/>
          </a:xfrm>
          <a:prstGeom prst="rect">
            <a:avLst/>
          </a:prstGeom>
          <a:solidFill>
            <a:srgbClr val="065A82"/>
          </a:solidFill>
          <a:ln w="9525">
            <a:solidFill>
              <a:srgbClr val="FFFFFF"/>
            </a:solidFill>
            <a:prstDash val="solid"/>
          </a:ln>
        </p:spPr>
      </p:sp>
      <p:sp>
        <p:nvSpPr>
          <p:cNvPr id="22" name="Text 19"/>
          <p:cNvSpPr/>
          <p:nvPr/>
        </p:nvSpPr>
        <p:spPr>
          <a:xfrm>
            <a:off x="9326880" y="1737360"/>
            <a:ext cx="11430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City</a:t>
            </a:r>
            <a:endParaRPr lang="en-US" sz="1100" dirty="0"/>
          </a:p>
        </p:txBody>
      </p:sp>
      <p:sp>
        <p:nvSpPr>
          <p:cNvPr id="23" name="Shape 20"/>
          <p:cNvSpPr/>
          <p:nvPr/>
        </p:nvSpPr>
        <p:spPr>
          <a:xfrm>
            <a:off x="10469880" y="1737360"/>
            <a:ext cx="1097280" cy="457200"/>
          </a:xfrm>
          <a:prstGeom prst="rect">
            <a:avLst/>
          </a:prstGeom>
          <a:solidFill>
            <a:srgbClr val="065A82"/>
          </a:solidFill>
          <a:ln w="9525">
            <a:solidFill>
              <a:srgbClr val="FFFFFF"/>
            </a:solidFill>
            <a:prstDash val="solid"/>
          </a:ln>
        </p:spPr>
      </p:sp>
      <p:sp>
        <p:nvSpPr>
          <p:cNvPr id="24" name="Text 21"/>
          <p:cNvSpPr/>
          <p:nvPr/>
        </p:nvSpPr>
        <p:spPr>
          <a:xfrm>
            <a:off x="10469880" y="1737360"/>
            <a:ext cx="10972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Amount</a:t>
            </a:r>
            <a:endParaRPr lang="en-US" sz="1100" dirty="0"/>
          </a:p>
        </p:txBody>
      </p:sp>
      <p:sp>
        <p:nvSpPr>
          <p:cNvPr id="25" name="Shape 22"/>
          <p:cNvSpPr/>
          <p:nvPr/>
        </p:nvSpPr>
        <p:spPr>
          <a:xfrm>
            <a:off x="6446520" y="2194560"/>
            <a:ext cx="1234440" cy="502920"/>
          </a:xfrm>
          <a:prstGeom prst="rect">
            <a:avLst/>
          </a:prstGeom>
          <a:solidFill>
            <a:srgbClr val="FFFFFF"/>
          </a:solidFill>
          <a:ln w="6350">
            <a:solidFill>
              <a:srgbClr val="D6E3E9"/>
            </a:solidFill>
            <a:prstDash val="solid"/>
          </a:ln>
        </p:spPr>
      </p:sp>
      <p:sp>
        <p:nvSpPr>
          <p:cNvPr id="26" name="Text 23"/>
          <p:cNvSpPr/>
          <p:nvPr/>
        </p:nvSpPr>
        <p:spPr>
          <a:xfrm>
            <a:off x="6446520" y="2194560"/>
            <a:ext cx="123444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101</a:t>
            </a:r>
            <a:endParaRPr lang="en-US" sz="1050" dirty="0"/>
          </a:p>
        </p:txBody>
      </p:sp>
      <p:sp>
        <p:nvSpPr>
          <p:cNvPr id="27" name="Shape 24"/>
          <p:cNvSpPr/>
          <p:nvPr/>
        </p:nvSpPr>
        <p:spPr>
          <a:xfrm>
            <a:off x="7680960" y="2194560"/>
            <a:ext cx="1645920" cy="502920"/>
          </a:xfrm>
          <a:prstGeom prst="rect">
            <a:avLst/>
          </a:prstGeom>
          <a:solidFill>
            <a:srgbClr val="FFFFFF"/>
          </a:solidFill>
          <a:ln w="6350">
            <a:solidFill>
              <a:srgbClr val="D6E3E9"/>
            </a:solidFill>
            <a:prstDash val="solid"/>
          </a:ln>
        </p:spPr>
      </p:sp>
      <p:sp>
        <p:nvSpPr>
          <p:cNvPr id="28" name="Text 25"/>
          <p:cNvSpPr/>
          <p:nvPr/>
        </p:nvSpPr>
        <p:spPr>
          <a:xfrm>
            <a:off x="7680960" y="2194560"/>
            <a:ext cx="164592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A. Sharma</a:t>
            </a:r>
            <a:endParaRPr lang="en-US" sz="1050" dirty="0"/>
          </a:p>
        </p:txBody>
      </p:sp>
      <p:sp>
        <p:nvSpPr>
          <p:cNvPr id="29" name="Shape 26"/>
          <p:cNvSpPr/>
          <p:nvPr/>
        </p:nvSpPr>
        <p:spPr>
          <a:xfrm>
            <a:off x="9326880" y="2194560"/>
            <a:ext cx="1143000" cy="502920"/>
          </a:xfrm>
          <a:prstGeom prst="rect">
            <a:avLst/>
          </a:prstGeom>
          <a:solidFill>
            <a:srgbClr val="FFFFFF"/>
          </a:solidFill>
          <a:ln w="6350">
            <a:solidFill>
              <a:srgbClr val="D6E3E9"/>
            </a:solidFill>
            <a:prstDash val="solid"/>
          </a:ln>
        </p:spPr>
      </p:sp>
      <p:sp>
        <p:nvSpPr>
          <p:cNvPr id="30" name="Text 27"/>
          <p:cNvSpPr/>
          <p:nvPr/>
        </p:nvSpPr>
        <p:spPr>
          <a:xfrm>
            <a:off x="9326880" y="2194560"/>
            <a:ext cx="114300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Pune</a:t>
            </a:r>
            <a:endParaRPr lang="en-US" sz="1050" dirty="0"/>
          </a:p>
        </p:txBody>
      </p:sp>
      <p:sp>
        <p:nvSpPr>
          <p:cNvPr id="31" name="Shape 28"/>
          <p:cNvSpPr/>
          <p:nvPr/>
        </p:nvSpPr>
        <p:spPr>
          <a:xfrm>
            <a:off x="10469880" y="2194560"/>
            <a:ext cx="1097280" cy="502920"/>
          </a:xfrm>
          <a:prstGeom prst="rect">
            <a:avLst/>
          </a:prstGeom>
          <a:solidFill>
            <a:srgbClr val="FFFFFF"/>
          </a:solidFill>
          <a:ln w="6350">
            <a:solidFill>
              <a:srgbClr val="D6E3E9"/>
            </a:solidFill>
            <a:prstDash val="solid"/>
          </a:ln>
        </p:spPr>
      </p:sp>
      <p:sp>
        <p:nvSpPr>
          <p:cNvPr id="32" name="Text 29"/>
          <p:cNvSpPr/>
          <p:nvPr/>
        </p:nvSpPr>
        <p:spPr>
          <a:xfrm>
            <a:off x="10469880" y="2194560"/>
            <a:ext cx="109728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2,400</a:t>
            </a:r>
            <a:endParaRPr lang="en-US" sz="1050" dirty="0"/>
          </a:p>
        </p:txBody>
      </p:sp>
      <p:sp>
        <p:nvSpPr>
          <p:cNvPr id="33" name="Shape 30"/>
          <p:cNvSpPr/>
          <p:nvPr/>
        </p:nvSpPr>
        <p:spPr>
          <a:xfrm>
            <a:off x="6446520" y="2697480"/>
            <a:ext cx="1234440" cy="502920"/>
          </a:xfrm>
          <a:prstGeom prst="rect">
            <a:avLst/>
          </a:prstGeom>
          <a:solidFill>
            <a:srgbClr val="F4F9FB"/>
          </a:solidFill>
          <a:ln w="6350">
            <a:solidFill>
              <a:srgbClr val="D6E3E9"/>
            </a:solidFill>
            <a:prstDash val="solid"/>
          </a:ln>
        </p:spPr>
      </p:sp>
      <p:sp>
        <p:nvSpPr>
          <p:cNvPr id="34" name="Text 31"/>
          <p:cNvSpPr/>
          <p:nvPr/>
        </p:nvSpPr>
        <p:spPr>
          <a:xfrm>
            <a:off x="6446520" y="2697480"/>
            <a:ext cx="123444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102</a:t>
            </a:r>
            <a:endParaRPr lang="en-US" sz="1050" dirty="0"/>
          </a:p>
        </p:txBody>
      </p:sp>
      <p:sp>
        <p:nvSpPr>
          <p:cNvPr id="35" name="Shape 32"/>
          <p:cNvSpPr/>
          <p:nvPr/>
        </p:nvSpPr>
        <p:spPr>
          <a:xfrm>
            <a:off x="7680960" y="2697480"/>
            <a:ext cx="1645920" cy="502920"/>
          </a:xfrm>
          <a:prstGeom prst="rect">
            <a:avLst/>
          </a:prstGeom>
          <a:solidFill>
            <a:srgbClr val="F4F9FB"/>
          </a:solidFill>
          <a:ln w="6350">
            <a:solidFill>
              <a:srgbClr val="D6E3E9"/>
            </a:solidFill>
            <a:prstDash val="solid"/>
          </a:ln>
        </p:spPr>
      </p:sp>
      <p:sp>
        <p:nvSpPr>
          <p:cNvPr id="36" name="Text 33"/>
          <p:cNvSpPr/>
          <p:nvPr/>
        </p:nvSpPr>
        <p:spPr>
          <a:xfrm>
            <a:off x="7680960" y="2697480"/>
            <a:ext cx="164592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R. Iyer</a:t>
            </a:r>
            <a:endParaRPr lang="en-US" sz="1050" dirty="0"/>
          </a:p>
        </p:txBody>
      </p:sp>
      <p:sp>
        <p:nvSpPr>
          <p:cNvPr id="37" name="Shape 34"/>
          <p:cNvSpPr/>
          <p:nvPr/>
        </p:nvSpPr>
        <p:spPr>
          <a:xfrm>
            <a:off x="9326880" y="2697480"/>
            <a:ext cx="1143000" cy="502920"/>
          </a:xfrm>
          <a:prstGeom prst="rect">
            <a:avLst/>
          </a:prstGeom>
          <a:solidFill>
            <a:srgbClr val="F4F9FB"/>
          </a:solidFill>
          <a:ln w="6350">
            <a:solidFill>
              <a:srgbClr val="D6E3E9"/>
            </a:solidFill>
            <a:prstDash val="solid"/>
          </a:ln>
        </p:spPr>
      </p:sp>
      <p:sp>
        <p:nvSpPr>
          <p:cNvPr id="38" name="Text 35"/>
          <p:cNvSpPr/>
          <p:nvPr/>
        </p:nvSpPr>
        <p:spPr>
          <a:xfrm>
            <a:off x="9326880" y="2697480"/>
            <a:ext cx="114300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Delhi</a:t>
            </a:r>
            <a:endParaRPr lang="en-US" sz="1050" dirty="0"/>
          </a:p>
        </p:txBody>
      </p:sp>
      <p:sp>
        <p:nvSpPr>
          <p:cNvPr id="39" name="Shape 36"/>
          <p:cNvSpPr/>
          <p:nvPr/>
        </p:nvSpPr>
        <p:spPr>
          <a:xfrm>
            <a:off x="10469880" y="2697480"/>
            <a:ext cx="1097280" cy="502920"/>
          </a:xfrm>
          <a:prstGeom prst="rect">
            <a:avLst/>
          </a:prstGeom>
          <a:solidFill>
            <a:srgbClr val="F4F9FB"/>
          </a:solidFill>
          <a:ln w="6350">
            <a:solidFill>
              <a:srgbClr val="D6E3E9"/>
            </a:solidFill>
            <a:prstDash val="solid"/>
          </a:ln>
        </p:spPr>
      </p:sp>
      <p:sp>
        <p:nvSpPr>
          <p:cNvPr id="40" name="Text 37"/>
          <p:cNvSpPr/>
          <p:nvPr/>
        </p:nvSpPr>
        <p:spPr>
          <a:xfrm>
            <a:off x="10469880" y="2697480"/>
            <a:ext cx="109728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1,150</a:t>
            </a:r>
            <a:endParaRPr lang="en-US" sz="1050" dirty="0"/>
          </a:p>
        </p:txBody>
      </p:sp>
      <p:sp>
        <p:nvSpPr>
          <p:cNvPr id="41" name="Shape 38"/>
          <p:cNvSpPr/>
          <p:nvPr/>
        </p:nvSpPr>
        <p:spPr>
          <a:xfrm>
            <a:off x="6446520" y="3200400"/>
            <a:ext cx="1234440" cy="502920"/>
          </a:xfrm>
          <a:prstGeom prst="rect">
            <a:avLst/>
          </a:prstGeom>
          <a:solidFill>
            <a:srgbClr val="FFFFFF"/>
          </a:solidFill>
          <a:ln w="6350">
            <a:solidFill>
              <a:srgbClr val="D6E3E9"/>
            </a:solidFill>
            <a:prstDash val="solid"/>
          </a:ln>
        </p:spPr>
      </p:sp>
      <p:sp>
        <p:nvSpPr>
          <p:cNvPr id="42" name="Text 39"/>
          <p:cNvSpPr/>
          <p:nvPr/>
        </p:nvSpPr>
        <p:spPr>
          <a:xfrm>
            <a:off x="6446520" y="3200400"/>
            <a:ext cx="123444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103</a:t>
            </a:r>
            <a:endParaRPr lang="en-US" sz="1050" dirty="0"/>
          </a:p>
        </p:txBody>
      </p:sp>
      <p:sp>
        <p:nvSpPr>
          <p:cNvPr id="43" name="Shape 40"/>
          <p:cNvSpPr/>
          <p:nvPr/>
        </p:nvSpPr>
        <p:spPr>
          <a:xfrm>
            <a:off x="7680960" y="3200400"/>
            <a:ext cx="1645920" cy="502920"/>
          </a:xfrm>
          <a:prstGeom prst="rect">
            <a:avLst/>
          </a:prstGeom>
          <a:solidFill>
            <a:srgbClr val="FFFFFF"/>
          </a:solidFill>
          <a:ln w="6350">
            <a:solidFill>
              <a:srgbClr val="D6E3E9"/>
            </a:solidFill>
            <a:prstDash val="solid"/>
          </a:ln>
        </p:spPr>
      </p:sp>
      <p:sp>
        <p:nvSpPr>
          <p:cNvPr id="44" name="Text 41"/>
          <p:cNvSpPr/>
          <p:nvPr/>
        </p:nvSpPr>
        <p:spPr>
          <a:xfrm>
            <a:off x="7680960" y="3200400"/>
            <a:ext cx="164592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K. Verma</a:t>
            </a:r>
            <a:endParaRPr lang="en-US" sz="1050" dirty="0"/>
          </a:p>
        </p:txBody>
      </p:sp>
      <p:sp>
        <p:nvSpPr>
          <p:cNvPr id="45" name="Shape 42"/>
          <p:cNvSpPr/>
          <p:nvPr/>
        </p:nvSpPr>
        <p:spPr>
          <a:xfrm>
            <a:off x="9326880" y="3200400"/>
            <a:ext cx="1143000" cy="502920"/>
          </a:xfrm>
          <a:prstGeom prst="rect">
            <a:avLst/>
          </a:prstGeom>
          <a:solidFill>
            <a:srgbClr val="FFFFFF"/>
          </a:solidFill>
          <a:ln w="6350">
            <a:solidFill>
              <a:srgbClr val="D6E3E9"/>
            </a:solidFill>
            <a:prstDash val="solid"/>
          </a:ln>
        </p:spPr>
      </p:sp>
      <p:sp>
        <p:nvSpPr>
          <p:cNvPr id="46" name="Text 43"/>
          <p:cNvSpPr/>
          <p:nvPr/>
        </p:nvSpPr>
        <p:spPr>
          <a:xfrm>
            <a:off x="9326880" y="3200400"/>
            <a:ext cx="114300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Chennai</a:t>
            </a:r>
            <a:endParaRPr lang="en-US" sz="1050" dirty="0"/>
          </a:p>
        </p:txBody>
      </p:sp>
      <p:sp>
        <p:nvSpPr>
          <p:cNvPr id="47" name="Shape 44"/>
          <p:cNvSpPr/>
          <p:nvPr/>
        </p:nvSpPr>
        <p:spPr>
          <a:xfrm>
            <a:off x="10469880" y="3200400"/>
            <a:ext cx="1097280" cy="502920"/>
          </a:xfrm>
          <a:prstGeom prst="rect">
            <a:avLst/>
          </a:prstGeom>
          <a:solidFill>
            <a:srgbClr val="FFFFFF"/>
          </a:solidFill>
          <a:ln w="6350">
            <a:solidFill>
              <a:srgbClr val="D6E3E9"/>
            </a:solidFill>
            <a:prstDash val="solid"/>
          </a:ln>
        </p:spPr>
      </p:sp>
      <p:sp>
        <p:nvSpPr>
          <p:cNvPr id="48" name="Text 45"/>
          <p:cNvSpPr/>
          <p:nvPr/>
        </p:nvSpPr>
        <p:spPr>
          <a:xfrm>
            <a:off x="10469880" y="3200400"/>
            <a:ext cx="109728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3,020</a:t>
            </a:r>
            <a:endParaRPr lang="en-US" sz="1050" dirty="0"/>
          </a:p>
        </p:txBody>
      </p:sp>
      <p:sp>
        <p:nvSpPr>
          <p:cNvPr id="49" name="Shape 46"/>
          <p:cNvSpPr/>
          <p:nvPr/>
        </p:nvSpPr>
        <p:spPr>
          <a:xfrm>
            <a:off x="6446520" y="3703320"/>
            <a:ext cx="1234440" cy="502920"/>
          </a:xfrm>
          <a:prstGeom prst="rect">
            <a:avLst/>
          </a:prstGeom>
          <a:solidFill>
            <a:srgbClr val="F4F9FB"/>
          </a:solidFill>
          <a:ln w="6350">
            <a:solidFill>
              <a:srgbClr val="D6E3E9"/>
            </a:solidFill>
            <a:prstDash val="solid"/>
          </a:ln>
        </p:spPr>
      </p:sp>
      <p:sp>
        <p:nvSpPr>
          <p:cNvPr id="50" name="Text 47"/>
          <p:cNvSpPr/>
          <p:nvPr/>
        </p:nvSpPr>
        <p:spPr>
          <a:xfrm>
            <a:off x="6446520" y="3703320"/>
            <a:ext cx="123444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104</a:t>
            </a:r>
            <a:endParaRPr lang="en-US" sz="1050" dirty="0"/>
          </a:p>
        </p:txBody>
      </p:sp>
      <p:sp>
        <p:nvSpPr>
          <p:cNvPr id="51" name="Shape 48"/>
          <p:cNvSpPr/>
          <p:nvPr/>
        </p:nvSpPr>
        <p:spPr>
          <a:xfrm>
            <a:off x="7680960" y="3703320"/>
            <a:ext cx="1645920" cy="502920"/>
          </a:xfrm>
          <a:prstGeom prst="rect">
            <a:avLst/>
          </a:prstGeom>
          <a:solidFill>
            <a:srgbClr val="F4F9FB"/>
          </a:solidFill>
          <a:ln w="6350">
            <a:solidFill>
              <a:srgbClr val="D6E3E9"/>
            </a:solidFill>
            <a:prstDash val="solid"/>
          </a:ln>
        </p:spPr>
      </p:sp>
      <p:sp>
        <p:nvSpPr>
          <p:cNvPr id="52" name="Text 49"/>
          <p:cNvSpPr/>
          <p:nvPr/>
        </p:nvSpPr>
        <p:spPr>
          <a:xfrm>
            <a:off x="7680960" y="3703320"/>
            <a:ext cx="164592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S. Nair</a:t>
            </a:r>
            <a:endParaRPr lang="en-US" sz="1050" dirty="0"/>
          </a:p>
        </p:txBody>
      </p:sp>
      <p:sp>
        <p:nvSpPr>
          <p:cNvPr id="53" name="Shape 50"/>
          <p:cNvSpPr/>
          <p:nvPr/>
        </p:nvSpPr>
        <p:spPr>
          <a:xfrm>
            <a:off x="9326880" y="3703320"/>
            <a:ext cx="1143000" cy="502920"/>
          </a:xfrm>
          <a:prstGeom prst="rect">
            <a:avLst/>
          </a:prstGeom>
          <a:solidFill>
            <a:srgbClr val="F4F9FB"/>
          </a:solidFill>
          <a:ln w="6350">
            <a:solidFill>
              <a:srgbClr val="D6E3E9"/>
            </a:solidFill>
            <a:prstDash val="solid"/>
          </a:ln>
        </p:spPr>
      </p:sp>
      <p:sp>
        <p:nvSpPr>
          <p:cNvPr id="54" name="Text 51"/>
          <p:cNvSpPr/>
          <p:nvPr/>
        </p:nvSpPr>
        <p:spPr>
          <a:xfrm>
            <a:off x="9326880" y="3703320"/>
            <a:ext cx="114300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Kochi</a:t>
            </a:r>
            <a:endParaRPr lang="en-US" sz="1050" dirty="0"/>
          </a:p>
        </p:txBody>
      </p:sp>
      <p:sp>
        <p:nvSpPr>
          <p:cNvPr id="55" name="Shape 52"/>
          <p:cNvSpPr/>
          <p:nvPr/>
        </p:nvSpPr>
        <p:spPr>
          <a:xfrm>
            <a:off x="10469880" y="3703320"/>
            <a:ext cx="1097280" cy="502920"/>
          </a:xfrm>
          <a:prstGeom prst="rect">
            <a:avLst/>
          </a:prstGeom>
          <a:solidFill>
            <a:srgbClr val="F4F9FB"/>
          </a:solidFill>
          <a:ln w="6350">
            <a:solidFill>
              <a:srgbClr val="D6E3E9"/>
            </a:solidFill>
            <a:prstDash val="solid"/>
          </a:ln>
        </p:spPr>
      </p:sp>
      <p:sp>
        <p:nvSpPr>
          <p:cNvPr id="56" name="Text 53"/>
          <p:cNvSpPr/>
          <p:nvPr/>
        </p:nvSpPr>
        <p:spPr>
          <a:xfrm>
            <a:off x="10469880" y="3703320"/>
            <a:ext cx="1097280" cy="502920"/>
          </a:xfrm>
          <a:prstGeom prst="rect">
            <a:avLst/>
          </a:prstGeom>
          <a:noFill/>
          <a:ln/>
        </p:spPr>
        <p:txBody>
          <a:bodyPr wrap="square" rtlCol="0" anchor="ctr"/>
          <a:lstStyle/>
          <a:p>
            <a:pPr algn="ctr" indent="0" marL="0">
              <a:buNone/>
            </a:pPr>
            <a:r>
              <a:rPr lang="en-US" sz="1050" dirty="0">
                <a:solidFill>
                  <a:srgbClr val="1B1F27"/>
                </a:solidFill>
                <a:latin typeface="Calibri" pitchFamily="34" charset="0"/>
                <a:ea typeface="Calibri" pitchFamily="34" charset="-122"/>
                <a:cs typeface="Calibri" pitchFamily="34" charset="-120"/>
              </a:rPr>
              <a:t>980</a:t>
            </a:r>
            <a:endParaRPr lang="en-US" sz="1050" dirty="0"/>
          </a:p>
        </p:txBody>
      </p:sp>
      <p:sp>
        <p:nvSpPr>
          <p:cNvPr id="57" name="Text 54"/>
          <p:cNvSpPr/>
          <p:nvPr/>
        </p:nvSpPr>
        <p:spPr>
          <a:xfrm>
            <a:off x="6446520" y="4709160"/>
            <a:ext cx="5120640" cy="365760"/>
          </a:xfrm>
          <a:prstGeom prst="rect">
            <a:avLst/>
          </a:prstGeom>
          <a:noFill/>
          <a:ln/>
        </p:spPr>
        <p:txBody>
          <a:bodyPr wrap="square" rtlCol="0" anchor="ctr"/>
          <a:lstStyle/>
          <a:p>
            <a:pPr algn="ctr" indent="0" marL="0">
              <a:buNone/>
            </a:pPr>
            <a:r>
              <a:rPr lang="en-US" sz="1000" i="1" dirty="0">
                <a:solidFill>
                  <a:srgbClr val="5B6672"/>
                </a:solidFill>
                <a:latin typeface="Calibri" pitchFamily="34" charset="0"/>
                <a:ea typeface="Calibri" pitchFamily="34" charset="-122"/>
                <a:cs typeface="Calibri" pitchFamily="34" charset="-120"/>
              </a:rPr>
              <a:t>A relational table: every row follows the same fixed columns</a:t>
            </a:r>
            <a:endParaRPr lang="en-US" sz="1000" dirty="0"/>
          </a:p>
        </p:txBody>
      </p:sp>
      <p:sp>
        <p:nvSpPr>
          <p:cNvPr id="59" name="Text 5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C0392B"/>
          </a:solidFill>
          <a:ln/>
        </p:spPr>
      </p:sp>
      <p:pic>
        <p:nvPicPr>
          <p:cNvPr id="3" name="Image 0" descr="/home/claude/ppt/icons/unstructured.png">    </p:cNvPr>
          <p:cNvPicPr>
            <a:picLocks noChangeAspect="1"/>
          </p:cNvPicPr>
          <p:nvPr/>
        </p:nvPicPr>
        <p:blipFill>
          <a:blip r:embed="rId1"/>
          <a:stretch>
            <a:fillRect/>
          </a:stretch>
        </p:blipFill>
        <p:spPr>
          <a:xfrm>
            <a:off x="854050" y="716890"/>
            <a:ext cx="395021" cy="395021"/>
          </a:xfrm>
          <a:prstGeom prst="rect">
            <a:avLst/>
          </a:prstGeom>
        </p:spPr>
      </p:pic>
      <p:sp>
        <p:nvSpPr>
          <p:cNvPr id="4" name="Text 1"/>
          <p:cNvSpPr/>
          <p:nvPr/>
        </p:nvSpPr>
        <p:spPr>
          <a:xfrm>
            <a:off x="1645920" y="502920"/>
            <a:ext cx="7315200" cy="45720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Unstructured Data</a:t>
            </a:r>
            <a:endParaRPr lang="en-US" sz="2800" dirty="0"/>
          </a:p>
        </p:txBody>
      </p:sp>
      <p:sp>
        <p:nvSpPr>
          <p:cNvPr id="5" name="Shape 2"/>
          <p:cNvSpPr/>
          <p:nvPr/>
        </p:nvSpPr>
        <p:spPr>
          <a:xfrm>
            <a:off x="640080" y="1463040"/>
            <a:ext cx="10881360" cy="0"/>
          </a:xfrm>
          <a:prstGeom prst="line">
            <a:avLst/>
          </a:prstGeom>
          <a:noFill/>
          <a:ln w="12700">
            <a:solidFill>
              <a:srgbClr val="D6E3E9"/>
            </a:solidFill>
            <a:prstDash val="solid"/>
          </a:ln>
        </p:spPr>
      </p:sp>
      <p:sp>
        <p:nvSpPr>
          <p:cNvPr id="6" name="Shape 3"/>
          <p:cNvSpPr/>
          <p:nvPr/>
        </p:nvSpPr>
        <p:spPr>
          <a:xfrm>
            <a:off x="640080" y="1645920"/>
            <a:ext cx="10908792" cy="960120"/>
          </a:xfrm>
          <a:prstGeom prst="roundRect">
            <a:avLst>
              <a:gd name="adj" fmla="val 7619"/>
            </a:avLst>
          </a:prstGeom>
          <a:solidFill>
            <a:srgbClr val="E8F1F5"/>
          </a:solidFill>
          <a:ln/>
        </p:spPr>
      </p:sp>
      <p:sp>
        <p:nvSpPr>
          <p:cNvPr id="7" name="Text 4"/>
          <p:cNvSpPr/>
          <p:nvPr/>
        </p:nvSpPr>
        <p:spPr>
          <a:xfrm>
            <a:off x="914400" y="1783080"/>
            <a:ext cx="10332720" cy="731520"/>
          </a:xfrm>
          <a:prstGeom prst="rect">
            <a:avLst/>
          </a:prstGeom>
          <a:noFill/>
          <a:ln/>
        </p:spPr>
        <p:txBody>
          <a:bodyPr wrap="square" rtlCol="0" anchor="ctr"/>
          <a:lstStyle/>
          <a:p>
            <a:pPr indent="0" marL="0">
              <a:lnSpc>
                <a:spcPts val="1800"/>
              </a:lnSpc>
              <a:buNone/>
            </a:pPr>
            <a:r>
              <a:rPr lang="en-US" sz="1400" b="1" dirty="0">
                <a:solidFill>
                  <a:srgbClr val="C0392B"/>
                </a:solidFill>
                <a:latin typeface="Calibri" pitchFamily="34" charset="0"/>
                <a:ea typeface="Calibri" pitchFamily="34" charset="-122"/>
                <a:cs typeface="Calibri" pitchFamily="34" charset="-120"/>
              </a:rPr>
              <a:t>Definition:  </a:t>
            </a:r>
            <a:pPr indent="0" marL="0">
              <a:lnSpc>
                <a:spcPts val="1800"/>
              </a:lnSpc>
              <a:buNone/>
            </a:pPr>
            <a:r>
              <a:rPr lang="en-US" sz="1400" dirty="0">
                <a:solidFill>
                  <a:srgbClr val="1B1F27"/>
                </a:solidFill>
                <a:latin typeface="Calibri" pitchFamily="34" charset="0"/>
                <a:ea typeface="Calibri" pitchFamily="34" charset="-122"/>
                <a:cs typeface="Calibri" pitchFamily="34" charset="-120"/>
              </a:rPr>
              <a:t>Data that has no predefined structure, model, or format — it doesn't fit neatly into rows and columns, so traditional databases can't store or query it directly.</a:t>
            </a:r>
            <a:endParaRPr lang="en-US" sz="1400" dirty="0"/>
          </a:p>
        </p:txBody>
      </p:sp>
      <p:sp>
        <p:nvSpPr>
          <p:cNvPr id="8" name="Text 5"/>
          <p:cNvSpPr/>
          <p:nvPr/>
        </p:nvSpPr>
        <p:spPr>
          <a:xfrm>
            <a:off x="640080" y="2788920"/>
            <a:ext cx="5486400" cy="320040"/>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Why It's Called "Unstructured"</a:t>
            </a:r>
            <a:endParaRPr lang="en-US" sz="1350" dirty="0"/>
          </a:p>
        </p:txBody>
      </p:sp>
      <p:sp>
        <p:nvSpPr>
          <p:cNvPr id="9" name="Shape 6"/>
          <p:cNvSpPr/>
          <p:nvPr/>
        </p:nvSpPr>
        <p:spPr>
          <a:xfrm>
            <a:off x="640080" y="3200400"/>
            <a:ext cx="118872" cy="118872"/>
          </a:xfrm>
          <a:prstGeom prst="ellipse">
            <a:avLst/>
          </a:prstGeom>
          <a:solidFill>
            <a:srgbClr val="C0392B"/>
          </a:solidFill>
          <a:ln/>
        </p:spPr>
      </p:sp>
      <p:sp>
        <p:nvSpPr>
          <p:cNvPr id="10" name="Text 7"/>
          <p:cNvSpPr/>
          <p:nvPr/>
        </p:nvSpPr>
        <p:spPr>
          <a:xfrm>
            <a:off x="914400" y="3081528"/>
            <a:ext cx="5120640" cy="41148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No fixed fields, columns, or schema to follow</a:t>
            </a:r>
            <a:endParaRPr lang="en-US" sz="1200" dirty="0"/>
          </a:p>
        </p:txBody>
      </p:sp>
      <p:sp>
        <p:nvSpPr>
          <p:cNvPr id="11" name="Shape 8"/>
          <p:cNvSpPr/>
          <p:nvPr/>
        </p:nvSpPr>
        <p:spPr>
          <a:xfrm>
            <a:off x="640080" y="3639312"/>
            <a:ext cx="118872" cy="118872"/>
          </a:xfrm>
          <a:prstGeom prst="ellipse">
            <a:avLst/>
          </a:prstGeom>
          <a:solidFill>
            <a:srgbClr val="C0392B"/>
          </a:solidFill>
          <a:ln/>
        </p:spPr>
      </p:sp>
      <p:sp>
        <p:nvSpPr>
          <p:cNvPr id="12" name="Text 9"/>
          <p:cNvSpPr/>
          <p:nvPr/>
        </p:nvSpPr>
        <p:spPr>
          <a:xfrm>
            <a:off x="914400" y="3520440"/>
            <a:ext cx="5120640" cy="41148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Volume is often huge and growing very fast</a:t>
            </a:r>
            <a:endParaRPr lang="en-US" sz="1200" dirty="0"/>
          </a:p>
        </p:txBody>
      </p:sp>
      <p:sp>
        <p:nvSpPr>
          <p:cNvPr id="13" name="Shape 10"/>
          <p:cNvSpPr/>
          <p:nvPr/>
        </p:nvSpPr>
        <p:spPr>
          <a:xfrm>
            <a:off x="640080" y="4078224"/>
            <a:ext cx="118872" cy="118872"/>
          </a:xfrm>
          <a:prstGeom prst="ellipse">
            <a:avLst/>
          </a:prstGeom>
          <a:solidFill>
            <a:srgbClr val="C0392B"/>
          </a:solidFill>
          <a:ln/>
        </p:spPr>
      </p:sp>
      <p:sp>
        <p:nvSpPr>
          <p:cNvPr id="14" name="Text 11"/>
          <p:cNvSpPr/>
          <p:nvPr/>
        </p:nvSpPr>
        <p:spPr>
          <a:xfrm>
            <a:off x="914400" y="3959352"/>
            <a:ext cx="5120640" cy="41148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Cannot be directly placed into a relational (SQL) table</a:t>
            </a:r>
            <a:endParaRPr lang="en-US" sz="1200" dirty="0"/>
          </a:p>
        </p:txBody>
      </p:sp>
      <p:sp>
        <p:nvSpPr>
          <p:cNvPr id="15" name="Shape 12"/>
          <p:cNvSpPr/>
          <p:nvPr/>
        </p:nvSpPr>
        <p:spPr>
          <a:xfrm>
            <a:off x="640080" y="4517136"/>
            <a:ext cx="118872" cy="118872"/>
          </a:xfrm>
          <a:prstGeom prst="ellipse">
            <a:avLst/>
          </a:prstGeom>
          <a:solidFill>
            <a:srgbClr val="C0392B"/>
          </a:solidFill>
          <a:ln/>
        </p:spPr>
      </p:sp>
      <p:sp>
        <p:nvSpPr>
          <p:cNvPr id="16" name="Text 13"/>
          <p:cNvSpPr/>
          <p:nvPr/>
        </p:nvSpPr>
        <p:spPr>
          <a:xfrm>
            <a:off x="914400" y="4398264"/>
            <a:ext cx="5120640" cy="411480"/>
          </a:xfrm>
          <a:prstGeom prst="rect">
            <a:avLst/>
          </a:prstGeom>
          <a:noFill/>
          <a:ln/>
        </p:spPr>
        <p:txBody>
          <a:bodyPr wrap="square" rtlCol="0" anchor="ctr"/>
          <a:lstStyle/>
          <a:p>
            <a:pPr indent="0" marL="0">
              <a:lnSpc>
                <a:spcPts val="1400"/>
              </a:lnSpc>
              <a:buNone/>
            </a:pPr>
            <a:r>
              <a:rPr lang="en-US" sz="1200" dirty="0">
                <a:solidFill>
                  <a:srgbClr val="1B1F27"/>
                </a:solidFill>
                <a:latin typeface="Calibri" pitchFamily="34" charset="0"/>
                <a:ea typeface="Calibri" pitchFamily="34" charset="-122"/>
                <a:cs typeface="Calibri" pitchFamily="34" charset="-120"/>
              </a:rPr>
              <a:t>Makes up an estimated 80–90% of all data generated today</a:t>
            </a:r>
            <a:endParaRPr lang="en-US" sz="1200" dirty="0"/>
          </a:p>
        </p:txBody>
      </p:sp>
      <p:sp>
        <p:nvSpPr>
          <p:cNvPr id="17" name="Shape 14"/>
          <p:cNvSpPr/>
          <p:nvPr/>
        </p:nvSpPr>
        <p:spPr>
          <a:xfrm>
            <a:off x="6400800" y="2788920"/>
            <a:ext cx="5166360" cy="2148840"/>
          </a:xfrm>
          <a:prstGeom prst="roundRect">
            <a:avLst>
              <a:gd name="adj" fmla="val 3404"/>
            </a:avLst>
          </a:prstGeom>
          <a:solidFill>
            <a:srgbClr val="21295C"/>
          </a:solidFill>
          <a:ln/>
        </p:spPr>
      </p:sp>
      <p:sp>
        <p:nvSpPr>
          <p:cNvPr id="18" name="Text 15"/>
          <p:cNvSpPr/>
          <p:nvPr/>
        </p:nvSpPr>
        <p:spPr>
          <a:xfrm>
            <a:off x="6629400" y="2953512"/>
            <a:ext cx="4709160" cy="320040"/>
          </a:xfrm>
          <a:prstGeom prst="rect">
            <a:avLst/>
          </a:prstGeom>
          <a:noFill/>
          <a:ln/>
        </p:spPr>
        <p:txBody>
          <a:bodyPr wrap="square" rtlCol="0" anchor="ctr"/>
          <a:lstStyle/>
          <a:p>
            <a:pPr indent="0" marL="0">
              <a:buNone/>
            </a:pPr>
            <a:r>
              <a:rPr lang="en-US" sz="1200" b="1" dirty="0">
                <a:solidFill>
                  <a:srgbClr val="9FC4DA"/>
                </a:solidFill>
                <a:latin typeface="Calibri" pitchFamily="34" charset="0"/>
                <a:ea typeface="Calibri" pitchFamily="34" charset="-122"/>
                <a:cs typeface="Calibri" pitchFamily="34" charset="-120"/>
              </a:rPr>
              <a:t>STRUCTURED  vs.  UNSTRUCTURED</a:t>
            </a:r>
            <a:endParaRPr lang="en-US" sz="1200" dirty="0"/>
          </a:p>
        </p:txBody>
      </p:sp>
      <p:sp>
        <p:nvSpPr>
          <p:cNvPr id="19" name="Text 16"/>
          <p:cNvSpPr/>
          <p:nvPr/>
        </p:nvSpPr>
        <p:spPr>
          <a:xfrm>
            <a:off x="6629400" y="3319272"/>
            <a:ext cx="1188720" cy="365760"/>
          </a:xfrm>
          <a:prstGeom prst="rect">
            <a:avLst/>
          </a:prstGeom>
          <a:noFill/>
          <a:ln/>
        </p:spPr>
        <p:txBody>
          <a:bodyPr wrap="square" rtlCol="0" anchor="ctr"/>
          <a:lstStyle/>
          <a:p>
            <a:pPr indent="0" marL="0">
              <a:buNone/>
            </a:pPr>
            <a:r>
              <a:rPr lang="en-US" sz="1050" b="1" dirty="0">
                <a:solidFill>
                  <a:srgbClr val="BBDDEA"/>
                </a:solidFill>
                <a:latin typeface="Calibri" pitchFamily="34" charset="0"/>
                <a:ea typeface="Calibri" pitchFamily="34" charset="-122"/>
                <a:cs typeface="Calibri" pitchFamily="34" charset="-120"/>
              </a:rPr>
              <a:t>Format</a:t>
            </a:r>
            <a:endParaRPr lang="en-US" sz="1050" dirty="0"/>
          </a:p>
        </p:txBody>
      </p:sp>
      <p:sp>
        <p:nvSpPr>
          <p:cNvPr id="20" name="Text 17"/>
          <p:cNvSpPr/>
          <p:nvPr/>
        </p:nvSpPr>
        <p:spPr>
          <a:xfrm>
            <a:off x="7863840" y="3319272"/>
            <a:ext cx="169164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Fixed schema</a:t>
            </a:r>
            <a:endParaRPr lang="en-US" sz="1050" dirty="0"/>
          </a:p>
        </p:txBody>
      </p:sp>
      <p:sp>
        <p:nvSpPr>
          <p:cNvPr id="21" name="Text 18"/>
          <p:cNvSpPr/>
          <p:nvPr/>
        </p:nvSpPr>
        <p:spPr>
          <a:xfrm>
            <a:off x="9601200" y="3319272"/>
            <a:ext cx="1828800" cy="365760"/>
          </a:xfrm>
          <a:prstGeom prst="rect">
            <a:avLst/>
          </a:prstGeom>
          <a:noFill/>
          <a:ln/>
        </p:spPr>
        <p:txBody>
          <a:bodyPr wrap="square" rtlCol="0" anchor="ctr"/>
          <a:lstStyle/>
          <a:p>
            <a:pPr indent="0" marL="0">
              <a:buNone/>
            </a:pPr>
            <a:r>
              <a:rPr lang="en-US" sz="1050" dirty="0">
                <a:solidFill>
                  <a:srgbClr val="F5C6C0"/>
                </a:solidFill>
                <a:latin typeface="Calibri" pitchFamily="34" charset="0"/>
                <a:ea typeface="Calibri" pitchFamily="34" charset="-122"/>
                <a:cs typeface="Calibri" pitchFamily="34" charset="-120"/>
              </a:rPr>
              <a:t>No fixed format</a:t>
            </a:r>
            <a:endParaRPr lang="en-US" sz="1050" dirty="0"/>
          </a:p>
        </p:txBody>
      </p:sp>
      <p:sp>
        <p:nvSpPr>
          <p:cNvPr id="22" name="Text 19"/>
          <p:cNvSpPr/>
          <p:nvPr/>
        </p:nvSpPr>
        <p:spPr>
          <a:xfrm>
            <a:off x="6629400" y="3703320"/>
            <a:ext cx="1188720" cy="365760"/>
          </a:xfrm>
          <a:prstGeom prst="rect">
            <a:avLst/>
          </a:prstGeom>
          <a:noFill/>
          <a:ln/>
        </p:spPr>
        <p:txBody>
          <a:bodyPr wrap="square" rtlCol="0" anchor="ctr"/>
          <a:lstStyle/>
          <a:p>
            <a:pPr indent="0" marL="0">
              <a:buNone/>
            </a:pPr>
            <a:r>
              <a:rPr lang="en-US" sz="1050" b="1" dirty="0">
                <a:solidFill>
                  <a:srgbClr val="BBDDEA"/>
                </a:solidFill>
                <a:latin typeface="Calibri" pitchFamily="34" charset="0"/>
                <a:ea typeface="Calibri" pitchFamily="34" charset="-122"/>
                <a:cs typeface="Calibri" pitchFamily="34" charset="-120"/>
              </a:rPr>
              <a:t>Storage</a:t>
            </a:r>
            <a:endParaRPr lang="en-US" sz="1050" dirty="0"/>
          </a:p>
        </p:txBody>
      </p:sp>
      <p:sp>
        <p:nvSpPr>
          <p:cNvPr id="23" name="Text 20"/>
          <p:cNvSpPr/>
          <p:nvPr/>
        </p:nvSpPr>
        <p:spPr>
          <a:xfrm>
            <a:off x="7863840" y="3703320"/>
            <a:ext cx="169164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Relational DB (SQL)</a:t>
            </a:r>
            <a:endParaRPr lang="en-US" sz="1050" dirty="0"/>
          </a:p>
        </p:txBody>
      </p:sp>
      <p:sp>
        <p:nvSpPr>
          <p:cNvPr id="24" name="Text 21"/>
          <p:cNvSpPr/>
          <p:nvPr/>
        </p:nvSpPr>
        <p:spPr>
          <a:xfrm>
            <a:off x="9601200" y="3703320"/>
            <a:ext cx="1828800" cy="365760"/>
          </a:xfrm>
          <a:prstGeom prst="rect">
            <a:avLst/>
          </a:prstGeom>
          <a:noFill/>
          <a:ln/>
        </p:spPr>
        <p:txBody>
          <a:bodyPr wrap="square" rtlCol="0" anchor="ctr"/>
          <a:lstStyle/>
          <a:p>
            <a:pPr indent="0" marL="0">
              <a:buNone/>
            </a:pPr>
            <a:r>
              <a:rPr lang="en-US" sz="1050" dirty="0">
                <a:solidFill>
                  <a:srgbClr val="F5C6C0"/>
                </a:solidFill>
                <a:latin typeface="Calibri" pitchFamily="34" charset="0"/>
                <a:ea typeface="Calibri" pitchFamily="34" charset="-122"/>
                <a:cs typeface="Calibri" pitchFamily="34" charset="-120"/>
              </a:rPr>
              <a:t>Data lakes, NoSQL</a:t>
            </a:r>
            <a:endParaRPr lang="en-US" sz="1050" dirty="0"/>
          </a:p>
        </p:txBody>
      </p:sp>
      <p:sp>
        <p:nvSpPr>
          <p:cNvPr id="25" name="Text 22"/>
          <p:cNvSpPr/>
          <p:nvPr/>
        </p:nvSpPr>
        <p:spPr>
          <a:xfrm>
            <a:off x="6629400" y="4087368"/>
            <a:ext cx="1188720" cy="365760"/>
          </a:xfrm>
          <a:prstGeom prst="rect">
            <a:avLst/>
          </a:prstGeom>
          <a:noFill/>
          <a:ln/>
        </p:spPr>
        <p:txBody>
          <a:bodyPr wrap="square" rtlCol="0" anchor="ctr"/>
          <a:lstStyle/>
          <a:p>
            <a:pPr indent="0" marL="0">
              <a:buNone/>
            </a:pPr>
            <a:r>
              <a:rPr lang="en-US" sz="1050" b="1" dirty="0">
                <a:solidFill>
                  <a:srgbClr val="BBDDEA"/>
                </a:solidFill>
                <a:latin typeface="Calibri" pitchFamily="34" charset="0"/>
                <a:ea typeface="Calibri" pitchFamily="34" charset="-122"/>
                <a:cs typeface="Calibri" pitchFamily="34" charset="-120"/>
              </a:rPr>
              <a:t>Searchability</a:t>
            </a:r>
            <a:endParaRPr lang="en-US" sz="1050" dirty="0"/>
          </a:p>
        </p:txBody>
      </p:sp>
      <p:sp>
        <p:nvSpPr>
          <p:cNvPr id="26" name="Text 23"/>
          <p:cNvSpPr/>
          <p:nvPr/>
        </p:nvSpPr>
        <p:spPr>
          <a:xfrm>
            <a:off x="7863840" y="4087368"/>
            <a:ext cx="169164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Easy to query</a:t>
            </a:r>
            <a:endParaRPr lang="en-US" sz="1050" dirty="0"/>
          </a:p>
        </p:txBody>
      </p:sp>
      <p:sp>
        <p:nvSpPr>
          <p:cNvPr id="27" name="Text 24"/>
          <p:cNvSpPr/>
          <p:nvPr/>
        </p:nvSpPr>
        <p:spPr>
          <a:xfrm>
            <a:off x="9601200" y="4087368"/>
            <a:ext cx="1828800" cy="365760"/>
          </a:xfrm>
          <a:prstGeom prst="rect">
            <a:avLst/>
          </a:prstGeom>
          <a:noFill/>
          <a:ln/>
        </p:spPr>
        <p:txBody>
          <a:bodyPr wrap="square" rtlCol="0" anchor="ctr"/>
          <a:lstStyle/>
          <a:p>
            <a:pPr indent="0" marL="0">
              <a:buNone/>
            </a:pPr>
            <a:r>
              <a:rPr lang="en-US" sz="1050" dirty="0">
                <a:solidFill>
                  <a:srgbClr val="F5C6C0"/>
                </a:solidFill>
                <a:latin typeface="Calibri" pitchFamily="34" charset="0"/>
                <a:ea typeface="Calibri" pitchFamily="34" charset="-122"/>
                <a:cs typeface="Calibri" pitchFamily="34" charset="-120"/>
              </a:rPr>
              <a:t>Needs special tools</a:t>
            </a:r>
            <a:endParaRPr lang="en-US" sz="1050" dirty="0"/>
          </a:p>
        </p:txBody>
      </p:sp>
      <p:sp>
        <p:nvSpPr>
          <p:cNvPr id="28" name="Text 25"/>
          <p:cNvSpPr/>
          <p:nvPr/>
        </p:nvSpPr>
        <p:spPr>
          <a:xfrm>
            <a:off x="6629400" y="4471416"/>
            <a:ext cx="1188720" cy="365760"/>
          </a:xfrm>
          <a:prstGeom prst="rect">
            <a:avLst/>
          </a:prstGeom>
          <a:noFill/>
          <a:ln/>
        </p:spPr>
        <p:txBody>
          <a:bodyPr wrap="square" rtlCol="0" anchor="ctr"/>
          <a:lstStyle/>
          <a:p>
            <a:pPr indent="0" marL="0">
              <a:buNone/>
            </a:pPr>
            <a:r>
              <a:rPr lang="en-US" sz="1050" b="1" dirty="0">
                <a:solidFill>
                  <a:srgbClr val="BBDDEA"/>
                </a:solidFill>
                <a:latin typeface="Calibri" pitchFamily="34" charset="0"/>
                <a:ea typeface="Calibri" pitchFamily="34" charset="-122"/>
                <a:cs typeface="Calibri" pitchFamily="34" charset="-120"/>
              </a:rPr>
              <a:t>Example</a:t>
            </a:r>
            <a:endParaRPr lang="en-US" sz="1050" dirty="0"/>
          </a:p>
        </p:txBody>
      </p:sp>
      <p:sp>
        <p:nvSpPr>
          <p:cNvPr id="29" name="Text 26"/>
          <p:cNvSpPr/>
          <p:nvPr/>
        </p:nvSpPr>
        <p:spPr>
          <a:xfrm>
            <a:off x="7863840" y="4471416"/>
            <a:ext cx="169164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Sales spreadsheet</a:t>
            </a:r>
            <a:endParaRPr lang="en-US" sz="1050" dirty="0"/>
          </a:p>
        </p:txBody>
      </p:sp>
      <p:sp>
        <p:nvSpPr>
          <p:cNvPr id="30" name="Text 27"/>
          <p:cNvSpPr/>
          <p:nvPr/>
        </p:nvSpPr>
        <p:spPr>
          <a:xfrm>
            <a:off x="9601200" y="4471416"/>
            <a:ext cx="1828800" cy="365760"/>
          </a:xfrm>
          <a:prstGeom prst="rect">
            <a:avLst/>
          </a:prstGeom>
          <a:noFill/>
          <a:ln/>
        </p:spPr>
        <p:txBody>
          <a:bodyPr wrap="square" rtlCol="0" anchor="ctr"/>
          <a:lstStyle/>
          <a:p>
            <a:pPr indent="0" marL="0">
              <a:buNone/>
            </a:pPr>
            <a:r>
              <a:rPr lang="en-US" sz="1050" dirty="0">
                <a:solidFill>
                  <a:srgbClr val="F5C6C0"/>
                </a:solidFill>
                <a:latin typeface="Calibri" pitchFamily="34" charset="0"/>
                <a:ea typeface="Calibri" pitchFamily="34" charset="-122"/>
                <a:cs typeface="Calibri" pitchFamily="34" charset="-120"/>
              </a:rPr>
              <a:t>Customer photos</a:t>
            </a:r>
            <a:endParaRPr lang="en-US" sz="1050" dirty="0"/>
          </a:p>
        </p:txBody>
      </p:sp>
      <p:sp>
        <p:nvSpPr>
          <p:cNvPr id="31" name="Text 28"/>
          <p:cNvSpPr/>
          <p:nvPr/>
        </p:nvSpPr>
        <p:spPr>
          <a:xfrm>
            <a:off x="640080" y="4937760"/>
            <a:ext cx="10881360" cy="365760"/>
          </a:xfrm>
          <a:prstGeom prst="rect">
            <a:avLst/>
          </a:prstGeom>
          <a:noFill/>
          <a:ln/>
        </p:spPr>
        <p:txBody>
          <a:bodyPr wrap="square" rtlCol="0" anchor="ctr"/>
          <a:lstStyle/>
          <a:p>
            <a:pPr indent="0" marL="0">
              <a:buNone/>
            </a:pPr>
            <a:r>
              <a:rPr lang="en-US" sz="1150" i="1" dirty="0">
                <a:solidFill>
                  <a:srgbClr val="5B6672"/>
                </a:solidFill>
                <a:latin typeface="Calibri" pitchFamily="34" charset="0"/>
                <a:ea typeface="Calibri" pitchFamily="34" charset="-122"/>
                <a:cs typeface="Calibri" pitchFamily="34" charset="-120"/>
              </a:rPr>
              <a:t>Coming up: real-world examples and the challenges of working with unstructured data →</a:t>
            </a:r>
            <a:endParaRPr lang="en-US" sz="1150" dirty="0"/>
          </a:p>
        </p:txBody>
      </p:sp>
      <p:sp>
        <p:nvSpPr>
          <p:cNvPr id="33" name="Text 29"/>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64008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Unstructured Data — Examples &amp; Challenges</a:t>
            </a:r>
            <a:endParaRPr lang="en-US" sz="2600" dirty="0"/>
          </a:p>
        </p:txBody>
      </p:sp>
      <p:sp>
        <p:nvSpPr>
          <p:cNvPr id="3" name="Shape 1"/>
          <p:cNvSpPr/>
          <p:nvPr/>
        </p:nvSpPr>
        <p:spPr>
          <a:xfrm>
            <a:off x="640080" y="1051560"/>
            <a:ext cx="10881360" cy="0"/>
          </a:xfrm>
          <a:prstGeom prst="line">
            <a:avLst/>
          </a:prstGeom>
          <a:noFill/>
          <a:ln w="12700">
            <a:solidFill>
              <a:srgbClr val="D6E3E9"/>
            </a:solidFill>
            <a:prstDash val="solid"/>
          </a:ln>
        </p:spPr>
      </p:sp>
      <p:sp>
        <p:nvSpPr>
          <p:cNvPr id="4" name="Text 2"/>
          <p:cNvSpPr/>
          <p:nvPr/>
        </p:nvSpPr>
        <p:spPr>
          <a:xfrm>
            <a:off x="640080" y="1234440"/>
            <a:ext cx="7315200" cy="320040"/>
          </a:xfrm>
          <a:prstGeom prst="rect">
            <a:avLst/>
          </a:prstGeom>
          <a:noFill/>
          <a:ln/>
        </p:spPr>
        <p:txBody>
          <a:bodyPr wrap="square"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Common Sources of Unstructured Data</a:t>
            </a:r>
            <a:endParaRPr lang="en-US" sz="1400" dirty="0"/>
          </a:p>
        </p:txBody>
      </p:sp>
      <p:sp>
        <p:nvSpPr>
          <p:cNvPr id="5" name="Shape 3"/>
          <p:cNvSpPr/>
          <p:nvPr/>
        </p:nvSpPr>
        <p:spPr>
          <a:xfrm>
            <a:off x="640080" y="1645920"/>
            <a:ext cx="3520440" cy="1051560"/>
          </a:xfrm>
          <a:prstGeom prst="roundRect">
            <a:avLst>
              <a:gd name="adj" fmla="val 6957"/>
            </a:avLst>
          </a:prstGeom>
          <a:solidFill>
            <a:srgbClr val="E8F1F5"/>
          </a:solidFill>
          <a:ln/>
        </p:spPr>
      </p:sp>
      <p:sp>
        <p:nvSpPr>
          <p:cNvPr id="6" name="Shape 4"/>
          <p:cNvSpPr/>
          <p:nvPr/>
        </p:nvSpPr>
        <p:spPr>
          <a:xfrm>
            <a:off x="786384" y="1860804"/>
            <a:ext cx="621792" cy="621792"/>
          </a:xfrm>
          <a:prstGeom prst="ellipse">
            <a:avLst/>
          </a:prstGeom>
          <a:solidFill>
            <a:srgbClr val="C0392B"/>
          </a:solidFill>
          <a:ln/>
        </p:spPr>
      </p:sp>
      <p:pic>
        <p:nvPicPr>
          <p:cNvPr id="7" name="Image 0" descr="/home/claude/ppt/icons/text_analytics.png">    </p:cNvPr>
          <p:cNvPicPr>
            <a:picLocks noChangeAspect="1"/>
          </p:cNvPicPr>
          <p:nvPr/>
        </p:nvPicPr>
        <p:blipFill>
          <a:blip r:embed="rId1"/>
          <a:stretch>
            <a:fillRect/>
          </a:stretch>
        </p:blipFill>
        <p:spPr>
          <a:xfrm>
            <a:off x="948050" y="2022470"/>
            <a:ext cx="298460" cy="298460"/>
          </a:xfrm>
          <a:prstGeom prst="rect">
            <a:avLst/>
          </a:prstGeom>
        </p:spPr>
      </p:pic>
      <p:sp>
        <p:nvSpPr>
          <p:cNvPr id="8" name="Text 5"/>
          <p:cNvSpPr/>
          <p:nvPr/>
        </p:nvSpPr>
        <p:spPr>
          <a:xfrm>
            <a:off x="1536192" y="1810512"/>
            <a:ext cx="2514600" cy="32004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Text Documents</a:t>
            </a:r>
            <a:endParaRPr lang="en-US" sz="1300" dirty="0"/>
          </a:p>
        </p:txBody>
      </p:sp>
      <p:sp>
        <p:nvSpPr>
          <p:cNvPr id="9" name="Text 6"/>
          <p:cNvSpPr/>
          <p:nvPr/>
        </p:nvSpPr>
        <p:spPr>
          <a:xfrm>
            <a:off x="1536192" y="2130552"/>
            <a:ext cx="2468880" cy="502920"/>
          </a:xfrm>
          <a:prstGeom prst="rect">
            <a:avLst/>
          </a:prstGeom>
          <a:noFill/>
          <a:ln/>
        </p:spPr>
        <p:txBody>
          <a:bodyPr wrap="square" rtlCol="0" anchor="ctr"/>
          <a:lstStyle/>
          <a:p>
            <a:pPr indent="0" marL="0">
              <a:lnSpc>
                <a:spcPts val="1200"/>
              </a:lnSpc>
              <a:buNone/>
            </a:pPr>
            <a:r>
              <a:rPr lang="en-US" sz="1000" dirty="0">
                <a:solidFill>
                  <a:srgbClr val="1B1F27"/>
                </a:solidFill>
                <a:latin typeface="Calibri" pitchFamily="34" charset="0"/>
                <a:ea typeface="Calibri" pitchFamily="34" charset="-122"/>
                <a:cs typeface="Calibri" pitchFamily="34" charset="-120"/>
              </a:rPr>
              <a:t>Emails, Word files, PDFs, chat logs</a:t>
            </a:r>
            <a:endParaRPr lang="en-US" sz="1000" dirty="0"/>
          </a:p>
        </p:txBody>
      </p:sp>
      <p:sp>
        <p:nvSpPr>
          <p:cNvPr id="10" name="Shape 7"/>
          <p:cNvSpPr/>
          <p:nvPr/>
        </p:nvSpPr>
        <p:spPr>
          <a:xfrm>
            <a:off x="4343400" y="1645920"/>
            <a:ext cx="3520440" cy="1051560"/>
          </a:xfrm>
          <a:prstGeom prst="roundRect">
            <a:avLst>
              <a:gd name="adj" fmla="val 6957"/>
            </a:avLst>
          </a:prstGeom>
          <a:solidFill>
            <a:srgbClr val="E8F1F5"/>
          </a:solidFill>
          <a:ln/>
        </p:spPr>
      </p:sp>
      <p:sp>
        <p:nvSpPr>
          <p:cNvPr id="11" name="Shape 8"/>
          <p:cNvSpPr/>
          <p:nvPr/>
        </p:nvSpPr>
        <p:spPr>
          <a:xfrm>
            <a:off x="4489704" y="1860804"/>
            <a:ext cx="621792" cy="621792"/>
          </a:xfrm>
          <a:prstGeom prst="ellipse">
            <a:avLst/>
          </a:prstGeom>
          <a:solidFill>
            <a:srgbClr val="C0392B"/>
          </a:solidFill>
          <a:ln/>
        </p:spPr>
      </p:sp>
      <p:pic>
        <p:nvPicPr>
          <p:cNvPr id="12" name="Image 1" descr="/home/claude/ppt/icons/image_icon.png">    </p:cNvPr>
          <p:cNvPicPr>
            <a:picLocks noChangeAspect="1"/>
          </p:cNvPicPr>
          <p:nvPr/>
        </p:nvPicPr>
        <p:blipFill>
          <a:blip r:embed="rId2"/>
          <a:stretch>
            <a:fillRect/>
          </a:stretch>
        </p:blipFill>
        <p:spPr>
          <a:xfrm>
            <a:off x="4651370" y="2022470"/>
            <a:ext cx="298460" cy="298460"/>
          </a:xfrm>
          <a:prstGeom prst="rect">
            <a:avLst/>
          </a:prstGeom>
        </p:spPr>
      </p:pic>
      <p:sp>
        <p:nvSpPr>
          <p:cNvPr id="13" name="Text 9"/>
          <p:cNvSpPr/>
          <p:nvPr/>
        </p:nvSpPr>
        <p:spPr>
          <a:xfrm>
            <a:off x="5239512" y="1810512"/>
            <a:ext cx="2514600" cy="32004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Images</a:t>
            </a:r>
            <a:endParaRPr lang="en-US" sz="1300" dirty="0"/>
          </a:p>
        </p:txBody>
      </p:sp>
      <p:sp>
        <p:nvSpPr>
          <p:cNvPr id="14" name="Text 10"/>
          <p:cNvSpPr/>
          <p:nvPr/>
        </p:nvSpPr>
        <p:spPr>
          <a:xfrm>
            <a:off x="5239512" y="2130552"/>
            <a:ext cx="2468880" cy="502920"/>
          </a:xfrm>
          <a:prstGeom prst="rect">
            <a:avLst/>
          </a:prstGeom>
          <a:noFill/>
          <a:ln/>
        </p:spPr>
        <p:txBody>
          <a:bodyPr wrap="square" rtlCol="0" anchor="ctr"/>
          <a:lstStyle/>
          <a:p>
            <a:pPr indent="0" marL="0">
              <a:lnSpc>
                <a:spcPts val="1200"/>
              </a:lnSpc>
              <a:buNone/>
            </a:pPr>
            <a:r>
              <a:rPr lang="en-US" sz="1000" dirty="0">
                <a:solidFill>
                  <a:srgbClr val="1B1F27"/>
                </a:solidFill>
                <a:latin typeface="Calibri" pitchFamily="34" charset="0"/>
                <a:ea typeface="Calibri" pitchFamily="34" charset="-122"/>
                <a:cs typeface="Calibri" pitchFamily="34" charset="-120"/>
              </a:rPr>
              <a:t>Photos, scanned documents, satellite images</a:t>
            </a:r>
            <a:endParaRPr lang="en-US" sz="1000" dirty="0"/>
          </a:p>
        </p:txBody>
      </p:sp>
      <p:sp>
        <p:nvSpPr>
          <p:cNvPr id="15" name="Shape 11"/>
          <p:cNvSpPr/>
          <p:nvPr/>
        </p:nvSpPr>
        <p:spPr>
          <a:xfrm>
            <a:off x="8046720" y="1645920"/>
            <a:ext cx="3520440" cy="1051560"/>
          </a:xfrm>
          <a:prstGeom prst="roundRect">
            <a:avLst>
              <a:gd name="adj" fmla="val 6957"/>
            </a:avLst>
          </a:prstGeom>
          <a:solidFill>
            <a:srgbClr val="E8F1F5"/>
          </a:solidFill>
          <a:ln/>
        </p:spPr>
      </p:sp>
      <p:sp>
        <p:nvSpPr>
          <p:cNvPr id="16" name="Shape 12"/>
          <p:cNvSpPr/>
          <p:nvPr/>
        </p:nvSpPr>
        <p:spPr>
          <a:xfrm>
            <a:off x="8193024" y="1860804"/>
            <a:ext cx="621792" cy="621792"/>
          </a:xfrm>
          <a:prstGeom prst="ellipse">
            <a:avLst/>
          </a:prstGeom>
          <a:solidFill>
            <a:srgbClr val="C0392B"/>
          </a:solidFill>
          <a:ln/>
        </p:spPr>
      </p:sp>
      <p:pic>
        <p:nvPicPr>
          <p:cNvPr id="17" name="Image 2" descr="/home/claude/ppt/icons/video_icon.png">    </p:cNvPr>
          <p:cNvPicPr>
            <a:picLocks noChangeAspect="1"/>
          </p:cNvPicPr>
          <p:nvPr/>
        </p:nvPicPr>
        <p:blipFill>
          <a:blip r:embed="rId3"/>
          <a:stretch>
            <a:fillRect/>
          </a:stretch>
        </p:blipFill>
        <p:spPr>
          <a:xfrm>
            <a:off x="8354690" y="2022470"/>
            <a:ext cx="298460" cy="298460"/>
          </a:xfrm>
          <a:prstGeom prst="rect">
            <a:avLst/>
          </a:prstGeom>
        </p:spPr>
      </p:pic>
      <p:sp>
        <p:nvSpPr>
          <p:cNvPr id="18" name="Text 13"/>
          <p:cNvSpPr/>
          <p:nvPr/>
        </p:nvSpPr>
        <p:spPr>
          <a:xfrm>
            <a:off x="8942832" y="1810512"/>
            <a:ext cx="2514600" cy="32004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Video</a:t>
            </a:r>
            <a:endParaRPr lang="en-US" sz="1300" dirty="0"/>
          </a:p>
        </p:txBody>
      </p:sp>
      <p:sp>
        <p:nvSpPr>
          <p:cNvPr id="19" name="Text 14"/>
          <p:cNvSpPr/>
          <p:nvPr/>
        </p:nvSpPr>
        <p:spPr>
          <a:xfrm>
            <a:off x="8942832" y="2130552"/>
            <a:ext cx="2468880" cy="502920"/>
          </a:xfrm>
          <a:prstGeom prst="rect">
            <a:avLst/>
          </a:prstGeom>
          <a:noFill/>
          <a:ln/>
        </p:spPr>
        <p:txBody>
          <a:bodyPr wrap="square" rtlCol="0" anchor="ctr"/>
          <a:lstStyle/>
          <a:p>
            <a:pPr indent="0" marL="0">
              <a:lnSpc>
                <a:spcPts val="1200"/>
              </a:lnSpc>
              <a:buNone/>
            </a:pPr>
            <a:r>
              <a:rPr lang="en-US" sz="1000" dirty="0">
                <a:solidFill>
                  <a:srgbClr val="1B1F27"/>
                </a:solidFill>
                <a:latin typeface="Calibri" pitchFamily="34" charset="0"/>
                <a:ea typeface="Calibri" pitchFamily="34" charset="-122"/>
                <a:cs typeface="Calibri" pitchFamily="34" charset="-120"/>
              </a:rPr>
              <a:t>YouTube uploads, security camera footage</a:t>
            </a:r>
            <a:endParaRPr lang="en-US" sz="1000" dirty="0"/>
          </a:p>
        </p:txBody>
      </p:sp>
      <p:sp>
        <p:nvSpPr>
          <p:cNvPr id="20" name="Shape 15"/>
          <p:cNvSpPr/>
          <p:nvPr/>
        </p:nvSpPr>
        <p:spPr>
          <a:xfrm>
            <a:off x="640080" y="2862072"/>
            <a:ext cx="3520440" cy="1051560"/>
          </a:xfrm>
          <a:prstGeom prst="roundRect">
            <a:avLst>
              <a:gd name="adj" fmla="val 6957"/>
            </a:avLst>
          </a:prstGeom>
          <a:solidFill>
            <a:srgbClr val="E8F1F5"/>
          </a:solidFill>
          <a:ln/>
        </p:spPr>
      </p:sp>
      <p:sp>
        <p:nvSpPr>
          <p:cNvPr id="21" name="Shape 16"/>
          <p:cNvSpPr/>
          <p:nvPr/>
        </p:nvSpPr>
        <p:spPr>
          <a:xfrm>
            <a:off x="786384" y="3076956"/>
            <a:ext cx="621792" cy="621792"/>
          </a:xfrm>
          <a:prstGeom prst="ellipse">
            <a:avLst/>
          </a:prstGeom>
          <a:solidFill>
            <a:srgbClr val="C0392B"/>
          </a:solidFill>
          <a:ln/>
        </p:spPr>
      </p:sp>
      <p:pic>
        <p:nvPicPr>
          <p:cNvPr id="22" name="Image 3" descr="/home/claude/ppt/icons/audio_icon.png">    </p:cNvPr>
          <p:cNvPicPr>
            <a:picLocks noChangeAspect="1"/>
          </p:cNvPicPr>
          <p:nvPr/>
        </p:nvPicPr>
        <p:blipFill>
          <a:blip r:embed="rId4"/>
          <a:stretch>
            <a:fillRect/>
          </a:stretch>
        </p:blipFill>
        <p:spPr>
          <a:xfrm>
            <a:off x="948050" y="3238622"/>
            <a:ext cx="298460" cy="298460"/>
          </a:xfrm>
          <a:prstGeom prst="rect">
            <a:avLst/>
          </a:prstGeom>
        </p:spPr>
      </p:pic>
      <p:sp>
        <p:nvSpPr>
          <p:cNvPr id="23" name="Text 17"/>
          <p:cNvSpPr/>
          <p:nvPr/>
        </p:nvSpPr>
        <p:spPr>
          <a:xfrm>
            <a:off x="1536192" y="3026664"/>
            <a:ext cx="2514600" cy="32004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Audio</a:t>
            </a:r>
            <a:endParaRPr lang="en-US" sz="1300" dirty="0"/>
          </a:p>
        </p:txBody>
      </p:sp>
      <p:sp>
        <p:nvSpPr>
          <p:cNvPr id="24" name="Text 18"/>
          <p:cNvSpPr/>
          <p:nvPr/>
        </p:nvSpPr>
        <p:spPr>
          <a:xfrm>
            <a:off x="1536192" y="3346704"/>
            <a:ext cx="2468880" cy="502920"/>
          </a:xfrm>
          <a:prstGeom prst="rect">
            <a:avLst/>
          </a:prstGeom>
          <a:noFill/>
          <a:ln/>
        </p:spPr>
        <p:txBody>
          <a:bodyPr wrap="square" rtlCol="0" anchor="ctr"/>
          <a:lstStyle/>
          <a:p>
            <a:pPr indent="0" marL="0">
              <a:lnSpc>
                <a:spcPts val="1200"/>
              </a:lnSpc>
              <a:buNone/>
            </a:pPr>
            <a:r>
              <a:rPr lang="en-US" sz="1000" dirty="0">
                <a:solidFill>
                  <a:srgbClr val="1B1F27"/>
                </a:solidFill>
                <a:latin typeface="Calibri" pitchFamily="34" charset="0"/>
                <a:ea typeface="Calibri" pitchFamily="34" charset="-122"/>
                <a:cs typeface="Calibri" pitchFamily="34" charset="-120"/>
              </a:rPr>
              <a:t>Voice recordings, podcasts, call-center calls</a:t>
            </a:r>
            <a:endParaRPr lang="en-US" sz="1000" dirty="0"/>
          </a:p>
        </p:txBody>
      </p:sp>
      <p:sp>
        <p:nvSpPr>
          <p:cNvPr id="25" name="Shape 19"/>
          <p:cNvSpPr/>
          <p:nvPr/>
        </p:nvSpPr>
        <p:spPr>
          <a:xfrm>
            <a:off x="4343400" y="2862072"/>
            <a:ext cx="3520440" cy="1051560"/>
          </a:xfrm>
          <a:prstGeom prst="roundRect">
            <a:avLst>
              <a:gd name="adj" fmla="val 6957"/>
            </a:avLst>
          </a:prstGeom>
          <a:solidFill>
            <a:srgbClr val="E8F1F5"/>
          </a:solidFill>
          <a:ln/>
        </p:spPr>
      </p:sp>
      <p:sp>
        <p:nvSpPr>
          <p:cNvPr id="26" name="Shape 20"/>
          <p:cNvSpPr/>
          <p:nvPr/>
        </p:nvSpPr>
        <p:spPr>
          <a:xfrm>
            <a:off x="4489704" y="3076956"/>
            <a:ext cx="621792" cy="621792"/>
          </a:xfrm>
          <a:prstGeom prst="ellipse">
            <a:avLst/>
          </a:prstGeom>
          <a:solidFill>
            <a:srgbClr val="C0392B"/>
          </a:solidFill>
          <a:ln/>
        </p:spPr>
      </p:sp>
      <p:pic>
        <p:nvPicPr>
          <p:cNvPr id="27" name="Image 4" descr="/home/claude/ppt/icons/social_icon.png">    </p:cNvPr>
          <p:cNvPicPr>
            <a:picLocks noChangeAspect="1"/>
          </p:cNvPicPr>
          <p:nvPr/>
        </p:nvPicPr>
        <p:blipFill>
          <a:blip r:embed="rId5"/>
          <a:stretch>
            <a:fillRect/>
          </a:stretch>
        </p:blipFill>
        <p:spPr>
          <a:xfrm>
            <a:off x="4651370" y="3238622"/>
            <a:ext cx="298460" cy="298460"/>
          </a:xfrm>
          <a:prstGeom prst="rect">
            <a:avLst/>
          </a:prstGeom>
        </p:spPr>
      </p:pic>
      <p:sp>
        <p:nvSpPr>
          <p:cNvPr id="28" name="Text 21"/>
          <p:cNvSpPr/>
          <p:nvPr/>
        </p:nvSpPr>
        <p:spPr>
          <a:xfrm>
            <a:off x="5239512" y="3026664"/>
            <a:ext cx="2514600" cy="32004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Social Media</a:t>
            </a:r>
            <a:endParaRPr lang="en-US" sz="1300" dirty="0"/>
          </a:p>
        </p:txBody>
      </p:sp>
      <p:sp>
        <p:nvSpPr>
          <p:cNvPr id="29" name="Text 22"/>
          <p:cNvSpPr/>
          <p:nvPr/>
        </p:nvSpPr>
        <p:spPr>
          <a:xfrm>
            <a:off x="5239512" y="3346704"/>
            <a:ext cx="2468880" cy="502920"/>
          </a:xfrm>
          <a:prstGeom prst="rect">
            <a:avLst/>
          </a:prstGeom>
          <a:noFill/>
          <a:ln/>
        </p:spPr>
        <p:txBody>
          <a:bodyPr wrap="square" rtlCol="0" anchor="ctr"/>
          <a:lstStyle/>
          <a:p>
            <a:pPr indent="0" marL="0">
              <a:lnSpc>
                <a:spcPts val="1200"/>
              </a:lnSpc>
              <a:buNone/>
            </a:pPr>
            <a:r>
              <a:rPr lang="en-US" sz="1000" dirty="0">
                <a:solidFill>
                  <a:srgbClr val="1B1F27"/>
                </a:solidFill>
                <a:latin typeface="Calibri" pitchFamily="34" charset="0"/>
                <a:ea typeface="Calibri" pitchFamily="34" charset="-122"/>
                <a:cs typeface="Calibri" pitchFamily="34" charset="-120"/>
              </a:rPr>
              <a:t>Tweets, posts, comments, shares</a:t>
            </a:r>
            <a:endParaRPr lang="en-US" sz="1000" dirty="0"/>
          </a:p>
        </p:txBody>
      </p:sp>
      <p:sp>
        <p:nvSpPr>
          <p:cNvPr id="30" name="Shape 23"/>
          <p:cNvSpPr/>
          <p:nvPr/>
        </p:nvSpPr>
        <p:spPr>
          <a:xfrm>
            <a:off x="8046720" y="2862072"/>
            <a:ext cx="3520440" cy="1051560"/>
          </a:xfrm>
          <a:prstGeom prst="roundRect">
            <a:avLst>
              <a:gd name="adj" fmla="val 6957"/>
            </a:avLst>
          </a:prstGeom>
          <a:solidFill>
            <a:srgbClr val="E8F1F5"/>
          </a:solidFill>
          <a:ln/>
        </p:spPr>
      </p:sp>
      <p:sp>
        <p:nvSpPr>
          <p:cNvPr id="31" name="Shape 24"/>
          <p:cNvSpPr/>
          <p:nvPr/>
        </p:nvSpPr>
        <p:spPr>
          <a:xfrm>
            <a:off x="8193024" y="3076956"/>
            <a:ext cx="621792" cy="621792"/>
          </a:xfrm>
          <a:prstGeom prst="ellipse">
            <a:avLst/>
          </a:prstGeom>
          <a:solidFill>
            <a:srgbClr val="C0392B"/>
          </a:solidFill>
          <a:ln/>
        </p:spPr>
      </p:sp>
      <p:pic>
        <p:nvPicPr>
          <p:cNvPr id="32" name="Image 5" descr="/home/claude/ppt/icons/web_analytics.png">    </p:cNvPr>
          <p:cNvPicPr>
            <a:picLocks noChangeAspect="1"/>
          </p:cNvPicPr>
          <p:nvPr/>
        </p:nvPicPr>
        <p:blipFill>
          <a:blip r:embed="rId6"/>
          <a:stretch>
            <a:fillRect/>
          </a:stretch>
        </p:blipFill>
        <p:spPr>
          <a:xfrm>
            <a:off x="8354690" y="3238622"/>
            <a:ext cx="298460" cy="298460"/>
          </a:xfrm>
          <a:prstGeom prst="rect">
            <a:avLst/>
          </a:prstGeom>
        </p:spPr>
      </p:pic>
      <p:sp>
        <p:nvSpPr>
          <p:cNvPr id="33" name="Text 25"/>
          <p:cNvSpPr/>
          <p:nvPr/>
        </p:nvSpPr>
        <p:spPr>
          <a:xfrm>
            <a:off x="8942832" y="3026664"/>
            <a:ext cx="2514600" cy="32004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Web Content</a:t>
            </a:r>
            <a:endParaRPr lang="en-US" sz="1300" dirty="0"/>
          </a:p>
        </p:txBody>
      </p:sp>
      <p:sp>
        <p:nvSpPr>
          <p:cNvPr id="34" name="Text 26"/>
          <p:cNvSpPr/>
          <p:nvPr/>
        </p:nvSpPr>
        <p:spPr>
          <a:xfrm>
            <a:off x="8942832" y="3346704"/>
            <a:ext cx="2468880" cy="502920"/>
          </a:xfrm>
          <a:prstGeom prst="rect">
            <a:avLst/>
          </a:prstGeom>
          <a:noFill/>
          <a:ln/>
        </p:spPr>
        <p:txBody>
          <a:bodyPr wrap="square" rtlCol="0" anchor="ctr"/>
          <a:lstStyle/>
          <a:p>
            <a:pPr indent="0" marL="0">
              <a:lnSpc>
                <a:spcPts val="1200"/>
              </a:lnSpc>
              <a:buNone/>
            </a:pPr>
            <a:r>
              <a:rPr lang="en-US" sz="1000" dirty="0">
                <a:solidFill>
                  <a:srgbClr val="1B1F27"/>
                </a:solidFill>
                <a:latin typeface="Calibri" pitchFamily="34" charset="0"/>
                <a:ea typeface="Calibri" pitchFamily="34" charset="-122"/>
                <a:cs typeface="Calibri" pitchFamily="34" charset="-120"/>
              </a:rPr>
              <a:t>Web pages, blogs, forum discussions</a:t>
            </a:r>
            <a:endParaRPr lang="en-US" sz="1000" dirty="0"/>
          </a:p>
        </p:txBody>
      </p:sp>
      <p:sp>
        <p:nvSpPr>
          <p:cNvPr id="35" name="Shape 27"/>
          <p:cNvSpPr/>
          <p:nvPr/>
        </p:nvSpPr>
        <p:spPr>
          <a:xfrm>
            <a:off x="640080" y="4160520"/>
            <a:ext cx="10908792" cy="1417320"/>
          </a:xfrm>
          <a:prstGeom prst="roundRect">
            <a:avLst>
              <a:gd name="adj" fmla="val 5161"/>
            </a:avLst>
          </a:prstGeom>
          <a:solidFill>
            <a:srgbClr val="21295C"/>
          </a:solidFill>
          <a:ln/>
        </p:spPr>
      </p:sp>
      <p:sp>
        <p:nvSpPr>
          <p:cNvPr id="36" name="Text 28"/>
          <p:cNvSpPr/>
          <p:nvPr/>
        </p:nvSpPr>
        <p:spPr>
          <a:xfrm>
            <a:off x="914400" y="4297680"/>
            <a:ext cx="4572000" cy="320040"/>
          </a:xfrm>
          <a:prstGeom prst="rect">
            <a:avLst/>
          </a:prstGeom>
          <a:noFill/>
          <a:ln/>
        </p:spPr>
        <p:txBody>
          <a:bodyPr wrap="square" rtlCol="0" anchor="ctr"/>
          <a:lstStyle/>
          <a:p>
            <a:pPr indent="0" marL="0">
              <a:buNone/>
            </a:pPr>
            <a:r>
              <a:rPr lang="en-US" sz="1300" b="1" dirty="0">
                <a:solidFill>
                  <a:srgbClr val="9FC4DA"/>
                </a:solidFill>
                <a:latin typeface="Calibri" pitchFamily="34" charset="0"/>
                <a:ea typeface="Calibri" pitchFamily="34" charset="-122"/>
                <a:cs typeface="Calibri" pitchFamily="34" charset="-120"/>
              </a:rPr>
              <a:t>Key Challenges</a:t>
            </a:r>
            <a:endParaRPr lang="en-US" sz="1300" dirty="0"/>
          </a:p>
        </p:txBody>
      </p:sp>
      <p:sp>
        <p:nvSpPr>
          <p:cNvPr id="37" name="Text 29"/>
          <p:cNvSpPr/>
          <p:nvPr/>
        </p:nvSpPr>
        <p:spPr>
          <a:xfrm>
            <a:off x="914400" y="4617720"/>
            <a:ext cx="10332720" cy="914400"/>
          </a:xfrm>
          <a:prstGeom prst="rect">
            <a:avLst/>
          </a:prstGeom>
          <a:noFill/>
          <a:ln/>
        </p:spPr>
        <p:txBody>
          <a:bodyPr wrap="square" rtlCol="0" anchor="ctr"/>
          <a:lstStyle/>
          <a:p>
            <a:pPr indent="0" marL="0">
              <a:lnSpc>
                <a:spcPts val="1700"/>
              </a:lnSpc>
              <a:buNone/>
            </a:pPr>
            <a:r>
              <a:rPr lang="en-US" sz="1200" dirty="0">
                <a:solidFill>
                  <a:srgbClr val="FFFFFF"/>
                </a:solidFill>
                <a:latin typeface="Calibri" pitchFamily="34" charset="0"/>
                <a:ea typeface="Calibri" pitchFamily="34" charset="-122"/>
                <a:cs typeface="Calibri" pitchFamily="34" charset="-120"/>
              </a:rPr>
              <a:t>•  Hard to store in traditional databases — needs data lakes or NoSQL systems
</a:t>
            </a:r>
            <a:pPr indent="0" marL="0">
              <a:lnSpc>
                <a:spcPts val="1700"/>
              </a:lnSpc>
              <a:buNone/>
            </a:pPr>
            <a:r>
              <a:rPr lang="en-US" sz="1200" dirty="0">
                <a:solidFill>
                  <a:srgbClr val="FFFFFF"/>
                </a:solidFill>
                <a:latin typeface="Calibri" pitchFamily="34" charset="0"/>
                <a:ea typeface="Calibri" pitchFamily="34" charset="-122"/>
                <a:cs typeface="Calibri" pitchFamily="34" charset="-120"/>
              </a:rPr>
              <a:t>•  Requires specialized tools (AI/ML, NLP, computer vision) to extract meaning
</a:t>
            </a:r>
            <a:pPr indent="0" marL="0">
              <a:lnSpc>
                <a:spcPts val="1700"/>
              </a:lnSpc>
              <a:buNone/>
            </a:pPr>
            <a:r>
              <a:rPr lang="en-US" sz="1200" dirty="0">
                <a:solidFill>
                  <a:srgbClr val="FFFFFF"/>
                </a:solidFill>
                <a:latin typeface="Calibri" pitchFamily="34" charset="0"/>
                <a:ea typeface="Calibri" pitchFamily="34" charset="-122"/>
                <a:cs typeface="Calibri" pitchFamily="34" charset="-120"/>
              </a:rPr>
              <a:t>•  Harder and more expensive to search, index, and analyze than structured data</a:t>
            </a:r>
            <a:endParaRPr lang="en-US" sz="1200" dirty="0"/>
          </a:p>
        </p:txBody>
      </p:sp>
      <p:sp>
        <p:nvSpPr>
          <p:cNvPr id="39" name="Text 3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6B8F71"/>
          </a:solidFill>
          <a:ln/>
        </p:spPr>
      </p:sp>
      <p:pic>
        <p:nvPicPr>
          <p:cNvPr id="3" name="Image 0" descr="/home/claude/ppt/icons/semi.png">    </p:cNvPr>
          <p:cNvPicPr>
            <a:picLocks noChangeAspect="1"/>
          </p:cNvPicPr>
          <p:nvPr/>
        </p:nvPicPr>
        <p:blipFill>
          <a:blip r:embed="rId1"/>
          <a:stretch>
            <a:fillRect/>
          </a:stretch>
        </p:blipFill>
        <p:spPr>
          <a:xfrm>
            <a:off x="854050" y="716890"/>
            <a:ext cx="395021" cy="395021"/>
          </a:xfrm>
          <a:prstGeom prst="rect">
            <a:avLst/>
          </a:prstGeom>
        </p:spPr>
      </p:pic>
      <p:sp>
        <p:nvSpPr>
          <p:cNvPr id="4" name="Text 1"/>
          <p:cNvSpPr/>
          <p:nvPr/>
        </p:nvSpPr>
        <p:spPr>
          <a:xfrm>
            <a:off x="1645920" y="502920"/>
            <a:ext cx="9601200" cy="457200"/>
          </a:xfrm>
          <a:prstGeom prst="rect">
            <a:avLst/>
          </a:prstGeom>
          <a:noFill/>
          <a:ln/>
        </p:spPr>
        <p:txBody>
          <a:bodyPr wrap="square" rtlCol="0" anchor="ctr"/>
          <a:lstStyle/>
          <a:p>
            <a:pPr indent="0" marL="0">
              <a:buNone/>
            </a:pPr>
            <a:r>
              <a:rPr lang="en-US" sz="2500" b="1" dirty="0">
                <a:solidFill>
                  <a:srgbClr val="21295C"/>
                </a:solidFill>
                <a:latin typeface="Cambria" pitchFamily="34" charset="0"/>
                <a:ea typeface="Cambria" pitchFamily="34" charset="-122"/>
                <a:cs typeface="Cambria" pitchFamily="34" charset="-120"/>
              </a:rPr>
              <a:t>Semi-Structured Data — The Middle Ground</a:t>
            </a:r>
            <a:endParaRPr lang="en-US" sz="2500" dirty="0"/>
          </a:p>
        </p:txBody>
      </p:sp>
      <p:sp>
        <p:nvSpPr>
          <p:cNvPr id="5" name="Shape 2"/>
          <p:cNvSpPr/>
          <p:nvPr/>
        </p:nvSpPr>
        <p:spPr>
          <a:xfrm>
            <a:off x="640080" y="1463040"/>
            <a:ext cx="10881360" cy="0"/>
          </a:xfrm>
          <a:prstGeom prst="line">
            <a:avLst/>
          </a:prstGeom>
          <a:noFill/>
          <a:ln w="12700">
            <a:solidFill>
              <a:srgbClr val="D6E3E9"/>
            </a:solidFill>
            <a:prstDash val="solid"/>
          </a:ln>
        </p:spPr>
      </p:sp>
      <p:sp>
        <p:nvSpPr>
          <p:cNvPr id="6" name="Text 3"/>
          <p:cNvSpPr/>
          <p:nvPr/>
        </p:nvSpPr>
        <p:spPr>
          <a:xfrm>
            <a:off x="640080" y="1691640"/>
            <a:ext cx="10881360" cy="685800"/>
          </a:xfrm>
          <a:prstGeom prst="rect">
            <a:avLst/>
          </a:prstGeom>
          <a:noFill/>
          <a:ln/>
        </p:spPr>
        <p:txBody>
          <a:bodyPr wrap="square" rtlCol="0" anchor="ctr"/>
          <a:lstStyle/>
          <a:p>
            <a:pPr indent="0" marL="0">
              <a:lnSpc>
                <a:spcPts val="1900"/>
              </a:lnSpc>
              <a:buNone/>
            </a:pPr>
            <a:r>
              <a:rPr lang="en-US" sz="1450" dirty="0">
                <a:solidFill>
                  <a:srgbClr val="1B1F27"/>
                </a:solidFill>
                <a:latin typeface="Calibri" pitchFamily="34" charset="0"/>
                <a:ea typeface="Calibri" pitchFamily="34" charset="-122"/>
                <a:cs typeface="Calibri" pitchFamily="34" charset="-120"/>
              </a:rPr>
              <a:t>Data that doesn't fit a rigid table structure, but still contains tags, labels, or markers that separate and organize its elements.</a:t>
            </a:r>
            <a:endParaRPr lang="en-US" sz="1450" dirty="0"/>
          </a:p>
        </p:txBody>
      </p:sp>
      <p:sp>
        <p:nvSpPr>
          <p:cNvPr id="7" name="Shape 4"/>
          <p:cNvSpPr/>
          <p:nvPr/>
        </p:nvSpPr>
        <p:spPr>
          <a:xfrm>
            <a:off x="640080" y="2697480"/>
            <a:ext cx="3590849" cy="502920"/>
          </a:xfrm>
          <a:prstGeom prst="rect">
            <a:avLst/>
          </a:prstGeom>
          <a:solidFill>
            <a:srgbClr val="065A82"/>
          </a:solidFill>
          <a:ln/>
        </p:spPr>
      </p:sp>
      <p:sp>
        <p:nvSpPr>
          <p:cNvPr id="8" name="Shape 5"/>
          <p:cNvSpPr/>
          <p:nvPr/>
        </p:nvSpPr>
        <p:spPr>
          <a:xfrm>
            <a:off x="4230929" y="2697480"/>
            <a:ext cx="3699662" cy="502920"/>
          </a:xfrm>
          <a:prstGeom prst="rect">
            <a:avLst/>
          </a:prstGeom>
          <a:solidFill>
            <a:srgbClr val="6B8F71"/>
          </a:solidFill>
          <a:ln/>
        </p:spPr>
      </p:sp>
      <p:sp>
        <p:nvSpPr>
          <p:cNvPr id="9" name="Shape 6"/>
          <p:cNvSpPr/>
          <p:nvPr/>
        </p:nvSpPr>
        <p:spPr>
          <a:xfrm>
            <a:off x="7930591" y="2697480"/>
            <a:ext cx="3590849" cy="502920"/>
          </a:xfrm>
          <a:prstGeom prst="rect">
            <a:avLst/>
          </a:prstGeom>
          <a:solidFill>
            <a:srgbClr val="C0392B"/>
          </a:solidFill>
          <a:ln/>
        </p:spPr>
      </p:sp>
      <p:sp>
        <p:nvSpPr>
          <p:cNvPr id="10" name="Text 7"/>
          <p:cNvSpPr/>
          <p:nvPr/>
        </p:nvSpPr>
        <p:spPr>
          <a:xfrm>
            <a:off x="640080" y="2697480"/>
            <a:ext cx="3590849"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STRUCTURED</a:t>
            </a:r>
            <a:endParaRPr lang="en-US" sz="1200" dirty="0"/>
          </a:p>
        </p:txBody>
      </p:sp>
      <p:sp>
        <p:nvSpPr>
          <p:cNvPr id="11" name="Text 8"/>
          <p:cNvSpPr/>
          <p:nvPr/>
        </p:nvSpPr>
        <p:spPr>
          <a:xfrm>
            <a:off x="4230929" y="2697480"/>
            <a:ext cx="3699662"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SEMI-STRUCTURED</a:t>
            </a:r>
            <a:endParaRPr lang="en-US" sz="1200" dirty="0"/>
          </a:p>
        </p:txBody>
      </p:sp>
      <p:sp>
        <p:nvSpPr>
          <p:cNvPr id="12" name="Text 9"/>
          <p:cNvSpPr/>
          <p:nvPr/>
        </p:nvSpPr>
        <p:spPr>
          <a:xfrm>
            <a:off x="7930591" y="2697480"/>
            <a:ext cx="3590849"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UNSTRUCTURED</a:t>
            </a:r>
            <a:endParaRPr lang="en-US" sz="1200" dirty="0"/>
          </a:p>
        </p:txBody>
      </p:sp>
      <p:sp>
        <p:nvSpPr>
          <p:cNvPr id="13" name="Text 10"/>
          <p:cNvSpPr/>
          <p:nvPr/>
        </p:nvSpPr>
        <p:spPr>
          <a:xfrm>
            <a:off x="640080" y="3520440"/>
            <a:ext cx="4572000" cy="320040"/>
          </a:xfrm>
          <a:prstGeom prst="rect">
            <a:avLst/>
          </a:prstGeom>
          <a:noFill/>
          <a:ln/>
        </p:spPr>
        <p:txBody>
          <a:bodyPr wrap="square" rtlCol="0" anchor="ctr"/>
          <a:lstStyle/>
          <a:p>
            <a:pPr indent="0" marL="0">
              <a:buNone/>
            </a:pPr>
            <a:r>
              <a:rPr lang="en-US" sz="1350" b="1" dirty="0">
                <a:solidFill>
                  <a:srgbClr val="6B8F71"/>
                </a:solidFill>
                <a:latin typeface="Calibri" pitchFamily="34" charset="0"/>
                <a:ea typeface="Calibri" pitchFamily="34" charset="-122"/>
                <a:cs typeface="Calibri" pitchFamily="34" charset="-120"/>
              </a:rPr>
              <a:t>Examples</a:t>
            </a:r>
            <a:endParaRPr lang="en-US" sz="1350" dirty="0"/>
          </a:p>
        </p:txBody>
      </p:sp>
      <p:sp>
        <p:nvSpPr>
          <p:cNvPr id="14" name="Shape 11"/>
          <p:cNvSpPr/>
          <p:nvPr/>
        </p:nvSpPr>
        <p:spPr>
          <a:xfrm>
            <a:off x="640080" y="3931920"/>
            <a:ext cx="109728" cy="109728"/>
          </a:xfrm>
          <a:prstGeom prst="ellipse">
            <a:avLst/>
          </a:prstGeom>
          <a:solidFill>
            <a:srgbClr val="6B8F71"/>
          </a:solidFill>
          <a:ln/>
        </p:spPr>
      </p:sp>
      <p:sp>
        <p:nvSpPr>
          <p:cNvPr id="15" name="Text 12"/>
          <p:cNvSpPr/>
          <p:nvPr/>
        </p:nvSpPr>
        <p:spPr>
          <a:xfrm>
            <a:off x="914400" y="3813048"/>
            <a:ext cx="5120640" cy="365760"/>
          </a:xfrm>
          <a:prstGeom prst="rect">
            <a:avLst/>
          </a:prstGeom>
          <a:noFill/>
          <a:ln/>
        </p:spPr>
        <p:txBody>
          <a:bodyPr wrap="square" rtlCol="0" anchor="ctr"/>
          <a:lstStyle/>
          <a:p>
            <a:pPr indent="0" marL="0">
              <a:buNone/>
            </a:pPr>
            <a:r>
              <a:rPr lang="en-US" sz="1200" dirty="0">
                <a:solidFill>
                  <a:srgbClr val="1B1F27"/>
                </a:solidFill>
                <a:latin typeface="Calibri" pitchFamily="34" charset="0"/>
                <a:ea typeface="Calibri" pitchFamily="34" charset="-122"/>
                <a:cs typeface="Calibri" pitchFamily="34" charset="-120"/>
              </a:rPr>
              <a:t>JSON and XML files</a:t>
            </a:r>
            <a:endParaRPr lang="en-US" sz="1200" dirty="0"/>
          </a:p>
        </p:txBody>
      </p:sp>
      <p:sp>
        <p:nvSpPr>
          <p:cNvPr id="16" name="Shape 13"/>
          <p:cNvSpPr/>
          <p:nvPr/>
        </p:nvSpPr>
        <p:spPr>
          <a:xfrm>
            <a:off x="640080" y="4315968"/>
            <a:ext cx="109728" cy="109728"/>
          </a:xfrm>
          <a:prstGeom prst="ellipse">
            <a:avLst/>
          </a:prstGeom>
          <a:solidFill>
            <a:srgbClr val="6B8F71"/>
          </a:solidFill>
          <a:ln/>
        </p:spPr>
      </p:sp>
      <p:sp>
        <p:nvSpPr>
          <p:cNvPr id="17" name="Text 14"/>
          <p:cNvSpPr/>
          <p:nvPr/>
        </p:nvSpPr>
        <p:spPr>
          <a:xfrm>
            <a:off x="914400" y="4197096"/>
            <a:ext cx="5120640" cy="365760"/>
          </a:xfrm>
          <a:prstGeom prst="rect">
            <a:avLst/>
          </a:prstGeom>
          <a:noFill/>
          <a:ln/>
        </p:spPr>
        <p:txBody>
          <a:bodyPr wrap="square" rtlCol="0" anchor="ctr"/>
          <a:lstStyle/>
          <a:p>
            <a:pPr indent="0" marL="0">
              <a:buNone/>
            </a:pPr>
            <a:r>
              <a:rPr lang="en-US" sz="1200" dirty="0">
                <a:solidFill>
                  <a:srgbClr val="1B1F27"/>
                </a:solidFill>
                <a:latin typeface="Calibri" pitchFamily="34" charset="0"/>
                <a:ea typeface="Calibri" pitchFamily="34" charset="-122"/>
                <a:cs typeface="Calibri" pitchFamily="34" charset="-120"/>
              </a:rPr>
              <a:t>Emails (structured headers + unstructured body text)</a:t>
            </a:r>
            <a:endParaRPr lang="en-US" sz="1200" dirty="0"/>
          </a:p>
        </p:txBody>
      </p:sp>
      <p:sp>
        <p:nvSpPr>
          <p:cNvPr id="18" name="Shape 15"/>
          <p:cNvSpPr/>
          <p:nvPr/>
        </p:nvSpPr>
        <p:spPr>
          <a:xfrm>
            <a:off x="640080" y="4700016"/>
            <a:ext cx="109728" cy="109728"/>
          </a:xfrm>
          <a:prstGeom prst="ellipse">
            <a:avLst/>
          </a:prstGeom>
          <a:solidFill>
            <a:srgbClr val="6B8F71"/>
          </a:solidFill>
          <a:ln/>
        </p:spPr>
      </p:sp>
      <p:sp>
        <p:nvSpPr>
          <p:cNvPr id="19" name="Text 16"/>
          <p:cNvSpPr/>
          <p:nvPr/>
        </p:nvSpPr>
        <p:spPr>
          <a:xfrm>
            <a:off x="914400" y="4581144"/>
            <a:ext cx="5120640" cy="365760"/>
          </a:xfrm>
          <a:prstGeom prst="rect">
            <a:avLst/>
          </a:prstGeom>
          <a:noFill/>
          <a:ln/>
        </p:spPr>
        <p:txBody>
          <a:bodyPr wrap="square" rtlCol="0" anchor="ctr"/>
          <a:lstStyle/>
          <a:p>
            <a:pPr indent="0" marL="0">
              <a:buNone/>
            </a:pPr>
            <a:r>
              <a:rPr lang="en-US" sz="1200" dirty="0">
                <a:solidFill>
                  <a:srgbClr val="1B1F27"/>
                </a:solidFill>
                <a:latin typeface="Calibri" pitchFamily="34" charset="0"/>
                <a:ea typeface="Calibri" pitchFamily="34" charset="-122"/>
                <a:cs typeface="Calibri" pitchFamily="34" charset="-120"/>
              </a:rPr>
              <a:t>HTML web pages</a:t>
            </a:r>
            <a:endParaRPr lang="en-US" sz="1200" dirty="0"/>
          </a:p>
        </p:txBody>
      </p:sp>
      <p:sp>
        <p:nvSpPr>
          <p:cNvPr id="20" name="Shape 17"/>
          <p:cNvSpPr/>
          <p:nvPr/>
        </p:nvSpPr>
        <p:spPr>
          <a:xfrm>
            <a:off x="640080" y="5084064"/>
            <a:ext cx="109728" cy="109728"/>
          </a:xfrm>
          <a:prstGeom prst="ellipse">
            <a:avLst/>
          </a:prstGeom>
          <a:solidFill>
            <a:srgbClr val="6B8F71"/>
          </a:solidFill>
          <a:ln/>
        </p:spPr>
      </p:sp>
      <p:sp>
        <p:nvSpPr>
          <p:cNvPr id="21" name="Text 18"/>
          <p:cNvSpPr/>
          <p:nvPr/>
        </p:nvSpPr>
        <p:spPr>
          <a:xfrm>
            <a:off x="914400" y="4965192"/>
            <a:ext cx="5120640" cy="365760"/>
          </a:xfrm>
          <a:prstGeom prst="rect">
            <a:avLst/>
          </a:prstGeom>
          <a:noFill/>
          <a:ln/>
        </p:spPr>
        <p:txBody>
          <a:bodyPr wrap="square" rtlCol="0" anchor="ctr"/>
          <a:lstStyle/>
          <a:p>
            <a:pPr indent="0" marL="0">
              <a:buNone/>
            </a:pPr>
            <a:r>
              <a:rPr lang="en-US" sz="1200" dirty="0">
                <a:solidFill>
                  <a:srgbClr val="1B1F27"/>
                </a:solidFill>
                <a:latin typeface="Calibri" pitchFamily="34" charset="0"/>
                <a:ea typeface="Calibri" pitchFamily="34" charset="-122"/>
                <a:cs typeface="Calibri" pitchFamily="34" charset="-120"/>
              </a:rPr>
              <a:t>NoSQL documents (e.g., MongoDB records)</a:t>
            </a:r>
            <a:endParaRPr lang="en-US" sz="1200" dirty="0"/>
          </a:p>
        </p:txBody>
      </p:sp>
      <p:sp>
        <p:nvSpPr>
          <p:cNvPr id="22" name="Shape 19"/>
          <p:cNvSpPr/>
          <p:nvPr/>
        </p:nvSpPr>
        <p:spPr>
          <a:xfrm>
            <a:off x="6309360" y="3520440"/>
            <a:ext cx="5257800" cy="1965960"/>
          </a:xfrm>
          <a:prstGeom prst="roundRect">
            <a:avLst>
              <a:gd name="adj" fmla="val 2791"/>
            </a:avLst>
          </a:prstGeom>
          <a:solidFill>
            <a:srgbClr val="1E272E"/>
          </a:solidFill>
          <a:ln/>
        </p:spPr>
      </p:sp>
      <p:sp>
        <p:nvSpPr>
          <p:cNvPr id="23" name="Text 20"/>
          <p:cNvSpPr/>
          <p:nvPr/>
        </p:nvSpPr>
        <p:spPr>
          <a:xfrm>
            <a:off x="6583680" y="3685032"/>
            <a:ext cx="4709160" cy="274320"/>
          </a:xfrm>
          <a:prstGeom prst="rect">
            <a:avLst/>
          </a:prstGeom>
          <a:noFill/>
          <a:ln/>
        </p:spPr>
        <p:txBody>
          <a:bodyPr wrap="square" rtlCol="0" anchor="ctr"/>
          <a:lstStyle/>
          <a:p>
            <a:pPr indent="0" marL="0">
              <a:buNone/>
            </a:pPr>
            <a:r>
              <a:rPr lang="en-US" sz="1150" dirty="0">
                <a:solidFill>
                  <a:srgbClr val="8FD694"/>
                </a:solidFill>
                <a:latin typeface="Courier New" pitchFamily="34" charset="0"/>
                <a:ea typeface="Courier New" pitchFamily="34" charset="-122"/>
                <a:cs typeface="Courier New" pitchFamily="34" charset="-120"/>
              </a:rPr>
              <a:t>{</a:t>
            </a:r>
            <a:endParaRPr lang="en-US" sz="1150" dirty="0"/>
          </a:p>
        </p:txBody>
      </p:sp>
      <p:sp>
        <p:nvSpPr>
          <p:cNvPr id="24" name="Text 21"/>
          <p:cNvSpPr/>
          <p:nvPr/>
        </p:nvSpPr>
        <p:spPr>
          <a:xfrm>
            <a:off x="6583680" y="3968496"/>
            <a:ext cx="4709160" cy="274320"/>
          </a:xfrm>
          <a:prstGeom prst="rect">
            <a:avLst/>
          </a:prstGeom>
          <a:noFill/>
          <a:ln/>
        </p:spPr>
        <p:txBody>
          <a:bodyPr wrap="square" rtlCol="0" anchor="ctr"/>
          <a:lstStyle/>
          <a:p>
            <a:pPr indent="0" marL="0">
              <a:buNone/>
            </a:pPr>
            <a:r>
              <a:rPr lang="en-US" sz="1150" dirty="0">
                <a:solidFill>
                  <a:srgbClr val="8FD694"/>
                </a:solidFill>
                <a:latin typeface="Courier New" pitchFamily="34" charset="0"/>
                <a:ea typeface="Courier New" pitchFamily="34" charset="-122"/>
                <a:cs typeface="Courier New" pitchFamily="34" charset="-120"/>
              </a:rPr>
              <a:t>  "name": "Aditi",</a:t>
            </a:r>
            <a:endParaRPr lang="en-US" sz="1150" dirty="0"/>
          </a:p>
        </p:txBody>
      </p:sp>
      <p:sp>
        <p:nvSpPr>
          <p:cNvPr id="25" name="Text 22"/>
          <p:cNvSpPr/>
          <p:nvPr/>
        </p:nvSpPr>
        <p:spPr>
          <a:xfrm>
            <a:off x="6583680" y="4251960"/>
            <a:ext cx="4709160" cy="274320"/>
          </a:xfrm>
          <a:prstGeom prst="rect">
            <a:avLst/>
          </a:prstGeom>
          <a:noFill/>
          <a:ln/>
        </p:spPr>
        <p:txBody>
          <a:bodyPr wrap="square" rtlCol="0" anchor="ctr"/>
          <a:lstStyle/>
          <a:p>
            <a:pPr indent="0" marL="0">
              <a:buNone/>
            </a:pPr>
            <a:r>
              <a:rPr lang="en-US" sz="1150" dirty="0">
                <a:solidFill>
                  <a:srgbClr val="8FD694"/>
                </a:solidFill>
                <a:latin typeface="Courier New" pitchFamily="34" charset="0"/>
                <a:ea typeface="Courier New" pitchFamily="34" charset="-122"/>
                <a:cs typeface="Courier New" pitchFamily="34" charset="-120"/>
              </a:rPr>
              <a:t>  "age": 22,</a:t>
            </a:r>
            <a:endParaRPr lang="en-US" sz="1150" dirty="0"/>
          </a:p>
        </p:txBody>
      </p:sp>
      <p:sp>
        <p:nvSpPr>
          <p:cNvPr id="26" name="Text 23"/>
          <p:cNvSpPr/>
          <p:nvPr/>
        </p:nvSpPr>
        <p:spPr>
          <a:xfrm>
            <a:off x="6583680" y="4535424"/>
            <a:ext cx="4709160" cy="274320"/>
          </a:xfrm>
          <a:prstGeom prst="rect">
            <a:avLst/>
          </a:prstGeom>
          <a:noFill/>
          <a:ln/>
        </p:spPr>
        <p:txBody>
          <a:bodyPr wrap="square" rtlCol="0" anchor="ctr"/>
          <a:lstStyle/>
          <a:p>
            <a:pPr indent="0" marL="0">
              <a:buNone/>
            </a:pPr>
            <a:r>
              <a:rPr lang="en-US" sz="1150" dirty="0">
                <a:solidFill>
                  <a:srgbClr val="8FD694"/>
                </a:solidFill>
                <a:latin typeface="Courier New" pitchFamily="34" charset="0"/>
                <a:ea typeface="Courier New" pitchFamily="34" charset="-122"/>
                <a:cs typeface="Courier New" pitchFamily="34" charset="-120"/>
              </a:rPr>
              <a:t>  "city": "Pune",</a:t>
            </a:r>
            <a:endParaRPr lang="en-US" sz="1150" dirty="0"/>
          </a:p>
        </p:txBody>
      </p:sp>
      <p:sp>
        <p:nvSpPr>
          <p:cNvPr id="27" name="Text 24"/>
          <p:cNvSpPr/>
          <p:nvPr/>
        </p:nvSpPr>
        <p:spPr>
          <a:xfrm>
            <a:off x="6583680" y="4818888"/>
            <a:ext cx="4709160" cy="274320"/>
          </a:xfrm>
          <a:prstGeom prst="rect">
            <a:avLst/>
          </a:prstGeom>
          <a:noFill/>
          <a:ln/>
        </p:spPr>
        <p:txBody>
          <a:bodyPr wrap="square" rtlCol="0" anchor="ctr"/>
          <a:lstStyle/>
          <a:p>
            <a:pPr indent="0" marL="0">
              <a:buNone/>
            </a:pPr>
            <a:r>
              <a:rPr lang="en-US" sz="1150" dirty="0">
                <a:solidFill>
                  <a:srgbClr val="8FD694"/>
                </a:solidFill>
                <a:latin typeface="Courier New" pitchFamily="34" charset="0"/>
                <a:ea typeface="Courier New" pitchFamily="34" charset="-122"/>
                <a:cs typeface="Courier New" pitchFamily="34" charset="-120"/>
              </a:rPr>
              <a:t>  "tags": ["vip", "new"]</a:t>
            </a:r>
            <a:endParaRPr lang="en-US" sz="1150" dirty="0"/>
          </a:p>
        </p:txBody>
      </p:sp>
      <p:sp>
        <p:nvSpPr>
          <p:cNvPr id="28" name="Text 25"/>
          <p:cNvSpPr/>
          <p:nvPr/>
        </p:nvSpPr>
        <p:spPr>
          <a:xfrm>
            <a:off x="6583680" y="5102352"/>
            <a:ext cx="4709160" cy="274320"/>
          </a:xfrm>
          <a:prstGeom prst="rect">
            <a:avLst/>
          </a:prstGeom>
          <a:noFill/>
          <a:ln/>
        </p:spPr>
        <p:txBody>
          <a:bodyPr wrap="square" rtlCol="0" anchor="ctr"/>
          <a:lstStyle/>
          <a:p>
            <a:pPr indent="0" marL="0">
              <a:buNone/>
            </a:pPr>
            <a:r>
              <a:rPr lang="en-US" sz="1150" dirty="0">
                <a:solidFill>
                  <a:srgbClr val="8FD694"/>
                </a:solidFill>
                <a:latin typeface="Courier New" pitchFamily="34" charset="0"/>
                <a:ea typeface="Courier New" pitchFamily="34" charset="-122"/>
                <a:cs typeface="Courier New" pitchFamily="34" charset="-120"/>
              </a:rPr>
              <a:t>}</a:t>
            </a:r>
            <a:endParaRPr lang="en-US" sz="1150" dirty="0"/>
          </a:p>
        </p:txBody>
      </p:sp>
      <p:sp>
        <p:nvSpPr>
          <p:cNvPr id="30" name="Text 2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065A82"/>
          </a:solidFill>
          <a:ln/>
        </p:spPr>
      </p:sp>
      <p:pic>
        <p:nvPicPr>
          <p:cNvPr id="3" name="Image 0" descr="/home/claude/ppt/icons/datatypes.png">    </p:cNvPr>
          <p:cNvPicPr>
            <a:picLocks noChangeAspect="1"/>
          </p:cNvPicPr>
          <p:nvPr/>
        </p:nvPicPr>
        <p:blipFill>
          <a:blip r:embed="rId1"/>
          <a:stretch>
            <a:fillRect/>
          </a:stretch>
        </p:blipFill>
        <p:spPr>
          <a:xfrm>
            <a:off x="854050" y="716890"/>
            <a:ext cx="395021" cy="395021"/>
          </a:xfrm>
          <a:prstGeom prst="rect">
            <a:avLst/>
          </a:prstGeom>
        </p:spPr>
      </p:pic>
      <p:sp>
        <p:nvSpPr>
          <p:cNvPr id="4" name="Text 1"/>
          <p:cNvSpPr/>
          <p:nvPr/>
        </p:nvSpPr>
        <p:spPr>
          <a:xfrm>
            <a:off x="1645920" y="502920"/>
            <a:ext cx="7315200" cy="45720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Data Types</a:t>
            </a:r>
            <a:endParaRPr lang="en-US" sz="2800" dirty="0"/>
          </a:p>
        </p:txBody>
      </p:sp>
      <p:sp>
        <p:nvSpPr>
          <p:cNvPr id="5" name="Shape 2"/>
          <p:cNvSpPr/>
          <p:nvPr/>
        </p:nvSpPr>
        <p:spPr>
          <a:xfrm>
            <a:off x="640080" y="1463040"/>
            <a:ext cx="10881360" cy="0"/>
          </a:xfrm>
          <a:prstGeom prst="line">
            <a:avLst/>
          </a:prstGeom>
          <a:noFill/>
          <a:ln w="12700">
            <a:solidFill>
              <a:srgbClr val="D6E3E9"/>
            </a:solidFill>
            <a:prstDash val="solid"/>
          </a:ln>
        </p:spPr>
      </p:sp>
      <p:sp>
        <p:nvSpPr>
          <p:cNvPr id="6" name="Text 3"/>
          <p:cNvSpPr/>
          <p:nvPr/>
        </p:nvSpPr>
        <p:spPr>
          <a:xfrm>
            <a:off x="640080" y="1645920"/>
            <a:ext cx="10881360" cy="640080"/>
          </a:xfrm>
          <a:prstGeom prst="rect">
            <a:avLst/>
          </a:prstGeom>
          <a:noFill/>
          <a:ln/>
        </p:spPr>
        <p:txBody>
          <a:bodyPr wrap="square" rtlCol="0" anchor="ctr"/>
          <a:lstStyle/>
          <a:p>
            <a:pPr indent="0" marL="0">
              <a:lnSpc>
                <a:spcPts val="1800"/>
              </a:lnSpc>
              <a:buNone/>
            </a:pPr>
            <a:r>
              <a:rPr lang="en-US" sz="1400" dirty="0">
                <a:solidFill>
                  <a:srgbClr val="1B1F27"/>
                </a:solidFill>
                <a:latin typeface="Calibri" pitchFamily="34" charset="0"/>
                <a:ea typeface="Calibri" pitchFamily="34" charset="-122"/>
                <a:cs typeface="Calibri" pitchFamily="34" charset="-120"/>
              </a:rPr>
              <a:t>Every value stored in a dataset has a data type — it tells the system what kind of value to expect and what operations are valid on it.</a:t>
            </a:r>
            <a:endParaRPr lang="en-US" sz="1400" dirty="0"/>
          </a:p>
        </p:txBody>
      </p:sp>
      <p:sp>
        <p:nvSpPr>
          <p:cNvPr id="7" name="Shape 4"/>
          <p:cNvSpPr/>
          <p:nvPr/>
        </p:nvSpPr>
        <p:spPr>
          <a:xfrm>
            <a:off x="640080" y="2468880"/>
            <a:ext cx="3520440" cy="1097280"/>
          </a:xfrm>
          <a:prstGeom prst="roundRect">
            <a:avLst>
              <a:gd name="adj" fmla="val 6667"/>
            </a:avLst>
          </a:prstGeom>
          <a:solidFill>
            <a:srgbClr val="E8F1F5"/>
          </a:solidFill>
          <a:ln/>
        </p:spPr>
      </p:sp>
      <p:sp>
        <p:nvSpPr>
          <p:cNvPr id="8" name="Text 5"/>
          <p:cNvSpPr/>
          <p:nvPr/>
        </p:nvSpPr>
        <p:spPr>
          <a:xfrm>
            <a:off x="822960" y="2587752"/>
            <a:ext cx="3154680" cy="292608"/>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Integer</a:t>
            </a:r>
            <a:endParaRPr lang="en-US" sz="1300" dirty="0"/>
          </a:p>
        </p:txBody>
      </p:sp>
      <p:sp>
        <p:nvSpPr>
          <p:cNvPr id="9" name="Text 6"/>
          <p:cNvSpPr/>
          <p:nvPr/>
        </p:nvSpPr>
        <p:spPr>
          <a:xfrm>
            <a:off x="822960" y="2889504"/>
            <a:ext cx="3154680" cy="365760"/>
          </a:xfrm>
          <a:prstGeom prst="rect">
            <a:avLst/>
          </a:prstGeom>
          <a:noFill/>
          <a:ln/>
        </p:spPr>
        <p:txBody>
          <a:bodyPr wrap="square" rtlCol="0" anchor="ctr"/>
          <a:lstStyle/>
          <a:p>
            <a:pPr indent="0" marL="0">
              <a:lnSpc>
                <a:spcPts val="1200"/>
              </a:lnSpc>
              <a:buNone/>
            </a:pPr>
            <a:r>
              <a:rPr lang="en-US" sz="1000" dirty="0">
                <a:solidFill>
                  <a:srgbClr val="1B1F27"/>
                </a:solidFill>
                <a:latin typeface="Calibri" pitchFamily="34" charset="0"/>
                <a:ea typeface="Calibri" pitchFamily="34" charset="-122"/>
                <a:cs typeface="Calibri" pitchFamily="34" charset="-120"/>
              </a:rPr>
              <a:t>Whole numbers, no decimals</a:t>
            </a:r>
            <a:endParaRPr lang="en-US" sz="1000" dirty="0"/>
          </a:p>
        </p:txBody>
      </p:sp>
      <p:sp>
        <p:nvSpPr>
          <p:cNvPr id="10" name="Text 7"/>
          <p:cNvSpPr/>
          <p:nvPr/>
        </p:nvSpPr>
        <p:spPr>
          <a:xfrm>
            <a:off x="822960" y="3255264"/>
            <a:ext cx="3154680" cy="256032"/>
          </a:xfrm>
          <a:prstGeom prst="rect">
            <a:avLst/>
          </a:prstGeom>
          <a:noFill/>
          <a:ln/>
        </p:spPr>
        <p:txBody>
          <a:bodyPr wrap="square" rtlCol="0" anchor="ctr"/>
          <a:lstStyle/>
          <a:p>
            <a:pPr indent="0" marL="0">
              <a:buNone/>
            </a:pPr>
            <a:r>
              <a:rPr lang="en-US" sz="1000" dirty="0">
                <a:solidFill>
                  <a:srgbClr val="5B6672"/>
                </a:solidFill>
                <a:latin typeface="Courier New" pitchFamily="34" charset="0"/>
                <a:ea typeface="Courier New" pitchFamily="34" charset="-122"/>
                <a:cs typeface="Courier New" pitchFamily="34" charset="-120"/>
              </a:rPr>
              <a:t>25, -8, 1500</a:t>
            </a:r>
            <a:endParaRPr lang="en-US" sz="1000" dirty="0"/>
          </a:p>
        </p:txBody>
      </p:sp>
      <p:sp>
        <p:nvSpPr>
          <p:cNvPr id="11" name="Shape 8"/>
          <p:cNvSpPr/>
          <p:nvPr/>
        </p:nvSpPr>
        <p:spPr>
          <a:xfrm>
            <a:off x="4343400" y="2468880"/>
            <a:ext cx="3520440" cy="1097280"/>
          </a:xfrm>
          <a:prstGeom prst="roundRect">
            <a:avLst>
              <a:gd name="adj" fmla="val 6667"/>
            </a:avLst>
          </a:prstGeom>
          <a:solidFill>
            <a:srgbClr val="E8F1F5"/>
          </a:solidFill>
          <a:ln/>
        </p:spPr>
      </p:sp>
      <p:sp>
        <p:nvSpPr>
          <p:cNvPr id="12" name="Text 9"/>
          <p:cNvSpPr/>
          <p:nvPr/>
        </p:nvSpPr>
        <p:spPr>
          <a:xfrm>
            <a:off x="4526280" y="2587752"/>
            <a:ext cx="3154680" cy="292608"/>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Float / Decimal</a:t>
            </a:r>
            <a:endParaRPr lang="en-US" sz="1300" dirty="0"/>
          </a:p>
        </p:txBody>
      </p:sp>
      <p:sp>
        <p:nvSpPr>
          <p:cNvPr id="13" name="Text 10"/>
          <p:cNvSpPr/>
          <p:nvPr/>
        </p:nvSpPr>
        <p:spPr>
          <a:xfrm>
            <a:off x="4526280" y="2889504"/>
            <a:ext cx="3154680" cy="365760"/>
          </a:xfrm>
          <a:prstGeom prst="rect">
            <a:avLst/>
          </a:prstGeom>
          <a:noFill/>
          <a:ln/>
        </p:spPr>
        <p:txBody>
          <a:bodyPr wrap="square" rtlCol="0" anchor="ctr"/>
          <a:lstStyle/>
          <a:p>
            <a:pPr indent="0" marL="0">
              <a:lnSpc>
                <a:spcPts val="1200"/>
              </a:lnSpc>
              <a:buNone/>
            </a:pPr>
            <a:r>
              <a:rPr lang="en-US" sz="1000" dirty="0">
                <a:solidFill>
                  <a:srgbClr val="1B1F27"/>
                </a:solidFill>
                <a:latin typeface="Calibri" pitchFamily="34" charset="0"/>
                <a:ea typeface="Calibri" pitchFamily="34" charset="-122"/>
                <a:cs typeface="Calibri" pitchFamily="34" charset="-120"/>
              </a:rPr>
              <a:t>Numbers with fractional parts</a:t>
            </a:r>
            <a:endParaRPr lang="en-US" sz="1000" dirty="0"/>
          </a:p>
        </p:txBody>
      </p:sp>
      <p:sp>
        <p:nvSpPr>
          <p:cNvPr id="14" name="Text 11"/>
          <p:cNvSpPr/>
          <p:nvPr/>
        </p:nvSpPr>
        <p:spPr>
          <a:xfrm>
            <a:off x="4526280" y="3255264"/>
            <a:ext cx="3154680" cy="256032"/>
          </a:xfrm>
          <a:prstGeom prst="rect">
            <a:avLst/>
          </a:prstGeom>
          <a:noFill/>
          <a:ln/>
        </p:spPr>
        <p:txBody>
          <a:bodyPr wrap="square" rtlCol="0" anchor="ctr"/>
          <a:lstStyle/>
          <a:p>
            <a:pPr indent="0" marL="0">
              <a:buNone/>
            </a:pPr>
            <a:r>
              <a:rPr lang="en-US" sz="1000" dirty="0">
                <a:solidFill>
                  <a:srgbClr val="5B6672"/>
                </a:solidFill>
                <a:latin typeface="Courier New" pitchFamily="34" charset="0"/>
                <a:ea typeface="Courier New" pitchFamily="34" charset="-122"/>
                <a:cs typeface="Courier New" pitchFamily="34" charset="-120"/>
              </a:rPr>
              <a:t>3.14, 99.99</a:t>
            </a:r>
            <a:endParaRPr lang="en-US" sz="1000" dirty="0"/>
          </a:p>
        </p:txBody>
      </p:sp>
      <p:sp>
        <p:nvSpPr>
          <p:cNvPr id="15" name="Shape 12"/>
          <p:cNvSpPr/>
          <p:nvPr/>
        </p:nvSpPr>
        <p:spPr>
          <a:xfrm>
            <a:off x="8046720" y="2468880"/>
            <a:ext cx="3520440" cy="1097280"/>
          </a:xfrm>
          <a:prstGeom prst="roundRect">
            <a:avLst>
              <a:gd name="adj" fmla="val 6667"/>
            </a:avLst>
          </a:prstGeom>
          <a:solidFill>
            <a:srgbClr val="E8F1F5"/>
          </a:solidFill>
          <a:ln/>
        </p:spPr>
      </p:sp>
      <p:sp>
        <p:nvSpPr>
          <p:cNvPr id="16" name="Text 13"/>
          <p:cNvSpPr/>
          <p:nvPr/>
        </p:nvSpPr>
        <p:spPr>
          <a:xfrm>
            <a:off x="8229600" y="2587752"/>
            <a:ext cx="3154680" cy="292608"/>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String / Text</a:t>
            </a:r>
            <a:endParaRPr lang="en-US" sz="1300" dirty="0"/>
          </a:p>
        </p:txBody>
      </p:sp>
      <p:sp>
        <p:nvSpPr>
          <p:cNvPr id="17" name="Text 14"/>
          <p:cNvSpPr/>
          <p:nvPr/>
        </p:nvSpPr>
        <p:spPr>
          <a:xfrm>
            <a:off x="8229600" y="2889504"/>
            <a:ext cx="3154680" cy="365760"/>
          </a:xfrm>
          <a:prstGeom prst="rect">
            <a:avLst/>
          </a:prstGeom>
          <a:noFill/>
          <a:ln/>
        </p:spPr>
        <p:txBody>
          <a:bodyPr wrap="square" rtlCol="0" anchor="ctr"/>
          <a:lstStyle/>
          <a:p>
            <a:pPr indent="0" marL="0">
              <a:lnSpc>
                <a:spcPts val="1200"/>
              </a:lnSpc>
              <a:buNone/>
            </a:pPr>
            <a:r>
              <a:rPr lang="en-US" sz="1000" dirty="0">
                <a:solidFill>
                  <a:srgbClr val="1B1F27"/>
                </a:solidFill>
                <a:latin typeface="Calibri" pitchFamily="34" charset="0"/>
                <a:ea typeface="Calibri" pitchFamily="34" charset="-122"/>
                <a:cs typeface="Calibri" pitchFamily="34" charset="-120"/>
              </a:rPr>
              <a:t>Sequence of characters</a:t>
            </a:r>
            <a:endParaRPr lang="en-US" sz="1000" dirty="0"/>
          </a:p>
        </p:txBody>
      </p:sp>
      <p:sp>
        <p:nvSpPr>
          <p:cNvPr id="18" name="Text 15"/>
          <p:cNvSpPr/>
          <p:nvPr/>
        </p:nvSpPr>
        <p:spPr>
          <a:xfrm>
            <a:off x="8229600" y="3255264"/>
            <a:ext cx="3154680" cy="256032"/>
          </a:xfrm>
          <a:prstGeom prst="rect">
            <a:avLst/>
          </a:prstGeom>
          <a:noFill/>
          <a:ln/>
        </p:spPr>
        <p:txBody>
          <a:bodyPr wrap="square" rtlCol="0" anchor="ctr"/>
          <a:lstStyle/>
          <a:p>
            <a:pPr indent="0" marL="0">
              <a:buNone/>
            </a:pPr>
            <a:r>
              <a:rPr lang="en-US" sz="1000" dirty="0">
                <a:solidFill>
                  <a:srgbClr val="5B6672"/>
                </a:solidFill>
                <a:latin typeface="Courier New" pitchFamily="34" charset="0"/>
                <a:ea typeface="Courier New" pitchFamily="34" charset="-122"/>
                <a:cs typeface="Courier New" pitchFamily="34" charset="-120"/>
              </a:rPr>
              <a:t>"Hello", "Pune"</a:t>
            </a:r>
            <a:endParaRPr lang="en-US" sz="1000" dirty="0"/>
          </a:p>
        </p:txBody>
      </p:sp>
      <p:sp>
        <p:nvSpPr>
          <p:cNvPr id="19" name="Shape 16"/>
          <p:cNvSpPr/>
          <p:nvPr/>
        </p:nvSpPr>
        <p:spPr>
          <a:xfrm>
            <a:off x="640080" y="3749040"/>
            <a:ext cx="3520440" cy="1097280"/>
          </a:xfrm>
          <a:prstGeom prst="roundRect">
            <a:avLst>
              <a:gd name="adj" fmla="val 6667"/>
            </a:avLst>
          </a:prstGeom>
          <a:solidFill>
            <a:srgbClr val="E8F1F5"/>
          </a:solidFill>
          <a:ln/>
        </p:spPr>
      </p:sp>
      <p:sp>
        <p:nvSpPr>
          <p:cNvPr id="20" name="Text 17"/>
          <p:cNvSpPr/>
          <p:nvPr/>
        </p:nvSpPr>
        <p:spPr>
          <a:xfrm>
            <a:off x="822960" y="3867912"/>
            <a:ext cx="3154680" cy="292608"/>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Boolean</a:t>
            </a:r>
            <a:endParaRPr lang="en-US" sz="1300" dirty="0"/>
          </a:p>
        </p:txBody>
      </p:sp>
      <p:sp>
        <p:nvSpPr>
          <p:cNvPr id="21" name="Text 18"/>
          <p:cNvSpPr/>
          <p:nvPr/>
        </p:nvSpPr>
        <p:spPr>
          <a:xfrm>
            <a:off x="822960" y="4169664"/>
            <a:ext cx="3154680" cy="365760"/>
          </a:xfrm>
          <a:prstGeom prst="rect">
            <a:avLst/>
          </a:prstGeom>
          <a:noFill/>
          <a:ln/>
        </p:spPr>
        <p:txBody>
          <a:bodyPr wrap="square" rtlCol="0" anchor="ctr"/>
          <a:lstStyle/>
          <a:p>
            <a:pPr indent="0" marL="0">
              <a:lnSpc>
                <a:spcPts val="1200"/>
              </a:lnSpc>
              <a:buNone/>
            </a:pPr>
            <a:r>
              <a:rPr lang="en-US" sz="1000" dirty="0">
                <a:solidFill>
                  <a:srgbClr val="1B1F27"/>
                </a:solidFill>
                <a:latin typeface="Calibri" pitchFamily="34" charset="0"/>
                <a:ea typeface="Calibri" pitchFamily="34" charset="-122"/>
                <a:cs typeface="Calibri" pitchFamily="34" charset="-120"/>
              </a:rPr>
              <a:t>Only two possible values</a:t>
            </a:r>
            <a:endParaRPr lang="en-US" sz="1000" dirty="0"/>
          </a:p>
        </p:txBody>
      </p:sp>
      <p:sp>
        <p:nvSpPr>
          <p:cNvPr id="22" name="Text 19"/>
          <p:cNvSpPr/>
          <p:nvPr/>
        </p:nvSpPr>
        <p:spPr>
          <a:xfrm>
            <a:off x="822960" y="4535424"/>
            <a:ext cx="3154680" cy="256032"/>
          </a:xfrm>
          <a:prstGeom prst="rect">
            <a:avLst/>
          </a:prstGeom>
          <a:noFill/>
          <a:ln/>
        </p:spPr>
        <p:txBody>
          <a:bodyPr wrap="square" rtlCol="0" anchor="ctr"/>
          <a:lstStyle/>
          <a:p>
            <a:pPr indent="0" marL="0">
              <a:buNone/>
            </a:pPr>
            <a:r>
              <a:rPr lang="en-US" sz="1000" dirty="0">
                <a:solidFill>
                  <a:srgbClr val="5B6672"/>
                </a:solidFill>
                <a:latin typeface="Courier New" pitchFamily="34" charset="0"/>
                <a:ea typeface="Courier New" pitchFamily="34" charset="-122"/>
                <a:cs typeface="Courier New" pitchFamily="34" charset="-120"/>
              </a:rPr>
              <a:t>True / False</a:t>
            </a:r>
            <a:endParaRPr lang="en-US" sz="1000" dirty="0"/>
          </a:p>
        </p:txBody>
      </p:sp>
      <p:sp>
        <p:nvSpPr>
          <p:cNvPr id="23" name="Shape 20"/>
          <p:cNvSpPr/>
          <p:nvPr/>
        </p:nvSpPr>
        <p:spPr>
          <a:xfrm>
            <a:off x="4343400" y="3749040"/>
            <a:ext cx="3520440" cy="1097280"/>
          </a:xfrm>
          <a:prstGeom prst="roundRect">
            <a:avLst>
              <a:gd name="adj" fmla="val 6667"/>
            </a:avLst>
          </a:prstGeom>
          <a:solidFill>
            <a:srgbClr val="E8F1F5"/>
          </a:solidFill>
          <a:ln/>
        </p:spPr>
      </p:sp>
      <p:sp>
        <p:nvSpPr>
          <p:cNvPr id="24" name="Text 21"/>
          <p:cNvSpPr/>
          <p:nvPr/>
        </p:nvSpPr>
        <p:spPr>
          <a:xfrm>
            <a:off x="4526280" y="3867912"/>
            <a:ext cx="3154680" cy="292608"/>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Date / Time</a:t>
            </a:r>
            <a:endParaRPr lang="en-US" sz="1300" dirty="0"/>
          </a:p>
        </p:txBody>
      </p:sp>
      <p:sp>
        <p:nvSpPr>
          <p:cNvPr id="25" name="Text 22"/>
          <p:cNvSpPr/>
          <p:nvPr/>
        </p:nvSpPr>
        <p:spPr>
          <a:xfrm>
            <a:off x="4526280" y="4169664"/>
            <a:ext cx="3154680" cy="365760"/>
          </a:xfrm>
          <a:prstGeom prst="rect">
            <a:avLst/>
          </a:prstGeom>
          <a:noFill/>
          <a:ln/>
        </p:spPr>
        <p:txBody>
          <a:bodyPr wrap="square" rtlCol="0" anchor="ctr"/>
          <a:lstStyle/>
          <a:p>
            <a:pPr indent="0" marL="0">
              <a:lnSpc>
                <a:spcPts val="1200"/>
              </a:lnSpc>
              <a:buNone/>
            </a:pPr>
            <a:r>
              <a:rPr lang="en-US" sz="1000" dirty="0">
                <a:solidFill>
                  <a:srgbClr val="1B1F27"/>
                </a:solidFill>
                <a:latin typeface="Calibri" pitchFamily="34" charset="0"/>
                <a:ea typeface="Calibri" pitchFamily="34" charset="-122"/>
                <a:cs typeface="Calibri" pitchFamily="34" charset="-120"/>
              </a:rPr>
              <a:t>Calendar dates and timestamps</a:t>
            </a:r>
            <a:endParaRPr lang="en-US" sz="1000" dirty="0"/>
          </a:p>
        </p:txBody>
      </p:sp>
      <p:sp>
        <p:nvSpPr>
          <p:cNvPr id="26" name="Text 23"/>
          <p:cNvSpPr/>
          <p:nvPr/>
        </p:nvSpPr>
        <p:spPr>
          <a:xfrm>
            <a:off x="4526280" y="4535424"/>
            <a:ext cx="3154680" cy="256032"/>
          </a:xfrm>
          <a:prstGeom prst="rect">
            <a:avLst/>
          </a:prstGeom>
          <a:noFill/>
          <a:ln/>
        </p:spPr>
        <p:txBody>
          <a:bodyPr wrap="square" rtlCol="0" anchor="ctr"/>
          <a:lstStyle/>
          <a:p>
            <a:pPr indent="0" marL="0">
              <a:buNone/>
            </a:pPr>
            <a:r>
              <a:rPr lang="en-US" sz="1000" dirty="0">
                <a:solidFill>
                  <a:srgbClr val="5B6672"/>
                </a:solidFill>
                <a:latin typeface="Courier New" pitchFamily="34" charset="0"/>
                <a:ea typeface="Courier New" pitchFamily="34" charset="-122"/>
                <a:cs typeface="Courier New" pitchFamily="34" charset="-120"/>
              </a:rPr>
              <a:t>2026-08-19</a:t>
            </a:r>
            <a:endParaRPr lang="en-US" sz="1000" dirty="0"/>
          </a:p>
        </p:txBody>
      </p:sp>
      <p:sp>
        <p:nvSpPr>
          <p:cNvPr id="27" name="Shape 24"/>
          <p:cNvSpPr/>
          <p:nvPr/>
        </p:nvSpPr>
        <p:spPr>
          <a:xfrm>
            <a:off x="8046720" y="3749040"/>
            <a:ext cx="3520440" cy="1097280"/>
          </a:xfrm>
          <a:prstGeom prst="roundRect">
            <a:avLst>
              <a:gd name="adj" fmla="val 6667"/>
            </a:avLst>
          </a:prstGeom>
          <a:solidFill>
            <a:srgbClr val="E8F1F5"/>
          </a:solidFill>
          <a:ln/>
        </p:spPr>
      </p:sp>
      <p:sp>
        <p:nvSpPr>
          <p:cNvPr id="28" name="Text 25"/>
          <p:cNvSpPr/>
          <p:nvPr/>
        </p:nvSpPr>
        <p:spPr>
          <a:xfrm>
            <a:off x="8229600" y="3867912"/>
            <a:ext cx="3154680" cy="292608"/>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Array / List</a:t>
            </a:r>
            <a:endParaRPr lang="en-US" sz="1300" dirty="0"/>
          </a:p>
        </p:txBody>
      </p:sp>
      <p:sp>
        <p:nvSpPr>
          <p:cNvPr id="29" name="Text 26"/>
          <p:cNvSpPr/>
          <p:nvPr/>
        </p:nvSpPr>
        <p:spPr>
          <a:xfrm>
            <a:off x="8229600" y="4169664"/>
            <a:ext cx="3154680" cy="365760"/>
          </a:xfrm>
          <a:prstGeom prst="rect">
            <a:avLst/>
          </a:prstGeom>
          <a:noFill/>
          <a:ln/>
        </p:spPr>
        <p:txBody>
          <a:bodyPr wrap="square" rtlCol="0" anchor="ctr"/>
          <a:lstStyle/>
          <a:p>
            <a:pPr indent="0" marL="0">
              <a:lnSpc>
                <a:spcPts val="1200"/>
              </a:lnSpc>
              <a:buNone/>
            </a:pPr>
            <a:r>
              <a:rPr lang="en-US" sz="1000" dirty="0">
                <a:solidFill>
                  <a:srgbClr val="1B1F27"/>
                </a:solidFill>
                <a:latin typeface="Calibri" pitchFamily="34" charset="0"/>
                <a:ea typeface="Calibri" pitchFamily="34" charset="-122"/>
                <a:cs typeface="Calibri" pitchFamily="34" charset="-120"/>
              </a:rPr>
              <a:t>An ordered collection of values</a:t>
            </a:r>
            <a:endParaRPr lang="en-US" sz="1000" dirty="0"/>
          </a:p>
        </p:txBody>
      </p:sp>
      <p:sp>
        <p:nvSpPr>
          <p:cNvPr id="30" name="Text 27"/>
          <p:cNvSpPr/>
          <p:nvPr/>
        </p:nvSpPr>
        <p:spPr>
          <a:xfrm>
            <a:off x="8229600" y="4535424"/>
            <a:ext cx="3154680" cy="256032"/>
          </a:xfrm>
          <a:prstGeom prst="rect">
            <a:avLst/>
          </a:prstGeom>
          <a:noFill/>
          <a:ln/>
        </p:spPr>
        <p:txBody>
          <a:bodyPr wrap="square" rtlCol="0" anchor="ctr"/>
          <a:lstStyle/>
          <a:p>
            <a:pPr indent="0" marL="0">
              <a:buNone/>
            </a:pPr>
            <a:r>
              <a:rPr lang="en-US" sz="1000" dirty="0">
                <a:solidFill>
                  <a:srgbClr val="5B6672"/>
                </a:solidFill>
                <a:latin typeface="Courier New" pitchFamily="34" charset="0"/>
                <a:ea typeface="Courier New" pitchFamily="34" charset="-122"/>
                <a:cs typeface="Courier New" pitchFamily="34" charset="-120"/>
              </a:rPr>
              <a:t>[10, 20, 30]</a:t>
            </a:r>
            <a:endParaRPr lang="en-US" sz="1000" dirty="0"/>
          </a:p>
        </p:txBody>
      </p:sp>
      <p:sp>
        <p:nvSpPr>
          <p:cNvPr id="32" name="Text 2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1C7293"/>
          </a:solidFill>
          <a:ln/>
        </p:spPr>
      </p:sp>
      <p:pic>
        <p:nvPicPr>
          <p:cNvPr id="3" name="Image 0" descr="/home/claude/ppt/icons/dataformat.png">    </p:cNvPr>
          <p:cNvPicPr>
            <a:picLocks noChangeAspect="1"/>
          </p:cNvPicPr>
          <p:nvPr/>
        </p:nvPicPr>
        <p:blipFill>
          <a:blip r:embed="rId1"/>
          <a:stretch>
            <a:fillRect/>
          </a:stretch>
        </p:blipFill>
        <p:spPr>
          <a:xfrm>
            <a:off x="854050" y="716890"/>
            <a:ext cx="395021" cy="395021"/>
          </a:xfrm>
          <a:prstGeom prst="rect">
            <a:avLst/>
          </a:prstGeom>
        </p:spPr>
      </p:pic>
      <p:sp>
        <p:nvSpPr>
          <p:cNvPr id="4" name="Text 1"/>
          <p:cNvSpPr/>
          <p:nvPr/>
        </p:nvSpPr>
        <p:spPr>
          <a:xfrm>
            <a:off x="1645920" y="502920"/>
            <a:ext cx="7315200" cy="45720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Data Formats</a:t>
            </a:r>
            <a:endParaRPr lang="en-US" sz="2800" dirty="0"/>
          </a:p>
        </p:txBody>
      </p:sp>
      <p:sp>
        <p:nvSpPr>
          <p:cNvPr id="5" name="Shape 2"/>
          <p:cNvSpPr/>
          <p:nvPr/>
        </p:nvSpPr>
        <p:spPr>
          <a:xfrm>
            <a:off x="640080" y="1463040"/>
            <a:ext cx="10881360" cy="0"/>
          </a:xfrm>
          <a:prstGeom prst="line">
            <a:avLst/>
          </a:prstGeom>
          <a:noFill/>
          <a:ln w="12700">
            <a:solidFill>
              <a:srgbClr val="D6E3E9"/>
            </a:solidFill>
            <a:prstDash val="solid"/>
          </a:ln>
        </p:spPr>
      </p:sp>
      <p:sp>
        <p:nvSpPr>
          <p:cNvPr id="6" name="Text 3"/>
          <p:cNvSpPr/>
          <p:nvPr/>
        </p:nvSpPr>
        <p:spPr>
          <a:xfrm>
            <a:off x="640080" y="1645920"/>
            <a:ext cx="10881360" cy="502920"/>
          </a:xfrm>
          <a:prstGeom prst="rect">
            <a:avLst/>
          </a:prstGeom>
          <a:noFill/>
          <a:ln/>
        </p:spPr>
        <p:txBody>
          <a:bodyPr wrap="square" rtlCol="0" anchor="ctr"/>
          <a:lstStyle/>
          <a:p>
            <a:pPr indent="0" marL="0">
              <a:lnSpc>
                <a:spcPts val="1800"/>
              </a:lnSpc>
              <a:buNone/>
            </a:pPr>
            <a:r>
              <a:rPr lang="en-US" sz="1400" dirty="0">
                <a:solidFill>
                  <a:srgbClr val="1B1F27"/>
                </a:solidFill>
                <a:latin typeface="Calibri" pitchFamily="34" charset="0"/>
                <a:ea typeface="Calibri" pitchFamily="34" charset="-122"/>
                <a:cs typeface="Calibri" pitchFamily="34" charset="-120"/>
              </a:rPr>
              <a:t>A data format is the specific way data is encoded and structured for storage or transfer between systems.</a:t>
            </a:r>
            <a:endParaRPr lang="en-US" sz="1400" dirty="0"/>
          </a:p>
        </p:txBody>
      </p:sp>
      <p:sp>
        <p:nvSpPr>
          <p:cNvPr id="7" name="Shape 4"/>
          <p:cNvSpPr/>
          <p:nvPr/>
        </p:nvSpPr>
        <p:spPr>
          <a:xfrm>
            <a:off x="640080" y="2331720"/>
            <a:ext cx="3520440" cy="1188720"/>
          </a:xfrm>
          <a:prstGeom prst="roundRect">
            <a:avLst>
              <a:gd name="adj" fmla="val 6154"/>
            </a:avLst>
          </a:prstGeom>
          <a:solidFill>
            <a:srgbClr val="E8F1F5"/>
          </a:solidFill>
          <a:ln/>
        </p:spPr>
      </p:sp>
      <p:sp>
        <p:nvSpPr>
          <p:cNvPr id="8" name="Text 5"/>
          <p:cNvSpPr/>
          <p:nvPr/>
        </p:nvSpPr>
        <p:spPr>
          <a:xfrm>
            <a:off x="822960" y="2459736"/>
            <a:ext cx="2697480" cy="292608"/>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CSV</a:t>
            </a:r>
            <a:endParaRPr lang="en-US" sz="1350" dirty="0"/>
          </a:p>
        </p:txBody>
      </p:sp>
      <p:sp>
        <p:nvSpPr>
          <p:cNvPr id="9" name="Shape 6"/>
          <p:cNvSpPr/>
          <p:nvPr/>
        </p:nvSpPr>
        <p:spPr>
          <a:xfrm>
            <a:off x="2743200" y="2478024"/>
            <a:ext cx="1234440" cy="274320"/>
          </a:xfrm>
          <a:prstGeom prst="roundRect">
            <a:avLst>
              <a:gd name="adj" fmla="val 50000"/>
            </a:avLst>
          </a:prstGeom>
          <a:solidFill>
            <a:srgbClr val="065A82"/>
          </a:solidFill>
          <a:ln/>
        </p:spPr>
      </p:sp>
      <p:sp>
        <p:nvSpPr>
          <p:cNvPr id="10" name="Text 7"/>
          <p:cNvSpPr/>
          <p:nvPr/>
        </p:nvSpPr>
        <p:spPr>
          <a:xfrm>
            <a:off x="2743200" y="2478024"/>
            <a:ext cx="12344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Structured</a:t>
            </a:r>
            <a:endParaRPr lang="en-US" sz="800" dirty="0"/>
          </a:p>
        </p:txBody>
      </p:sp>
      <p:sp>
        <p:nvSpPr>
          <p:cNvPr id="11" name="Text 8"/>
          <p:cNvSpPr/>
          <p:nvPr/>
        </p:nvSpPr>
        <p:spPr>
          <a:xfrm>
            <a:off x="822960" y="2807208"/>
            <a:ext cx="3154680" cy="640080"/>
          </a:xfrm>
          <a:prstGeom prst="rect">
            <a:avLst/>
          </a:prstGeom>
          <a:noFill/>
          <a:ln/>
        </p:spPr>
        <p:txBody>
          <a:bodyPr wrap="square" rtlCol="0" anchor="ctr"/>
          <a:lstStyle/>
          <a:p>
            <a:pPr indent="0" marL="0">
              <a:lnSpc>
                <a:spcPts val="1250"/>
              </a:lnSpc>
              <a:buNone/>
            </a:pPr>
            <a:r>
              <a:rPr lang="en-US" sz="1000" dirty="0">
                <a:solidFill>
                  <a:srgbClr val="1B1F27"/>
                </a:solidFill>
                <a:latin typeface="Calibri" pitchFamily="34" charset="0"/>
                <a:ea typeface="Calibri" pitchFamily="34" charset="-122"/>
                <a:cs typeface="Calibri" pitchFamily="34" charset="-120"/>
              </a:rPr>
              <a:t>Comma-Separated Values — simple rows of text, one line per record</a:t>
            </a:r>
            <a:endParaRPr lang="en-US" sz="1000" dirty="0"/>
          </a:p>
        </p:txBody>
      </p:sp>
      <p:sp>
        <p:nvSpPr>
          <p:cNvPr id="12" name="Shape 9"/>
          <p:cNvSpPr/>
          <p:nvPr/>
        </p:nvSpPr>
        <p:spPr>
          <a:xfrm>
            <a:off x="4343400" y="2331720"/>
            <a:ext cx="3520440" cy="1188720"/>
          </a:xfrm>
          <a:prstGeom prst="roundRect">
            <a:avLst>
              <a:gd name="adj" fmla="val 6154"/>
            </a:avLst>
          </a:prstGeom>
          <a:solidFill>
            <a:srgbClr val="E8F1F5"/>
          </a:solidFill>
          <a:ln/>
        </p:spPr>
      </p:sp>
      <p:sp>
        <p:nvSpPr>
          <p:cNvPr id="13" name="Text 10"/>
          <p:cNvSpPr/>
          <p:nvPr/>
        </p:nvSpPr>
        <p:spPr>
          <a:xfrm>
            <a:off x="4526280" y="2459736"/>
            <a:ext cx="2697480" cy="292608"/>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JSON</a:t>
            </a:r>
            <a:endParaRPr lang="en-US" sz="1350" dirty="0"/>
          </a:p>
        </p:txBody>
      </p:sp>
      <p:sp>
        <p:nvSpPr>
          <p:cNvPr id="14" name="Shape 11"/>
          <p:cNvSpPr/>
          <p:nvPr/>
        </p:nvSpPr>
        <p:spPr>
          <a:xfrm>
            <a:off x="6446520" y="2478024"/>
            <a:ext cx="1234440" cy="274320"/>
          </a:xfrm>
          <a:prstGeom prst="roundRect">
            <a:avLst>
              <a:gd name="adj" fmla="val 50000"/>
            </a:avLst>
          </a:prstGeom>
          <a:solidFill>
            <a:srgbClr val="6B8F71"/>
          </a:solidFill>
          <a:ln/>
        </p:spPr>
      </p:sp>
      <p:sp>
        <p:nvSpPr>
          <p:cNvPr id="15" name="Text 12"/>
          <p:cNvSpPr/>
          <p:nvPr/>
        </p:nvSpPr>
        <p:spPr>
          <a:xfrm>
            <a:off x="6446520" y="2478024"/>
            <a:ext cx="12344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Semi-structured</a:t>
            </a:r>
            <a:endParaRPr lang="en-US" sz="800" dirty="0"/>
          </a:p>
        </p:txBody>
      </p:sp>
      <p:sp>
        <p:nvSpPr>
          <p:cNvPr id="16" name="Text 13"/>
          <p:cNvSpPr/>
          <p:nvPr/>
        </p:nvSpPr>
        <p:spPr>
          <a:xfrm>
            <a:off x="4526280" y="2807208"/>
            <a:ext cx="3154680" cy="640080"/>
          </a:xfrm>
          <a:prstGeom prst="rect">
            <a:avLst/>
          </a:prstGeom>
          <a:noFill/>
          <a:ln/>
        </p:spPr>
        <p:txBody>
          <a:bodyPr wrap="square" rtlCol="0" anchor="ctr"/>
          <a:lstStyle/>
          <a:p>
            <a:pPr indent="0" marL="0">
              <a:lnSpc>
                <a:spcPts val="1250"/>
              </a:lnSpc>
              <a:buNone/>
            </a:pPr>
            <a:r>
              <a:rPr lang="en-US" sz="1000" dirty="0">
                <a:solidFill>
                  <a:srgbClr val="1B1F27"/>
                </a:solidFill>
                <a:latin typeface="Calibri" pitchFamily="34" charset="0"/>
                <a:ea typeface="Calibri" pitchFamily="34" charset="-122"/>
                <a:cs typeface="Calibri" pitchFamily="34" charset="-120"/>
              </a:rPr>
              <a:t>Lightweight, human-readable format using key-value pairs</a:t>
            </a:r>
            <a:endParaRPr lang="en-US" sz="1000" dirty="0"/>
          </a:p>
        </p:txBody>
      </p:sp>
      <p:sp>
        <p:nvSpPr>
          <p:cNvPr id="17" name="Shape 14"/>
          <p:cNvSpPr/>
          <p:nvPr/>
        </p:nvSpPr>
        <p:spPr>
          <a:xfrm>
            <a:off x="8046720" y="2331720"/>
            <a:ext cx="3520440" cy="1188720"/>
          </a:xfrm>
          <a:prstGeom prst="roundRect">
            <a:avLst>
              <a:gd name="adj" fmla="val 6154"/>
            </a:avLst>
          </a:prstGeom>
          <a:solidFill>
            <a:srgbClr val="E8F1F5"/>
          </a:solidFill>
          <a:ln/>
        </p:spPr>
      </p:sp>
      <p:sp>
        <p:nvSpPr>
          <p:cNvPr id="18" name="Text 15"/>
          <p:cNvSpPr/>
          <p:nvPr/>
        </p:nvSpPr>
        <p:spPr>
          <a:xfrm>
            <a:off x="8229600" y="2459736"/>
            <a:ext cx="2697480" cy="292608"/>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XML</a:t>
            </a:r>
            <a:endParaRPr lang="en-US" sz="1350" dirty="0"/>
          </a:p>
        </p:txBody>
      </p:sp>
      <p:sp>
        <p:nvSpPr>
          <p:cNvPr id="19" name="Shape 16"/>
          <p:cNvSpPr/>
          <p:nvPr/>
        </p:nvSpPr>
        <p:spPr>
          <a:xfrm>
            <a:off x="10149840" y="2478024"/>
            <a:ext cx="1234440" cy="274320"/>
          </a:xfrm>
          <a:prstGeom prst="roundRect">
            <a:avLst>
              <a:gd name="adj" fmla="val 50000"/>
            </a:avLst>
          </a:prstGeom>
          <a:solidFill>
            <a:srgbClr val="6B8F71"/>
          </a:solidFill>
          <a:ln/>
        </p:spPr>
      </p:sp>
      <p:sp>
        <p:nvSpPr>
          <p:cNvPr id="20" name="Text 17"/>
          <p:cNvSpPr/>
          <p:nvPr/>
        </p:nvSpPr>
        <p:spPr>
          <a:xfrm>
            <a:off x="10149840" y="2478024"/>
            <a:ext cx="12344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Semi-structured</a:t>
            </a:r>
            <a:endParaRPr lang="en-US" sz="800" dirty="0"/>
          </a:p>
        </p:txBody>
      </p:sp>
      <p:sp>
        <p:nvSpPr>
          <p:cNvPr id="21" name="Text 18"/>
          <p:cNvSpPr/>
          <p:nvPr/>
        </p:nvSpPr>
        <p:spPr>
          <a:xfrm>
            <a:off x="8229600" y="2807208"/>
            <a:ext cx="3154680" cy="640080"/>
          </a:xfrm>
          <a:prstGeom prst="rect">
            <a:avLst/>
          </a:prstGeom>
          <a:noFill/>
          <a:ln/>
        </p:spPr>
        <p:txBody>
          <a:bodyPr wrap="square" rtlCol="0" anchor="ctr"/>
          <a:lstStyle/>
          <a:p>
            <a:pPr indent="0" marL="0">
              <a:lnSpc>
                <a:spcPts val="1250"/>
              </a:lnSpc>
              <a:buNone/>
            </a:pPr>
            <a:r>
              <a:rPr lang="en-US" sz="1000" dirty="0">
                <a:solidFill>
                  <a:srgbClr val="1B1F27"/>
                </a:solidFill>
                <a:latin typeface="Calibri" pitchFamily="34" charset="0"/>
                <a:ea typeface="Calibri" pitchFamily="34" charset="-122"/>
                <a:cs typeface="Calibri" pitchFamily="34" charset="-120"/>
              </a:rPr>
              <a:t>Tag-based format similar to HTML, widely used for web data exchange</a:t>
            </a:r>
            <a:endParaRPr lang="en-US" sz="1000" dirty="0"/>
          </a:p>
        </p:txBody>
      </p:sp>
      <p:sp>
        <p:nvSpPr>
          <p:cNvPr id="22" name="Shape 19"/>
          <p:cNvSpPr/>
          <p:nvPr/>
        </p:nvSpPr>
        <p:spPr>
          <a:xfrm>
            <a:off x="640080" y="3685032"/>
            <a:ext cx="3520440" cy="1188720"/>
          </a:xfrm>
          <a:prstGeom prst="roundRect">
            <a:avLst>
              <a:gd name="adj" fmla="val 6154"/>
            </a:avLst>
          </a:prstGeom>
          <a:solidFill>
            <a:srgbClr val="E8F1F5"/>
          </a:solidFill>
          <a:ln/>
        </p:spPr>
      </p:sp>
      <p:sp>
        <p:nvSpPr>
          <p:cNvPr id="23" name="Text 20"/>
          <p:cNvSpPr/>
          <p:nvPr/>
        </p:nvSpPr>
        <p:spPr>
          <a:xfrm>
            <a:off x="822960" y="3813048"/>
            <a:ext cx="2697480" cy="292608"/>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Excel (XLSX)</a:t>
            </a:r>
            <a:endParaRPr lang="en-US" sz="1350" dirty="0"/>
          </a:p>
        </p:txBody>
      </p:sp>
      <p:sp>
        <p:nvSpPr>
          <p:cNvPr id="24" name="Shape 21"/>
          <p:cNvSpPr/>
          <p:nvPr/>
        </p:nvSpPr>
        <p:spPr>
          <a:xfrm>
            <a:off x="2743200" y="3831336"/>
            <a:ext cx="1234440" cy="274320"/>
          </a:xfrm>
          <a:prstGeom prst="roundRect">
            <a:avLst>
              <a:gd name="adj" fmla="val 50000"/>
            </a:avLst>
          </a:prstGeom>
          <a:solidFill>
            <a:srgbClr val="065A82"/>
          </a:solidFill>
          <a:ln/>
        </p:spPr>
      </p:sp>
      <p:sp>
        <p:nvSpPr>
          <p:cNvPr id="25" name="Text 22"/>
          <p:cNvSpPr/>
          <p:nvPr/>
        </p:nvSpPr>
        <p:spPr>
          <a:xfrm>
            <a:off x="2743200" y="3831336"/>
            <a:ext cx="12344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Structured</a:t>
            </a:r>
            <a:endParaRPr lang="en-US" sz="800" dirty="0"/>
          </a:p>
        </p:txBody>
      </p:sp>
      <p:sp>
        <p:nvSpPr>
          <p:cNvPr id="26" name="Text 23"/>
          <p:cNvSpPr/>
          <p:nvPr/>
        </p:nvSpPr>
        <p:spPr>
          <a:xfrm>
            <a:off x="822960" y="4160520"/>
            <a:ext cx="3154680" cy="640080"/>
          </a:xfrm>
          <a:prstGeom prst="rect">
            <a:avLst/>
          </a:prstGeom>
          <a:noFill/>
          <a:ln/>
        </p:spPr>
        <p:txBody>
          <a:bodyPr wrap="square" rtlCol="0" anchor="ctr"/>
          <a:lstStyle/>
          <a:p>
            <a:pPr indent="0" marL="0">
              <a:lnSpc>
                <a:spcPts val="1250"/>
              </a:lnSpc>
              <a:buNone/>
            </a:pPr>
            <a:r>
              <a:rPr lang="en-US" sz="1000" dirty="0">
                <a:solidFill>
                  <a:srgbClr val="1B1F27"/>
                </a:solidFill>
                <a:latin typeface="Calibri" pitchFamily="34" charset="0"/>
                <a:ea typeface="Calibri" pitchFamily="34" charset="-122"/>
                <a:cs typeface="Calibri" pitchFamily="34" charset="-120"/>
              </a:rPr>
              <a:t>Spreadsheet format with multiple sheets, formulas, formatting</a:t>
            </a:r>
            <a:endParaRPr lang="en-US" sz="1000" dirty="0"/>
          </a:p>
        </p:txBody>
      </p:sp>
      <p:sp>
        <p:nvSpPr>
          <p:cNvPr id="27" name="Shape 24"/>
          <p:cNvSpPr/>
          <p:nvPr/>
        </p:nvSpPr>
        <p:spPr>
          <a:xfrm>
            <a:off x="4343400" y="3685032"/>
            <a:ext cx="3520440" cy="1188720"/>
          </a:xfrm>
          <a:prstGeom prst="roundRect">
            <a:avLst>
              <a:gd name="adj" fmla="val 6154"/>
            </a:avLst>
          </a:prstGeom>
          <a:solidFill>
            <a:srgbClr val="E8F1F5"/>
          </a:solidFill>
          <a:ln/>
        </p:spPr>
      </p:sp>
      <p:sp>
        <p:nvSpPr>
          <p:cNvPr id="28" name="Text 25"/>
          <p:cNvSpPr/>
          <p:nvPr/>
        </p:nvSpPr>
        <p:spPr>
          <a:xfrm>
            <a:off x="4526280" y="3813048"/>
            <a:ext cx="2697480" cy="292608"/>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Plain Text (TXT)</a:t>
            </a:r>
            <a:endParaRPr lang="en-US" sz="1350" dirty="0"/>
          </a:p>
        </p:txBody>
      </p:sp>
      <p:sp>
        <p:nvSpPr>
          <p:cNvPr id="29" name="Shape 26"/>
          <p:cNvSpPr/>
          <p:nvPr/>
        </p:nvSpPr>
        <p:spPr>
          <a:xfrm>
            <a:off x="6446520" y="3831336"/>
            <a:ext cx="1234440" cy="274320"/>
          </a:xfrm>
          <a:prstGeom prst="roundRect">
            <a:avLst>
              <a:gd name="adj" fmla="val 50000"/>
            </a:avLst>
          </a:prstGeom>
          <a:solidFill>
            <a:srgbClr val="C0392B"/>
          </a:solidFill>
          <a:ln/>
        </p:spPr>
      </p:sp>
      <p:sp>
        <p:nvSpPr>
          <p:cNvPr id="30" name="Text 27"/>
          <p:cNvSpPr/>
          <p:nvPr/>
        </p:nvSpPr>
        <p:spPr>
          <a:xfrm>
            <a:off x="6446520" y="3831336"/>
            <a:ext cx="12344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Unstructured</a:t>
            </a:r>
            <a:endParaRPr lang="en-US" sz="800" dirty="0"/>
          </a:p>
        </p:txBody>
      </p:sp>
      <p:sp>
        <p:nvSpPr>
          <p:cNvPr id="31" name="Text 28"/>
          <p:cNvSpPr/>
          <p:nvPr/>
        </p:nvSpPr>
        <p:spPr>
          <a:xfrm>
            <a:off x="4526280" y="4160520"/>
            <a:ext cx="3154680" cy="640080"/>
          </a:xfrm>
          <a:prstGeom prst="rect">
            <a:avLst/>
          </a:prstGeom>
          <a:noFill/>
          <a:ln/>
        </p:spPr>
        <p:txBody>
          <a:bodyPr wrap="square" rtlCol="0" anchor="ctr"/>
          <a:lstStyle/>
          <a:p>
            <a:pPr indent="0" marL="0">
              <a:lnSpc>
                <a:spcPts val="1250"/>
              </a:lnSpc>
              <a:buNone/>
            </a:pPr>
            <a:r>
              <a:rPr lang="en-US" sz="1000" dirty="0">
                <a:solidFill>
                  <a:srgbClr val="1B1F27"/>
                </a:solidFill>
                <a:latin typeface="Calibri" pitchFamily="34" charset="0"/>
                <a:ea typeface="Calibri" pitchFamily="34" charset="-122"/>
                <a:cs typeface="Calibri" pitchFamily="34" charset="-120"/>
              </a:rPr>
              <a:t>No formatting — used for raw documents and logs</a:t>
            </a:r>
            <a:endParaRPr lang="en-US" sz="1000" dirty="0"/>
          </a:p>
        </p:txBody>
      </p:sp>
      <p:sp>
        <p:nvSpPr>
          <p:cNvPr id="32" name="Shape 29"/>
          <p:cNvSpPr/>
          <p:nvPr/>
        </p:nvSpPr>
        <p:spPr>
          <a:xfrm>
            <a:off x="8046720" y="3685032"/>
            <a:ext cx="3520440" cy="1188720"/>
          </a:xfrm>
          <a:prstGeom prst="roundRect">
            <a:avLst>
              <a:gd name="adj" fmla="val 6154"/>
            </a:avLst>
          </a:prstGeom>
          <a:solidFill>
            <a:srgbClr val="E8F1F5"/>
          </a:solidFill>
          <a:ln/>
        </p:spPr>
      </p:sp>
      <p:sp>
        <p:nvSpPr>
          <p:cNvPr id="33" name="Text 30"/>
          <p:cNvSpPr/>
          <p:nvPr/>
        </p:nvSpPr>
        <p:spPr>
          <a:xfrm>
            <a:off x="8229600" y="3813048"/>
            <a:ext cx="2697480" cy="292608"/>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Parquet</a:t>
            </a:r>
            <a:endParaRPr lang="en-US" sz="1350" dirty="0"/>
          </a:p>
        </p:txBody>
      </p:sp>
      <p:sp>
        <p:nvSpPr>
          <p:cNvPr id="34" name="Shape 31"/>
          <p:cNvSpPr/>
          <p:nvPr/>
        </p:nvSpPr>
        <p:spPr>
          <a:xfrm>
            <a:off x="10149840" y="3831336"/>
            <a:ext cx="1234440" cy="274320"/>
          </a:xfrm>
          <a:prstGeom prst="roundRect">
            <a:avLst>
              <a:gd name="adj" fmla="val 50000"/>
            </a:avLst>
          </a:prstGeom>
          <a:solidFill>
            <a:srgbClr val="065A82"/>
          </a:solidFill>
          <a:ln/>
        </p:spPr>
      </p:sp>
      <p:sp>
        <p:nvSpPr>
          <p:cNvPr id="35" name="Text 32"/>
          <p:cNvSpPr/>
          <p:nvPr/>
        </p:nvSpPr>
        <p:spPr>
          <a:xfrm>
            <a:off x="10149840" y="3831336"/>
            <a:ext cx="12344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Structured</a:t>
            </a:r>
            <a:endParaRPr lang="en-US" sz="800" dirty="0"/>
          </a:p>
        </p:txBody>
      </p:sp>
      <p:sp>
        <p:nvSpPr>
          <p:cNvPr id="36" name="Text 33"/>
          <p:cNvSpPr/>
          <p:nvPr/>
        </p:nvSpPr>
        <p:spPr>
          <a:xfrm>
            <a:off x="8229600" y="4160520"/>
            <a:ext cx="3154680" cy="640080"/>
          </a:xfrm>
          <a:prstGeom prst="rect">
            <a:avLst/>
          </a:prstGeom>
          <a:noFill/>
          <a:ln/>
        </p:spPr>
        <p:txBody>
          <a:bodyPr wrap="square" rtlCol="0" anchor="ctr"/>
          <a:lstStyle/>
          <a:p>
            <a:pPr indent="0" marL="0">
              <a:lnSpc>
                <a:spcPts val="1250"/>
              </a:lnSpc>
              <a:buNone/>
            </a:pPr>
            <a:r>
              <a:rPr lang="en-US" sz="1000" dirty="0">
                <a:solidFill>
                  <a:srgbClr val="1B1F27"/>
                </a:solidFill>
                <a:latin typeface="Calibri" pitchFamily="34" charset="0"/>
                <a:ea typeface="Calibri" pitchFamily="34" charset="-122"/>
                <a:cs typeface="Calibri" pitchFamily="34" charset="-120"/>
              </a:rPr>
              <a:t>Compressed, column-oriented format built for big data analytics</a:t>
            </a:r>
            <a:endParaRPr lang="en-US" sz="1000" dirty="0"/>
          </a:p>
        </p:txBody>
      </p:sp>
      <p:sp>
        <p:nvSpPr>
          <p:cNvPr id="38" name="Text 3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1828800" y="2926080"/>
            <a:ext cx="5486400" cy="5486400"/>
          </a:xfrm>
          <a:prstGeom prst="ellipse">
            <a:avLst/>
          </a:prstGeom>
          <a:solidFill>
            <a:srgbClr val="1C7293">
              <a:alpha val="40000"/>
            </a:srgbClr>
          </a:solidFill>
          <a:ln/>
        </p:spPr>
      </p:sp>
      <p:sp>
        <p:nvSpPr>
          <p:cNvPr id="3" name="Shape 1"/>
          <p:cNvSpPr/>
          <p:nvPr/>
        </p:nvSpPr>
        <p:spPr>
          <a:xfrm>
            <a:off x="9601200" y="-1828800"/>
            <a:ext cx="4572000" cy="4572000"/>
          </a:xfrm>
          <a:prstGeom prst="ellipse">
            <a:avLst/>
          </a:prstGeom>
          <a:solidFill>
            <a:srgbClr val="21295C">
              <a:alpha val="60000"/>
            </a:srgbClr>
          </a:solidFill>
          <a:ln/>
        </p:spPr>
      </p:sp>
      <p:sp>
        <p:nvSpPr>
          <p:cNvPr id="4" name="Text 2"/>
          <p:cNvSpPr/>
          <p:nvPr/>
        </p:nvSpPr>
        <p:spPr>
          <a:xfrm>
            <a:off x="822960" y="2651760"/>
            <a:ext cx="7315200" cy="411480"/>
          </a:xfrm>
          <a:prstGeom prst="rect">
            <a:avLst/>
          </a:prstGeom>
          <a:noFill/>
          <a:ln/>
        </p:spPr>
        <p:txBody>
          <a:bodyPr wrap="square" rtlCol="0" anchor="ctr"/>
          <a:lstStyle/>
          <a:p>
            <a:pPr indent="0" marL="0">
              <a:buNone/>
            </a:pPr>
            <a:r>
              <a:rPr lang="en-US" sz="1500" b="1" spc="300" kern="0" dirty="0">
                <a:solidFill>
                  <a:srgbClr val="9FC4DA"/>
                </a:solidFill>
                <a:latin typeface="Calibri" pitchFamily="34" charset="0"/>
                <a:ea typeface="Calibri" pitchFamily="34" charset="-122"/>
                <a:cs typeface="Calibri" pitchFamily="34" charset="-120"/>
              </a:rPr>
              <a:t>PART FOUR</a:t>
            </a:r>
            <a:endParaRPr lang="en-US" sz="1500" dirty="0"/>
          </a:p>
        </p:txBody>
      </p:sp>
      <p:sp>
        <p:nvSpPr>
          <p:cNvPr id="5" name="Text 3"/>
          <p:cNvSpPr/>
          <p:nvPr/>
        </p:nvSpPr>
        <p:spPr>
          <a:xfrm>
            <a:off x="777240" y="3017520"/>
            <a:ext cx="9601200" cy="118872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Data Repositories</a:t>
            </a:r>
            <a:endParaRPr lang="en-US" sz="3800" dirty="0"/>
          </a:p>
        </p:txBody>
      </p:sp>
      <p:sp>
        <p:nvSpPr>
          <p:cNvPr id="6" name="Text 4"/>
          <p:cNvSpPr/>
          <p:nvPr/>
        </p:nvSpPr>
        <p:spPr>
          <a:xfrm>
            <a:off x="822960" y="3977640"/>
            <a:ext cx="8686800" cy="457200"/>
          </a:xfrm>
          <a:prstGeom prst="rect">
            <a:avLst/>
          </a:prstGeom>
          <a:noFill/>
          <a:ln/>
        </p:spPr>
        <p:txBody>
          <a:bodyPr wrap="square" rtlCol="0" anchor="ctr"/>
          <a:lstStyle/>
          <a:p>
            <a:pPr indent="0" marL="0">
              <a:buNone/>
            </a:pPr>
            <a:r>
              <a:rPr lang="en-US" sz="1400" i="1" dirty="0">
                <a:solidFill>
                  <a:srgbClr val="E8F1F5"/>
                </a:solidFill>
                <a:latin typeface="Calibri" pitchFamily="34" charset="0"/>
                <a:ea typeface="Calibri" pitchFamily="34" charset="-122"/>
                <a:cs typeface="Calibri" pitchFamily="34" charset="-120"/>
              </a:rPr>
              <a:t>Where organizations actually store and manage all this data</a:t>
            </a:r>
            <a:endParaRPr lang="en-US" sz="1400" dirty="0"/>
          </a:p>
        </p:txBody>
      </p:sp>
      <p:sp>
        <p:nvSpPr>
          <p:cNvPr id="7"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058400" cy="548640"/>
          </a:xfrm>
          <a:prstGeom prst="rect">
            <a:avLst/>
          </a:prstGeom>
          <a:noFill/>
          <a:ln/>
        </p:spPr>
        <p:txBody>
          <a:bodyPr wrap="square" rtlCol="0" anchor="ctr"/>
          <a:lstStyle/>
          <a:p>
            <a:pPr indent="0" marL="0">
              <a:buNone/>
            </a:pPr>
            <a:r>
              <a:rPr lang="en-US" sz="2700" b="1" dirty="0">
                <a:solidFill>
                  <a:srgbClr val="21295C"/>
                </a:solidFill>
                <a:latin typeface="Cambria" pitchFamily="34" charset="0"/>
                <a:ea typeface="Cambria" pitchFamily="34" charset="-122"/>
                <a:cs typeface="Cambria" pitchFamily="34" charset="-120"/>
              </a:rPr>
              <a:t>Databases, Warehouses, Marts &amp; Lakes</a:t>
            </a:r>
            <a:endParaRPr lang="en-US" sz="2700" dirty="0"/>
          </a:p>
        </p:txBody>
      </p:sp>
      <p:sp>
        <p:nvSpPr>
          <p:cNvPr id="3" name="Text 1"/>
          <p:cNvSpPr/>
          <p:nvPr/>
        </p:nvSpPr>
        <p:spPr>
          <a:xfrm>
            <a:off x="640080" y="932688"/>
            <a:ext cx="10515600" cy="320040"/>
          </a:xfrm>
          <a:prstGeom prst="rect">
            <a:avLst/>
          </a:prstGeom>
          <a:noFill/>
          <a:ln/>
        </p:spPr>
        <p:txBody>
          <a:bodyPr wrap="square" rtlCol="0" anchor="ctr"/>
          <a:lstStyle/>
          <a:p>
            <a:pPr indent="0" marL="0">
              <a:buNone/>
            </a:pPr>
            <a:r>
              <a:rPr lang="en-US" sz="1250" dirty="0">
                <a:solidFill>
                  <a:srgbClr val="5B6672"/>
                </a:solidFill>
                <a:latin typeface="Calibri" pitchFamily="34" charset="0"/>
                <a:ea typeface="Calibri" pitchFamily="34" charset="-122"/>
                <a:cs typeface="Calibri" pitchFamily="34" charset="-120"/>
              </a:rPr>
              <a:t>Four common places organizations store data — each built for a different purpose</a:t>
            </a:r>
            <a:endParaRPr lang="en-US" sz="1250" dirty="0"/>
          </a:p>
        </p:txBody>
      </p:sp>
      <p:sp>
        <p:nvSpPr>
          <p:cNvPr id="4" name="Shape 2"/>
          <p:cNvSpPr/>
          <p:nvPr/>
        </p:nvSpPr>
        <p:spPr>
          <a:xfrm>
            <a:off x="640080" y="1417320"/>
            <a:ext cx="2606040" cy="4160520"/>
          </a:xfrm>
          <a:prstGeom prst="roundRect">
            <a:avLst>
              <a:gd name="adj" fmla="val 2807"/>
            </a:avLst>
          </a:prstGeom>
          <a:solidFill>
            <a:srgbClr val="065A82"/>
          </a:solidFill>
          <a:ln/>
        </p:spPr>
      </p:sp>
      <p:sp>
        <p:nvSpPr>
          <p:cNvPr id="5" name="Shape 3"/>
          <p:cNvSpPr/>
          <p:nvPr/>
        </p:nvSpPr>
        <p:spPr>
          <a:xfrm>
            <a:off x="1600200" y="1691640"/>
            <a:ext cx="685800" cy="685800"/>
          </a:xfrm>
          <a:prstGeom prst="ellipse">
            <a:avLst/>
          </a:prstGeom>
          <a:solidFill>
            <a:srgbClr val="21295C"/>
          </a:solidFill>
          <a:ln/>
        </p:spPr>
      </p:sp>
      <p:pic>
        <p:nvPicPr>
          <p:cNvPr id="6" name="Image 0" descr="/home/claude/ppt/icons/database.png">    </p:cNvPr>
          <p:cNvPicPr>
            <a:picLocks noChangeAspect="1"/>
          </p:cNvPicPr>
          <p:nvPr/>
        </p:nvPicPr>
        <p:blipFill>
          <a:blip r:embed="rId1"/>
          <a:stretch>
            <a:fillRect/>
          </a:stretch>
        </p:blipFill>
        <p:spPr>
          <a:xfrm>
            <a:off x="1778508" y="1869948"/>
            <a:ext cx="329184" cy="329184"/>
          </a:xfrm>
          <a:prstGeom prst="rect">
            <a:avLst/>
          </a:prstGeom>
        </p:spPr>
      </p:pic>
      <p:sp>
        <p:nvSpPr>
          <p:cNvPr id="7" name="Text 4"/>
          <p:cNvSpPr/>
          <p:nvPr/>
        </p:nvSpPr>
        <p:spPr>
          <a:xfrm>
            <a:off x="777240" y="2560320"/>
            <a:ext cx="2331720" cy="640080"/>
          </a:xfrm>
          <a:prstGeom prst="rect">
            <a:avLst/>
          </a:prstGeom>
          <a:noFill/>
          <a:ln/>
        </p:spPr>
        <p:txBody>
          <a:bodyPr wrap="square" rtlCol="0" anchor="ctr"/>
          <a:lstStyle/>
          <a:p>
            <a:pPr algn="ctr" indent="0" marL="0">
              <a:lnSpc>
                <a:spcPts val="1700"/>
              </a:lnSpc>
              <a:buNone/>
            </a:pPr>
            <a:r>
              <a:rPr lang="en-US" sz="1500" b="1" dirty="0">
                <a:solidFill>
                  <a:srgbClr val="FFFFFF"/>
                </a:solidFill>
                <a:latin typeface="Calibri" pitchFamily="34" charset="0"/>
                <a:ea typeface="Calibri" pitchFamily="34" charset="-122"/>
                <a:cs typeface="Calibri" pitchFamily="34" charset="-120"/>
              </a:rPr>
              <a:t>Database</a:t>
            </a:r>
            <a:endParaRPr lang="en-US" sz="1500" dirty="0"/>
          </a:p>
        </p:txBody>
      </p:sp>
      <p:sp>
        <p:nvSpPr>
          <p:cNvPr id="8" name="Text 5"/>
          <p:cNvSpPr/>
          <p:nvPr/>
        </p:nvSpPr>
        <p:spPr>
          <a:xfrm>
            <a:off x="822960" y="3291840"/>
            <a:ext cx="2240280" cy="1463040"/>
          </a:xfrm>
          <a:prstGeom prst="rect">
            <a:avLst/>
          </a:prstGeom>
          <a:noFill/>
          <a:ln/>
        </p:spPr>
        <p:txBody>
          <a:bodyPr wrap="square" rtlCol="0" anchor="ctr"/>
          <a:lstStyle/>
          <a:p>
            <a:pPr algn="ctr" indent="0" marL="0">
              <a:lnSpc>
                <a:spcPts val="1400"/>
              </a:lnSpc>
              <a:buNone/>
            </a:pPr>
            <a:r>
              <a:rPr lang="en-US" sz="1050" dirty="0">
                <a:solidFill>
                  <a:srgbClr val="F0F6F8"/>
                </a:solidFill>
                <a:latin typeface="Calibri" pitchFamily="34" charset="0"/>
                <a:ea typeface="Calibri" pitchFamily="34" charset="-122"/>
                <a:cs typeface="Calibri" pitchFamily="34" charset="-120"/>
              </a:rPr>
              <a:t>Stores day-to-day transactional data for a single application</a:t>
            </a:r>
            <a:endParaRPr lang="en-US" sz="1050" dirty="0"/>
          </a:p>
        </p:txBody>
      </p:sp>
      <p:sp>
        <p:nvSpPr>
          <p:cNvPr id="9" name="Shape 6"/>
          <p:cNvSpPr/>
          <p:nvPr/>
        </p:nvSpPr>
        <p:spPr>
          <a:xfrm>
            <a:off x="960120" y="4846320"/>
            <a:ext cx="1965960" cy="0"/>
          </a:xfrm>
          <a:prstGeom prst="line">
            <a:avLst/>
          </a:prstGeom>
          <a:noFill/>
          <a:ln w="9525">
            <a:solidFill>
              <a:srgbClr val="FFFFFF">
                <a:alpha val="60000"/>
              </a:srgbClr>
            </a:solidFill>
            <a:prstDash val="solid"/>
          </a:ln>
        </p:spPr>
      </p:sp>
      <p:sp>
        <p:nvSpPr>
          <p:cNvPr id="10" name="Text 7"/>
          <p:cNvSpPr/>
          <p:nvPr/>
        </p:nvSpPr>
        <p:spPr>
          <a:xfrm>
            <a:off x="822960" y="4937760"/>
            <a:ext cx="2240280" cy="228600"/>
          </a:xfrm>
          <a:prstGeom prst="rect">
            <a:avLst/>
          </a:prstGeom>
          <a:noFill/>
          <a:ln/>
        </p:spPr>
        <p:txBody>
          <a:bodyPr wrap="square" rtlCol="0" anchor="ctr"/>
          <a:lstStyle/>
          <a:p>
            <a:pPr algn="ctr" indent="0" marL="0">
              <a:buNone/>
            </a:pPr>
            <a:r>
              <a:rPr lang="en-US" sz="850" b="1" spc="100" kern="0" dirty="0">
                <a:solidFill>
                  <a:srgbClr val="F0F6F8"/>
                </a:solidFill>
                <a:latin typeface="Calibri" pitchFamily="34" charset="0"/>
                <a:ea typeface="Calibri" pitchFamily="34" charset="-122"/>
                <a:cs typeface="Calibri" pitchFamily="34" charset="-120"/>
              </a:rPr>
              <a:t>BEST FOR</a:t>
            </a:r>
            <a:endParaRPr lang="en-US" sz="850" dirty="0"/>
          </a:p>
        </p:txBody>
      </p:sp>
      <p:sp>
        <p:nvSpPr>
          <p:cNvPr id="11" name="Text 8"/>
          <p:cNvSpPr/>
          <p:nvPr/>
        </p:nvSpPr>
        <p:spPr>
          <a:xfrm>
            <a:off x="822960" y="5166360"/>
            <a:ext cx="2240280" cy="365760"/>
          </a:xfrm>
          <a:prstGeom prst="rect">
            <a:avLst/>
          </a:prstGeom>
          <a:noFill/>
          <a:ln/>
        </p:spPr>
        <p:txBody>
          <a:bodyPr wrap="square" rtlCol="0" anchor="ctr"/>
          <a:lstStyle/>
          <a:p>
            <a:pPr algn="ctr" indent="0" marL="0">
              <a:lnSpc>
                <a:spcPts val="1200"/>
              </a:lnSpc>
              <a:buNone/>
            </a:pPr>
            <a:r>
              <a:rPr lang="en-US" sz="1000" i="1" dirty="0">
                <a:solidFill>
                  <a:srgbClr val="FFFFFF"/>
                </a:solidFill>
                <a:latin typeface="Calibri" pitchFamily="34" charset="0"/>
                <a:ea typeface="Calibri" pitchFamily="34" charset="-122"/>
                <a:cs typeface="Calibri" pitchFamily="34" charset="-120"/>
              </a:rPr>
              <a:t>Real-time app operations</a:t>
            </a:r>
            <a:endParaRPr lang="en-US" sz="1000" dirty="0"/>
          </a:p>
        </p:txBody>
      </p:sp>
      <p:sp>
        <p:nvSpPr>
          <p:cNvPr id="12" name="Shape 9"/>
          <p:cNvSpPr/>
          <p:nvPr/>
        </p:nvSpPr>
        <p:spPr>
          <a:xfrm>
            <a:off x="3392424" y="1417320"/>
            <a:ext cx="2606040" cy="4160520"/>
          </a:xfrm>
          <a:prstGeom prst="roundRect">
            <a:avLst>
              <a:gd name="adj" fmla="val 2807"/>
            </a:avLst>
          </a:prstGeom>
          <a:solidFill>
            <a:srgbClr val="1C7293"/>
          </a:solidFill>
          <a:ln/>
        </p:spPr>
      </p:sp>
      <p:sp>
        <p:nvSpPr>
          <p:cNvPr id="13" name="Shape 10"/>
          <p:cNvSpPr/>
          <p:nvPr/>
        </p:nvSpPr>
        <p:spPr>
          <a:xfrm>
            <a:off x="4352544" y="1691640"/>
            <a:ext cx="685800" cy="685800"/>
          </a:xfrm>
          <a:prstGeom prst="ellipse">
            <a:avLst/>
          </a:prstGeom>
          <a:solidFill>
            <a:srgbClr val="21295C"/>
          </a:solidFill>
          <a:ln/>
        </p:spPr>
      </p:sp>
      <p:pic>
        <p:nvPicPr>
          <p:cNvPr id="14" name="Image 1" descr="/home/claude/ppt/icons/warehouse.png">    </p:cNvPr>
          <p:cNvPicPr>
            <a:picLocks noChangeAspect="1"/>
          </p:cNvPicPr>
          <p:nvPr/>
        </p:nvPicPr>
        <p:blipFill>
          <a:blip r:embed="rId2"/>
          <a:stretch>
            <a:fillRect/>
          </a:stretch>
        </p:blipFill>
        <p:spPr>
          <a:xfrm>
            <a:off x="4530852" y="1869948"/>
            <a:ext cx="329184" cy="329184"/>
          </a:xfrm>
          <a:prstGeom prst="rect">
            <a:avLst/>
          </a:prstGeom>
        </p:spPr>
      </p:pic>
      <p:sp>
        <p:nvSpPr>
          <p:cNvPr id="15" name="Text 11"/>
          <p:cNvSpPr/>
          <p:nvPr/>
        </p:nvSpPr>
        <p:spPr>
          <a:xfrm>
            <a:off x="3529584" y="2560320"/>
            <a:ext cx="2331720" cy="640080"/>
          </a:xfrm>
          <a:prstGeom prst="rect">
            <a:avLst/>
          </a:prstGeom>
          <a:noFill/>
          <a:ln/>
        </p:spPr>
        <p:txBody>
          <a:bodyPr wrap="square" rtlCol="0" anchor="ctr"/>
          <a:lstStyle/>
          <a:p>
            <a:pPr algn="ctr" indent="0" marL="0">
              <a:lnSpc>
                <a:spcPts val="1700"/>
              </a:lnSpc>
              <a:buNone/>
            </a:pPr>
            <a:r>
              <a:rPr lang="en-US" sz="1500" b="1" dirty="0">
                <a:solidFill>
                  <a:srgbClr val="FFFFFF"/>
                </a:solidFill>
                <a:latin typeface="Calibri" pitchFamily="34" charset="0"/>
                <a:ea typeface="Calibri" pitchFamily="34" charset="-122"/>
                <a:cs typeface="Calibri" pitchFamily="34" charset="-120"/>
              </a:rPr>
              <a:t>Data Warehouse</a:t>
            </a:r>
            <a:endParaRPr lang="en-US" sz="1500" dirty="0"/>
          </a:p>
        </p:txBody>
      </p:sp>
      <p:sp>
        <p:nvSpPr>
          <p:cNvPr id="16" name="Text 12"/>
          <p:cNvSpPr/>
          <p:nvPr/>
        </p:nvSpPr>
        <p:spPr>
          <a:xfrm>
            <a:off x="3575304" y="3291840"/>
            <a:ext cx="2240280" cy="1463040"/>
          </a:xfrm>
          <a:prstGeom prst="rect">
            <a:avLst/>
          </a:prstGeom>
          <a:noFill/>
          <a:ln/>
        </p:spPr>
        <p:txBody>
          <a:bodyPr wrap="square" rtlCol="0" anchor="ctr"/>
          <a:lstStyle/>
          <a:p>
            <a:pPr algn="ctr" indent="0" marL="0">
              <a:lnSpc>
                <a:spcPts val="1400"/>
              </a:lnSpc>
              <a:buNone/>
            </a:pPr>
            <a:r>
              <a:rPr lang="en-US" sz="1050" dirty="0">
                <a:solidFill>
                  <a:srgbClr val="F0F6F8"/>
                </a:solidFill>
                <a:latin typeface="Calibri" pitchFamily="34" charset="0"/>
                <a:ea typeface="Calibri" pitchFamily="34" charset="-122"/>
                <a:cs typeface="Calibri" pitchFamily="34" charset="-120"/>
              </a:rPr>
              <a:t>Combines cleaned, structured data from many sources for company-wide reporting</a:t>
            </a:r>
            <a:endParaRPr lang="en-US" sz="1050" dirty="0"/>
          </a:p>
        </p:txBody>
      </p:sp>
      <p:sp>
        <p:nvSpPr>
          <p:cNvPr id="17" name="Shape 13"/>
          <p:cNvSpPr/>
          <p:nvPr/>
        </p:nvSpPr>
        <p:spPr>
          <a:xfrm>
            <a:off x="3712464" y="4846320"/>
            <a:ext cx="1965960" cy="0"/>
          </a:xfrm>
          <a:prstGeom prst="line">
            <a:avLst/>
          </a:prstGeom>
          <a:noFill/>
          <a:ln w="9525">
            <a:solidFill>
              <a:srgbClr val="FFFFFF">
                <a:alpha val="60000"/>
              </a:srgbClr>
            </a:solidFill>
            <a:prstDash val="solid"/>
          </a:ln>
        </p:spPr>
      </p:sp>
      <p:sp>
        <p:nvSpPr>
          <p:cNvPr id="18" name="Text 14"/>
          <p:cNvSpPr/>
          <p:nvPr/>
        </p:nvSpPr>
        <p:spPr>
          <a:xfrm>
            <a:off x="3575304" y="4937760"/>
            <a:ext cx="2240280" cy="228600"/>
          </a:xfrm>
          <a:prstGeom prst="rect">
            <a:avLst/>
          </a:prstGeom>
          <a:noFill/>
          <a:ln/>
        </p:spPr>
        <p:txBody>
          <a:bodyPr wrap="square" rtlCol="0" anchor="ctr"/>
          <a:lstStyle/>
          <a:p>
            <a:pPr algn="ctr" indent="0" marL="0">
              <a:buNone/>
            </a:pPr>
            <a:r>
              <a:rPr lang="en-US" sz="850" b="1" spc="100" kern="0" dirty="0">
                <a:solidFill>
                  <a:srgbClr val="F0F6F8"/>
                </a:solidFill>
                <a:latin typeface="Calibri" pitchFamily="34" charset="0"/>
                <a:ea typeface="Calibri" pitchFamily="34" charset="-122"/>
                <a:cs typeface="Calibri" pitchFamily="34" charset="-120"/>
              </a:rPr>
              <a:t>BEST FOR</a:t>
            </a:r>
            <a:endParaRPr lang="en-US" sz="850" dirty="0"/>
          </a:p>
        </p:txBody>
      </p:sp>
      <p:sp>
        <p:nvSpPr>
          <p:cNvPr id="19" name="Text 15"/>
          <p:cNvSpPr/>
          <p:nvPr/>
        </p:nvSpPr>
        <p:spPr>
          <a:xfrm>
            <a:off x="3575304" y="5166360"/>
            <a:ext cx="2240280" cy="365760"/>
          </a:xfrm>
          <a:prstGeom prst="rect">
            <a:avLst/>
          </a:prstGeom>
          <a:noFill/>
          <a:ln/>
        </p:spPr>
        <p:txBody>
          <a:bodyPr wrap="square" rtlCol="0" anchor="ctr"/>
          <a:lstStyle/>
          <a:p>
            <a:pPr algn="ctr" indent="0" marL="0">
              <a:lnSpc>
                <a:spcPts val="1200"/>
              </a:lnSpc>
              <a:buNone/>
            </a:pPr>
            <a:r>
              <a:rPr lang="en-US" sz="1000" i="1" dirty="0">
                <a:solidFill>
                  <a:srgbClr val="FFFFFF"/>
                </a:solidFill>
                <a:latin typeface="Calibri" pitchFamily="34" charset="0"/>
                <a:ea typeface="Calibri" pitchFamily="34" charset="-122"/>
                <a:cs typeface="Calibri" pitchFamily="34" charset="-120"/>
              </a:rPr>
              <a:t>Business intelligence &amp; reports</a:t>
            </a:r>
            <a:endParaRPr lang="en-US" sz="1000" dirty="0"/>
          </a:p>
        </p:txBody>
      </p:sp>
      <p:sp>
        <p:nvSpPr>
          <p:cNvPr id="20" name="Shape 16"/>
          <p:cNvSpPr/>
          <p:nvPr/>
        </p:nvSpPr>
        <p:spPr>
          <a:xfrm>
            <a:off x="6144768" y="1417320"/>
            <a:ext cx="2606040" cy="4160520"/>
          </a:xfrm>
          <a:prstGeom prst="roundRect">
            <a:avLst>
              <a:gd name="adj" fmla="val 2807"/>
            </a:avLst>
          </a:prstGeom>
          <a:solidFill>
            <a:srgbClr val="6B8F71"/>
          </a:solidFill>
          <a:ln/>
        </p:spPr>
      </p:sp>
      <p:sp>
        <p:nvSpPr>
          <p:cNvPr id="21" name="Shape 17"/>
          <p:cNvSpPr/>
          <p:nvPr/>
        </p:nvSpPr>
        <p:spPr>
          <a:xfrm>
            <a:off x="7104888" y="1691640"/>
            <a:ext cx="685800" cy="685800"/>
          </a:xfrm>
          <a:prstGeom prst="ellipse">
            <a:avLst/>
          </a:prstGeom>
          <a:solidFill>
            <a:srgbClr val="21295C"/>
          </a:solidFill>
          <a:ln/>
        </p:spPr>
      </p:sp>
      <p:pic>
        <p:nvPicPr>
          <p:cNvPr id="22" name="Image 2" descr="/home/claude/ppt/icons/mart.png">    </p:cNvPr>
          <p:cNvPicPr>
            <a:picLocks noChangeAspect="1"/>
          </p:cNvPicPr>
          <p:nvPr/>
        </p:nvPicPr>
        <p:blipFill>
          <a:blip r:embed="rId3"/>
          <a:stretch>
            <a:fillRect/>
          </a:stretch>
        </p:blipFill>
        <p:spPr>
          <a:xfrm>
            <a:off x="7283196" y="1869948"/>
            <a:ext cx="329184" cy="329184"/>
          </a:xfrm>
          <a:prstGeom prst="rect">
            <a:avLst/>
          </a:prstGeom>
        </p:spPr>
      </p:pic>
      <p:sp>
        <p:nvSpPr>
          <p:cNvPr id="23" name="Text 18"/>
          <p:cNvSpPr/>
          <p:nvPr/>
        </p:nvSpPr>
        <p:spPr>
          <a:xfrm>
            <a:off x="6281928" y="2560320"/>
            <a:ext cx="2331720" cy="640080"/>
          </a:xfrm>
          <a:prstGeom prst="rect">
            <a:avLst/>
          </a:prstGeom>
          <a:noFill/>
          <a:ln/>
        </p:spPr>
        <p:txBody>
          <a:bodyPr wrap="square" rtlCol="0" anchor="ctr"/>
          <a:lstStyle/>
          <a:p>
            <a:pPr algn="ctr" indent="0" marL="0">
              <a:lnSpc>
                <a:spcPts val="1700"/>
              </a:lnSpc>
              <a:buNone/>
            </a:pPr>
            <a:r>
              <a:rPr lang="en-US" sz="1500" b="1" dirty="0">
                <a:solidFill>
                  <a:srgbClr val="FFFFFF"/>
                </a:solidFill>
                <a:latin typeface="Calibri" pitchFamily="34" charset="0"/>
                <a:ea typeface="Calibri" pitchFamily="34" charset="-122"/>
                <a:cs typeface="Calibri" pitchFamily="34" charset="-120"/>
              </a:rPr>
              <a:t>Data Mart</a:t>
            </a:r>
            <a:endParaRPr lang="en-US" sz="1500" dirty="0"/>
          </a:p>
        </p:txBody>
      </p:sp>
      <p:sp>
        <p:nvSpPr>
          <p:cNvPr id="24" name="Text 19"/>
          <p:cNvSpPr/>
          <p:nvPr/>
        </p:nvSpPr>
        <p:spPr>
          <a:xfrm>
            <a:off x="6327648" y="3291840"/>
            <a:ext cx="2240280" cy="1463040"/>
          </a:xfrm>
          <a:prstGeom prst="rect">
            <a:avLst/>
          </a:prstGeom>
          <a:noFill/>
          <a:ln/>
        </p:spPr>
        <p:txBody>
          <a:bodyPr wrap="square" rtlCol="0" anchor="ctr"/>
          <a:lstStyle/>
          <a:p>
            <a:pPr algn="ctr" indent="0" marL="0">
              <a:lnSpc>
                <a:spcPts val="1400"/>
              </a:lnSpc>
              <a:buNone/>
            </a:pPr>
            <a:r>
              <a:rPr lang="en-US" sz="1050" dirty="0">
                <a:solidFill>
                  <a:srgbClr val="F0F6F8"/>
                </a:solidFill>
                <a:latin typeface="Calibri" pitchFamily="34" charset="0"/>
                <a:ea typeface="Calibri" pitchFamily="34" charset="-122"/>
                <a:cs typeface="Calibri" pitchFamily="34" charset="-120"/>
              </a:rPr>
              <a:t>A smaller, focused subset of a warehouse for one department or team</a:t>
            </a:r>
            <a:endParaRPr lang="en-US" sz="1050" dirty="0"/>
          </a:p>
        </p:txBody>
      </p:sp>
      <p:sp>
        <p:nvSpPr>
          <p:cNvPr id="25" name="Shape 20"/>
          <p:cNvSpPr/>
          <p:nvPr/>
        </p:nvSpPr>
        <p:spPr>
          <a:xfrm>
            <a:off x="6464808" y="4846320"/>
            <a:ext cx="1965960" cy="0"/>
          </a:xfrm>
          <a:prstGeom prst="line">
            <a:avLst/>
          </a:prstGeom>
          <a:noFill/>
          <a:ln w="9525">
            <a:solidFill>
              <a:srgbClr val="FFFFFF">
                <a:alpha val="60000"/>
              </a:srgbClr>
            </a:solidFill>
            <a:prstDash val="solid"/>
          </a:ln>
        </p:spPr>
      </p:sp>
      <p:sp>
        <p:nvSpPr>
          <p:cNvPr id="26" name="Text 21"/>
          <p:cNvSpPr/>
          <p:nvPr/>
        </p:nvSpPr>
        <p:spPr>
          <a:xfrm>
            <a:off x="6327648" y="4937760"/>
            <a:ext cx="2240280" cy="228600"/>
          </a:xfrm>
          <a:prstGeom prst="rect">
            <a:avLst/>
          </a:prstGeom>
          <a:noFill/>
          <a:ln/>
        </p:spPr>
        <p:txBody>
          <a:bodyPr wrap="square" rtlCol="0" anchor="ctr"/>
          <a:lstStyle/>
          <a:p>
            <a:pPr algn="ctr" indent="0" marL="0">
              <a:buNone/>
            </a:pPr>
            <a:r>
              <a:rPr lang="en-US" sz="850" b="1" spc="100" kern="0" dirty="0">
                <a:solidFill>
                  <a:srgbClr val="F0F6F8"/>
                </a:solidFill>
                <a:latin typeface="Calibri" pitchFamily="34" charset="0"/>
                <a:ea typeface="Calibri" pitchFamily="34" charset="-122"/>
                <a:cs typeface="Calibri" pitchFamily="34" charset="-120"/>
              </a:rPr>
              <a:t>BEST FOR</a:t>
            </a:r>
            <a:endParaRPr lang="en-US" sz="850" dirty="0"/>
          </a:p>
        </p:txBody>
      </p:sp>
      <p:sp>
        <p:nvSpPr>
          <p:cNvPr id="27" name="Text 22"/>
          <p:cNvSpPr/>
          <p:nvPr/>
        </p:nvSpPr>
        <p:spPr>
          <a:xfrm>
            <a:off x="6327648" y="5166360"/>
            <a:ext cx="2240280" cy="365760"/>
          </a:xfrm>
          <a:prstGeom prst="rect">
            <a:avLst/>
          </a:prstGeom>
          <a:noFill/>
          <a:ln/>
        </p:spPr>
        <p:txBody>
          <a:bodyPr wrap="square" rtlCol="0" anchor="ctr"/>
          <a:lstStyle/>
          <a:p>
            <a:pPr algn="ctr" indent="0" marL="0">
              <a:lnSpc>
                <a:spcPts val="1200"/>
              </a:lnSpc>
              <a:buNone/>
            </a:pPr>
            <a:r>
              <a:rPr lang="en-US" sz="1000" i="1" dirty="0">
                <a:solidFill>
                  <a:srgbClr val="FFFFFF"/>
                </a:solidFill>
                <a:latin typeface="Calibri" pitchFamily="34" charset="0"/>
                <a:ea typeface="Calibri" pitchFamily="34" charset="-122"/>
                <a:cs typeface="Calibri" pitchFamily="34" charset="-120"/>
              </a:rPr>
              <a:t>Department-level analysis</a:t>
            </a:r>
            <a:endParaRPr lang="en-US" sz="1000" dirty="0"/>
          </a:p>
        </p:txBody>
      </p:sp>
      <p:sp>
        <p:nvSpPr>
          <p:cNvPr id="28" name="Shape 23"/>
          <p:cNvSpPr/>
          <p:nvPr/>
        </p:nvSpPr>
        <p:spPr>
          <a:xfrm>
            <a:off x="8897112" y="1417320"/>
            <a:ext cx="2606040" cy="4160520"/>
          </a:xfrm>
          <a:prstGeom prst="roundRect">
            <a:avLst>
              <a:gd name="adj" fmla="val 2807"/>
            </a:avLst>
          </a:prstGeom>
          <a:solidFill>
            <a:srgbClr val="3B7EA1"/>
          </a:solidFill>
          <a:ln/>
        </p:spPr>
      </p:sp>
      <p:sp>
        <p:nvSpPr>
          <p:cNvPr id="29" name="Shape 24"/>
          <p:cNvSpPr/>
          <p:nvPr/>
        </p:nvSpPr>
        <p:spPr>
          <a:xfrm>
            <a:off x="9857232" y="1691640"/>
            <a:ext cx="685800" cy="685800"/>
          </a:xfrm>
          <a:prstGeom prst="ellipse">
            <a:avLst/>
          </a:prstGeom>
          <a:solidFill>
            <a:srgbClr val="21295C"/>
          </a:solidFill>
          <a:ln/>
        </p:spPr>
      </p:sp>
      <p:pic>
        <p:nvPicPr>
          <p:cNvPr id="30" name="Image 3" descr="/home/claude/ppt/icons/lake.png">    </p:cNvPr>
          <p:cNvPicPr>
            <a:picLocks noChangeAspect="1"/>
          </p:cNvPicPr>
          <p:nvPr/>
        </p:nvPicPr>
        <p:blipFill>
          <a:blip r:embed="rId4"/>
          <a:stretch>
            <a:fillRect/>
          </a:stretch>
        </p:blipFill>
        <p:spPr>
          <a:xfrm>
            <a:off x="10035540" y="1869948"/>
            <a:ext cx="329184" cy="329184"/>
          </a:xfrm>
          <a:prstGeom prst="rect">
            <a:avLst/>
          </a:prstGeom>
        </p:spPr>
      </p:pic>
      <p:sp>
        <p:nvSpPr>
          <p:cNvPr id="31" name="Text 25"/>
          <p:cNvSpPr/>
          <p:nvPr/>
        </p:nvSpPr>
        <p:spPr>
          <a:xfrm>
            <a:off x="9034272" y="2560320"/>
            <a:ext cx="2331720" cy="640080"/>
          </a:xfrm>
          <a:prstGeom prst="rect">
            <a:avLst/>
          </a:prstGeom>
          <a:noFill/>
          <a:ln/>
        </p:spPr>
        <p:txBody>
          <a:bodyPr wrap="square" rtlCol="0" anchor="ctr"/>
          <a:lstStyle/>
          <a:p>
            <a:pPr algn="ctr" indent="0" marL="0">
              <a:lnSpc>
                <a:spcPts val="1700"/>
              </a:lnSpc>
              <a:buNone/>
            </a:pPr>
            <a:r>
              <a:rPr lang="en-US" sz="1500" b="1" dirty="0">
                <a:solidFill>
                  <a:srgbClr val="FFFFFF"/>
                </a:solidFill>
                <a:latin typeface="Calibri" pitchFamily="34" charset="0"/>
                <a:ea typeface="Calibri" pitchFamily="34" charset="-122"/>
                <a:cs typeface="Calibri" pitchFamily="34" charset="-120"/>
              </a:rPr>
              <a:t>Data Lake</a:t>
            </a:r>
            <a:endParaRPr lang="en-US" sz="1500" dirty="0"/>
          </a:p>
        </p:txBody>
      </p:sp>
      <p:sp>
        <p:nvSpPr>
          <p:cNvPr id="32" name="Text 26"/>
          <p:cNvSpPr/>
          <p:nvPr/>
        </p:nvSpPr>
        <p:spPr>
          <a:xfrm>
            <a:off x="9079992" y="3291840"/>
            <a:ext cx="2240280" cy="1463040"/>
          </a:xfrm>
          <a:prstGeom prst="rect">
            <a:avLst/>
          </a:prstGeom>
          <a:noFill/>
          <a:ln/>
        </p:spPr>
        <p:txBody>
          <a:bodyPr wrap="square" rtlCol="0" anchor="ctr"/>
          <a:lstStyle/>
          <a:p>
            <a:pPr algn="ctr" indent="0" marL="0">
              <a:lnSpc>
                <a:spcPts val="1400"/>
              </a:lnSpc>
              <a:buNone/>
            </a:pPr>
            <a:r>
              <a:rPr lang="en-US" sz="1050" dirty="0">
                <a:solidFill>
                  <a:srgbClr val="F0F6F8"/>
                </a:solidFill>
                <a:latin typeface="Calibri" pitchFamily="34" charset="0"/>
                <a:ea typeface="Calibri" pitchFamily="34" charset="-122"/>
                <a:cs typeface="Calibri" pitchFamily="34" charset="-120"/>
              </a:rPr>
              <a:t>Stores massive volumes of raw data in any format — structured, semi-, or unstructured</a:t>
            </a:r>
            <a:endParaRPr lang="en-US" sz="1050" dirty="0"/>
          </a:p>
        </p:txBody>
      </p:sp>
      <p:sp>
        <p:nvSpPr>
          <p:cNvPr id="33" name="Shape 27"/>
          <p:cNvSpPr/>
          <p:nvPr/>
        </p:nvSpPr>
        <p:spPr>
          <a:xfrm>
            <a:off x="9217152" y="4846320"/>
            <a:ext cx="1965960" cy="0"/>
          </a:xfrm>
          <a:prstGeom prst="line">
            <a:avLst/>
          </a:prstGeom>
          <a:noFill/>
          <a:ln w="9525">
            <a:solidFill>
              <a:srgbClr val="FFFFFF">
                <a:alpha val="60000"/>
              </a:srgbClr>
            </a:solidFill>
            <a:prstDash val="solid"/>
          </a:ln>
        </p:spPr>
      </p:sp>
      <p:sp>
        <p:nvSpPr>
          <p:cNvPr id="34" name="Text 28"/>
          <p:cNvSpPr/>
          <p:nvPr/>
        </p:nvSpPr>
        <p:spPr>
          <a:xfrm>
            <a:off x="9079992" y="4937760"/>
            <a:ext cx="2240280" cy="228600"/>
          </a:xfrm>
          <a:prstGeom prst="rect">
            <a:avLst/>
          </a:prstGeom>
          <a:noFill/>
          <a:ln/>
        </p:spPr>
        <p:txBody>
          <a:bodyPr wrap="square" rtlCol="0" anchor="ctr"/>
          <a:lstStyle/>
          <a:p>
            <a:pPr algn="ctr" indent="0" marL="0">
              <a:buNone/>
            </a:pPr>
            <a:r>
              <a:rPr lang="en-US" sz="850" b="1" spc="100" kern="0" dirty="0">
                <a:solidFill>
                  <a:srgbClr val="F0F6F8"/>
                </a:solidFill>
                <a:latin typeface="Calibri" pitchFamily="34" charset="0"/>
                <a:ea typeface="Calibri" pitchFamily="34" charset="-122"/>
                <a:cs typeface="Calibri" pitchFamily="34" charset="-120"/>
              </a:rPr>
              <a:t>BEST FOR</a:t>
            </a:r>
            <a:endParaRPr lang="en-US" sz="850" dirty="0"/>
          </a:p>
        </p:txBody>
      </p:sp>
      <p:sp>
        <p:nvSpPr>
          <p:cNvPr id="35" name="Text 29"/>
          <p:cNvSpPr/>
          <p:nvPr/>
        </p:nvSpPr>
        <p:spPr>
          <a:xfrm>
            <a:off x="9079992" y="5166360"/>
            <a:ext cx="2240280" cy="365760"/>
          </a:xfrm>
          <a:prstGeom prst="rect">
            <a:avLst/>
          </a:prstGeom>
          <a:noFill/>
          <a:ln/>
        </p:spPr>
        <p:txBody>
          <a:bodyPr wrap="square" rtlCol="0" anchor="ctr"/>
          <a:lstStyle/>
          <a:p>
            <a:pPr algn="ctr" indent="0" marL="0">
              <a:lnSpc>
                <a:spcPts val="1200"/>
              </a:lnSpc>
              <a:buNone/>
            </a:pPr>
            <a:r>
              <a:rPr lang="en-US" sz="1000" i="1" dirty="0">
                <a:solidFill>
                  <a:srgbClr val="FFFFFF"/>
                </a:solidFill>
                <a:latin typeface="Calibri" pitchFamily="34" charset="0"/>
                <a:ea typeface="Calibri" pitchFamily="34" charset="-122"/>
                <a:cs typeface="Calibri" pitchFamily="34" charset="-120"/>
              </a:rPr>
              <a:t>Big data &amp; machine learning</a:t>
            </a:r>
            <a:endParaRPr lang="en-US" sz="1000" dirty="0"/>
          </a:p>
        </p:txBody>
      </p:sp>
      <p:sp>
        <p:nvSpPr>
          <p:cNvPr id="37" name="Text 3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21295C"/>
          </a:solidFill>
          <a:ln/>
        </p:spPr>
      </p:sp>
      <p:pic>
        <p:nvPicPr>
          <p:cNvPr id="3" name="Image 0" descr="/home/claude/ppt/icons/pipeline.png">    </p:cNvPr>
          <p:cNvPicPr>
            <a:picLocks noChangeAspect="1"/>
          </p:cNvPicPr>
          <p:nvPr/>
        </p:nvPicPr>
        <p:blipFill>
          <a:blip r:embed="rId1"/>
          <a:stretch>
            <a:fillRect/>
          </a:stretch>
        </p:blipFill>
        <p:spPr>
          <a:xfrm>
            <a:off x="854050" y="716890"/>
            <a:ext cx="395021" cy="395021"/>
          </a:xfrm>
          <a:prstGeom prst="rect">
            <a:avLst/>
          </a:prstGeom>
        </p:spPr>
      </p:pic>
      <p:sp>
        <p:nvSpPr>
          <p:cNvPr id="4" name="Text 1"/>
          <p:cNvSpPr/>
          <p:nvPr/>
        </p:nvSpPr>
        <p:spPr>
          <a:xfrm>
            <a:off x="1645920" y="502920"/>
            <a:ext cx="7315200" cy="45720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Data Pipelines</a:t>
            </a:r>
            <a:endParaRPr lang="en-US" sz="2800" dirty="0"/>
          </a:p>
        </p:txBody>
      </p:sp>
      <p:sp>
        <p:nvSpPr>
          <p:cNvPr id="5" name="Shape 2"/>
          <p:cNvSpPr/>
          <p:nvPr/>
        </p:nvSpPr>
        <p:spPr>
          <a:xfrm>
            <a:off x="640080" y="1463040"/>
            <a:ext cx="10881360" cy="0"/>
          </a:xfrm>
          <a:prstGeom prst="line">
            <a:avLst/>
          </a:prstGeom>
          <a:noFill/>
          <a:ln w="12700">
            <a:solidFill>
              <a:srgbClr val="D6E3E9"/>
            </a:solidFill>
            <a:prstDash val="solid"/>
          </a:ln>
        </p:spPr>
      </p:sp>
      <p:sp>
        <p:nvSpPr>
          <p:cNvPr id="6" name="Text 3"/>
          <p:cNvSpPr/>
          <p:nvPr/>
        </p:nvSpPr>
        <p:spPr>
          <a:xfrm>
            <a:off x="640080" y="1645920"/>
            <a:ext cx="10881360" cy="685800"/>
          </a:xfrm>
          <a:prstGeom prst="rect">
            <a:avLst/>
          </a:prstGeom>
          <a:noFill/>
          <a:ln/>
        </p:spPr>
        <p:txBody>
          <a:bodyPr wrap="square" rtlCol="0" anchor="ctr"/>
          <a:lstStyle/>
          <a:p>
            <a:pPr indent="0" marL="0">
              <a:lnSpc>
                <a:spcPts val="1800"/>
              </a:lnSpc>
              <a:buNone/>
            </a:pPr>
            <a:r>
              <a:rPr lang="en-US" sz="1400" dirty="0">
                <a:solidFill>
                  <a:srgbClr val="1B1F27"/>
                </a:solidFill>
                <a:latin typeface="Calibri" pitchFamily="34" charset="0"/>
                <a:ea typeface="Calibri" pitchFamily="34" charset="-122"/>
                <a:cs typeface="Calibri" pitchFamily="34" charset="-120"/>
              </a:rPr>
              <a:t>A Data Pipeline is a set of automated steps that move data from its source(s) to a storage or analysis destination — cleaning and transforming it along the way.</a:t>
            </a:r>
            <a:endParaRPr lang="en-US" sz="1400" dirty="0"/>
          </a:p>
        </p:txBody>
      </p:sp>
      <p:sp>
        <p:nvSpPr>
          <p:cNvPr id="7" name="Shape 4"/>
          <p:cNvSpPr/>
          <p:nvPr/>
        </p:nvSpPr>
        <p:spPr>
          <a:xfrm>
            <a:off x="640080" y="2606040"/>
            <a:ext cx="2514600" cy="1737360"/>
          </a:xfrm>
          <a:prstGeom prst="roundRect">
            <a:avLst>
              <a:gd name="adj" fmla="val 4211"/>
            </a:avLst>
          </a:prstGeom>
          <a:solidFill>
            <a:srgbClr val="065A82"/>
          </a:solidFill>
          <a:ln/>
        </p:spPr>
      </p:sp>
      <p:sp>
        <p:nvSpPr>
          <p:cNvPr id="8" name="Text 5"/>
          <p:cNvSpPr/>
          <p:nvPr/>
        </p:nvSpPr>
        <p:spPr>
          <a:xfrm>
            <a:off x="804672" y="2743200"/>
            <a:ext cx="548640" cy="411480"/>
          </a:xfrm>
          <a:prstGeom prst="rect">
            <a:avLst/>
          </a:prstGeom>
          <a:noFill/>
          <a:ln/>
        </p:spPr>
        <p:txBody>
          <a:bodyPr wrap="square" rtlCol="0" anchor="ctr"/>
          <a:lstStyle/>
          <a:p>
            <a:pPr indent="0" marL="0">
              <a:buNone/>
            </a:pPr>
            <a:r>
              <a:rPr lang="en-US" sz="2200" b="1" dirty="0">
                <a:solidFill>
                  <a:srgbClr val="BBDDEA"/>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804672" y="3154680"/>
            <a:ext cx="2185416"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Extract</a:t>
            </a:r>
            <a:endParaRPr lang="en-US" sz="1500" dirty="0"/>
          </a:p>
        </p:txBody>
      </p:sp>
      <p:sp>
        <p:nvSpPr>
          <p:cNvPr id="10" name="Text 7"/>
          <p:cNvSpPr/>
          <p:nvPr/>
        </p:nvSpPr>
        <p:spPr>
          <a:xfrm>
            <a:off x="804672" y="3502152"/>
            <a:ext cx="2185416" cy="777240"/>
          </a:xfrm>
          <a:prstGeom prst="rect">
            <a:avLst/>
          </a:prstGeom>
          <a:noFill/>
          <a:ln/>
        </p:spPr>
        <p:txBody>
          <a:bodyPr wrap="square" rtlCol="0" anchor="ctr"/>
          <a:lstStyle/>
          <a:p>
            <a:pPr indent="0" marL="0">
              <a:lnSpc>
                <a:spcPts val="1300"/>
              </a:lnSpc>
              <a:buNone/>
            </a:pPr>
            <a:r>
              <a:rPr lang="en-US" sz="1050" dirty="0">
                <a:solidFill>
                  <a:srgbClr val="E4F0F5"/>
                </a:solidFill>
                <a:latin typeface="Calibri" pitchFamily="34" charset="0"/>
                <a:ea typeface="Calibri" pitchFamily="34" charset="-122"/>
                <a:cs typeface="Calibri" pitchFamily="34" charset="-120"/>
              </a:rPr>
              <a:t>Pull raw data from sources: apps, sensors, files, APIs</a:t>
            </a:r>
            <a:endParaRPr lang="en-US" sz="1050" dirty="0"/>
          </a:p>
        </p:txBody>
      </p:sp>
      <p:sp>
        <p:nvSpPr>
          <p:cNvPr id="11" name="Shape 8"/>
          <p:cNvSpPr/>
          <p:nvPr/>
        </p:nvSpPr>
        <p:spPr>
          <a:xfrm rot="5400000">
            <a:off x="3200400" y="3383280"/>
            <a:ext cx="164592" cy="292608"/>
          </a:xfrm>
          <a:prstGeom prst="triangle">
            <a:avLst/>
          </a:prstGeom>
          <a:solidFill>
            <a:srgbClr val="5B6672"/>
          </a:solidFill>
          <a:ln/>
        </p:spPr>
      </p:sp>
      <p:sp>
        <p:nvSpPr>
          <p:cNvPr id="12" name="Shape 9"/>
          <p:cNvSpPr/>
          <p:nvPr/>
        </p:nvSpPr>
        <p:spPr>
          <a:xfrm>
            <a:off x="3410712" y="2606040"/>
            <a:ext cx="2514600" cy="1737360"/>
          </a:xfrm>
          <a:prstGeom prst="roundRect">
            <a:avLst>
              <a:gd name="adj" fmla="val 4211"/>
            </a:avLst>
          </a:prstGeom>
          <a:solidFill>
            <a:srgbClr val="1C7293"/>
          </a:solidFill>
          <a:ln/>
        </p:spPr>
      </p:sp>
      <p:sp>
        <p:nvSpPr>
          <p:cNvPr id="13" name="Text 10"/>
          <p:cNvSpPr/>
          <p:nvPr/>
        </p:nvSpPr>
        <p:spPr>
          <a:xfrm>
            <a:off x="3575304" y="2743200"/>
            <a:ext cx="548640" cy="411480"/>
          </a:xfrm>
          <a:prstGeom prst="rect">
            <a:avLst/>
          </a:prstGeom>
          <a:noFill/>
          <a:ln/>
        </p:spPr>
        <p:txBody>
          <a:bodyPr wrap="square" rtlCol="0" anchor="ctr"/>
          <a:lstStyle/>
          <a:p>
            <a:pPr indent="0" marL="0">
              <a:buNone/>
            </a:pPr>
            <a:r>
              <a:rPr lang="en-US" sz="2200" b="1" dirty="0">
                <a:solidFill>
                  <a:srgbClr val="BBDDEA"/>
                </a:solidFill>
                <a:latin typeface="Cambria" pitchFamily="34" charset="0"/>
                <a:ea typeface="Cambria" pitchFamily="34" charset="-122"/>
                <a:cs typeface="Cambria" pitchFamily="34" charset="-120"/>
              </a:rPr>
              <a:t>2</a:t>
            </a:r>
            <a:endParaRPr lang="en-US" sz="2200" dirty="0"/>
          </a:p>
        </p:txBody>
      </p:sp>
      <p:sp>
        <p:nvSpPr>
          <p:cNvPr id="14" name="Text 11"/>
          <p:cNvSpPr/>
          <p:nvPr/>
        </p:nvSpPr>
        <p:spPr>
          <a:xfrm>
            <a:off x="3575304" y="3154680"/>
            <a:ext cx="2185416"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Transform</a:t>
            </a:r>
            <a:endParaRPr lang="en-US" sz="1500" dirty="0"/>
          </a:p>
        </p:txBody>
      </p:sp>
      <p:sp>
        <p:nvSpPr>
          <p:cNvPr id="15" name="Text 12"/>
          <p:cNvSpPr/>
          <p:nvPr/>
        </p:nvSpPr>
        <p:spPr>
          <a:xfrm>
            <a:off x="3575304" y="3502152"/>
            <a:ext cx="2185416" cy="777240"/>
          </a:xfrm>
          <a:prstGeom prst="rect">
            <a:avLst/>
          </a:prstGeom>
          <a:noFill/>
          <a:ln/>
        </p:spPr>
        <p:txBody>
          <a:bodyPr wrap="square" rtlCol="0" anchor="ctr"/>
          <a:lstStyle/>
          <a:p>
            <a:pPr indent="0" marL="0">
              <a:lnSpc>
                <a:spcPts val="1300"/>
              </a:lnSpc>
              <a:buNone/>
            </a:pPr>
            <a:r>
              <a:rPr lang="en-US" sz="1050" dirty="0">
                <a:solidFill>
                  <a:srgbClr val="E4F0F5"/>
                </a:solidFill>
                <a:latin typeface="Calibri" pitchFamily="34" charset="0"/>
                <a:ea typeface="Calibri" pitchFamily="34" charset="-122"/>
                <a:cs typeface="Calibri" pitchFamily="34" charset="-120"/>
              </a:rPr>
              <a:t>Clean, filter, and reshape the data into a usable form</a:t>
            </a:r>
            <a:endParaRPr lang="en-US" sz="1050" dirty="0"/>
          </a:p>
        </p:txBody>
      </p:sp>
      <p:sp>
        <p:nvSpPr>
          <p:cNvPr id="16" name="Shape 13"/>
          <p:cNvSpPr/>
          <p:nvPr/>
        </p:nvSpPr>
        <p:spPr>
          <a:xfrm rot="5400000">
            <a:off x="5971032" y="3383280"/>
            <a:ext cx="164592" cy="292608"/>
          </a:xfrm>
          <a:prstGeom prst="triangle">
            <a:avLst/>
          </a:prstGeom>
          <a:solidFill>
            <a:srgbClr val="5B6672"/>
          </a:solidFill>
          <a:ln/>
        </p:spPr>
      </p:sp>
      <p:sp>
        <p:nvSpPr>
          <p:cNvPr id="17" name="Shape 14"/>
          <p:cNvSpPr/>
          <p:nvPr/>
        </p:nvSpPr>
        <p:spPr>
          <a:xfrm>
            <a:off x="6181344" y="2606040"/>
            <a:ext cx="2514600" cy="1737360"/>
          </a:xfrm>
          <a:prstGeom prst="roundRect">
            <a:avLst>
              <a:gd name="adj" fmla="val 4211"/>
            </a:avLst>
          </a:prstGeom>
          <a:solidFill>
            <a:srgbClr val="065A82"/>
          </a:solidFill>
          <a:ln/>
        </p:spPr>
      </p:sp>
      <p:sp>
        <p:nvSpPr>
          <p:cNvPr id="18" name="Text 15"/>
          <p:cNvSpPr/>
          <p:nvPr/>
        </p:nvSpPr>
        <p:spPr>
          <a:xfrm>
            <a:off x="6345936" y="2743200"/>
            <a:ext cx="548640" cy="411480"/>
          </a:xfrm>
          <a:prstGeom prst="rect">
            <a:avLst/>
          </a:prstGeom>
          <a:noFill/>
          <a:ln/>
        </p:spPr>
        <p:txBody>
          <a:bodyPr wrap="square" rtlCol="0" anchor="ctr"/>
          <a:lstStyle/>
          <a:p>
            <a:pPr indent="0" marL="0">
              <a:buNone/>
            </a:pPr>
            <a:r>
              <a:rPr lang="en-US" sz="2200" b="1" dirty="0">
                <a:solidFill>
                  <a:srgbClr val="BBDDEA"/>
                </a:solidFill>
                <a:latin typeface="Cambria" pitchFamily="34" charset="0"/>
                <a:ea typeface="Cambria" pitchFamily="34" charset="-122"/>
                <a:cs typeface="Cambria" pitchFamily="34" charset="-120"/>
              </a:rPr>
              <a:t>3</a:t>
            </a:r>
            <a:endParaRPr lang="en-US" sz="2200" dirty="0"/>
          </a:p>
        </p:txBody>
      </p:sp>
      <p:sp>
        <p:nvSpPr>
          <p:cNvPr id="19" name="Text 16"/>
          <p:cNvSpPr/>
          <p:nvPr/>
        </p:nvSpPr>
        <p:spPr>
          <a:xfrm>
            <a:off x="6345936" y="3154680"/>
            <a:ext cx="2185416"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Load</a:t>
            </a:r>
            <a:endParaRPr lang="en-US" sz="1500" dirty="0"/>
          </a:p>
        </p:txBody>
      </p:sp>
      <p:sp>
        <p:nvSpPr>
          <p:cNvPr id="20" name="Text 17"/>
          <p:cNvSpPr/>
          <p:nvPr/>
        </p:nvSpPr>
        <p:spPr>
          <a:xfrm>
            <a:off x="6345936" y="3502152"/>
            <a:ext cx="2185416" cy="777240"/>
          </a:xfrm>
          <a:prstGeom prst="rect">
            <a:avLst/>
          </a:prstGeom>
          <a:noFill/>
          <a:ln/>
        </p:spPr>
        <p:txBody>
          <a:bodyPr wrap="square" rtlCol="0" anchor="ctr"/>
          <a:lstStyle/>
          <a:p>
            <a:pPr indent="0" marL="0">
              <a:lnSpc>
                <a:spcPts val="1300"/>
              </a:lnSpc>
              <a:buNone/>
            </a:pPr>
            <a:r>
              <a:rPr lang="en-US" sz="1050" dirty="0">
                <a:solidFill>
                  <a:srgbClr val="E4F0F5"/>
                </a:solidFill>
                <a:latin typeface="Calibri" pitchFamily="34" charset="0"/>
                <a:ea typeface="Calibri" pitchFamily="34" charset="-122"/>
                <a:cs typeface="Calibri" pitchFamily="34" charset="-120"/>
              </a:rPr>
              <a:t>Move the processed data into a warehouse, mart, or lake</a:t>
            </a:r>
            <a:endParaRPr lang="en-US" sz="1050" dirty="0"/>
          </a:p>
        </p:txBody>
      </p:sp>
      <p:sp>
        <p:nvSpPr>
          <p:cNvPr id="21" name="Shape 18"/>
          <p:cNvSpPr/>
          <p:nvPr/>
        </p:nvSpPr>
        <p:spPr>
          <a:xfrm rot="5400000">
            <a:off x="8741664" y="3383280"/>
            <a:ext cx="164592" cy="292608"/>
          </a:xfrm>
          <a:prstGeom prst="triangle">
            <a:avLst/>
          </a:prstGeom>
          <a:solidFill>
            <a:srgbClr val="5B6672"/>
          </a:solidFill>
          <a:ln/>
        </p:spPr>
      </p:sp>
      <p:sp>
        <p:nvSpPr>
          <p:cNvPr id="22" name="Shape 19"/>
          <p:cNvSpPr/>
          <p:nvPr/>
        </p:nvSpPr>
        <p:spPr>
          <a:xfrm>
            <a:off x="8951976" y="2606040"/>
            <a:ext cx="2514600" cy="1737360"/>
          </a:xfrm>
          <a:prstGeom prst="roundRect">
            <a:avLst>
              <a:gd name="adj" fmla="val 4211"/>
            </a:avLst>
          </a:prstGeom>
          <a:solidFill>
            <a:srgbClr val="1C7293"/>
          </a:solidFill>
          <a:ln/>
        </p:spPr>
      </p:sp>
      <p:sp>
        <p:nvSpPr>
          <p:cNvPr id="23" name="Text 20"/>
          <p:cNvSpPr/>
          <p:nvPr/>
        </p:nvSpPr>
        <p:spPr>
          <a:xfrm>
            <a:off x="9116568" y="2743200"/>
            <a:ext cx="548640" cy="411480"/>
          </a:xfrm>
          <a:prstGeom prst="rect">
            <a:avLst/>
          </a:prstGeom>
          <a:noFill/>
          <a:ln/>
        </p:spPr>
        <p:txBody>
          <a:bodyPr wrap="square" rtlCol="0" anchor="ctr"/>
          <a:lstStyle/>
          <a:p>
            <a:pPr indent="0" marL="0">
              <a:buNone/>
            </a:pPr>
            <a:r>
              <a:rPr lang="en-US" sz="2200" b="1" dirty="0">
                <a:solidFill>
                  <a:srgbClr val="BBDDEA"/>
                </a:solidFill>
                <a:latin typeface="Cambria" pitchFamily="34" charset="0"/>
                <a:ea typeface="Cambria" pitchFamily="34" charset="-122"/>
                <a:cs typeface="Cambria" pitchFamily="34" charset="-120"/>
              </a:rPr>
              <a:t>4</a:t>
            </a:r>
            <a:endParaRPr lang="en-US" sz="2200" dirty="0"/>
          </a:p>
        </p:txBody>
      </p:sp>
      <p:sp>
        <p:nvSpPr>
          <p:cNvPr id="24" name="Text 21"/>
          <p:cNvSpPr/>
          <p:nvPr/>
        </p:nvSpPr>
        <p:spPr>
          <a:xfrm>
            <a:off x="9116568" y="3154680"/>
            <a:ext cx="2185416"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Analyze</a:t>
            </a:r>
            <a:endParaRPr lang="en-US" sz="1500" dirty="0"/>
          </a:p>
        </p:txBody>
      </p:sp>
      <p:sp>
        <p:nvSpPr>
          <p:cNvPr id="25" name="Text 22"/>
          <p:cNvSpPr/>
          <p:nvPr/>
        </p:nvSpPr>
        <p:spPr>
          <a:xfrm>
            <a:off x="9116568" y="3502152"/>
            <a:ext cx="2185416" cy="777240"/>
          </a:xfrm>
          <a:prstGeom prst="rect">
            <a:avLst/>
          </a:prstGeom>
          <a:noFill/>
          <a:ln/>
        </p:spPr>
        <p:txBody>
          <a:bodyPr wrap="square" rtlCol="0" anchor="ctr"/>
          <a:lstStyle/>
          <a:p>
            <a:pPr indent="0" marL="0">
              <a:lnSpc>
                <a:spcPts val="1300"/>
              </a:lnSpc>
              <a:buNone/>
            </a:pPr>
            <a:r>
              <a:rPr lang="en-US" sz="1050" dirty="0">
                <a:solidFill>
                  <a:srgbClr val="E4F0F5"/>
                </a:solidFill>
                <a:latin typeface="Calibri" pitchFamily="34" charset="0"/>
                <a:ea typeface="Calibri" pitchFamily="34" charset="-122"/>
                <a:cs typeface="Calibri" pitchFamily="34" charset="-120"/>
              </a:rPr>
              <a:t>Dashboards, reports, and models consume the data</a:t>
            </a:r>
            <a:endParaRPr lang="en-US" sz="1050" dirty="0"/>
          </a:p>
        </p:txBody>
      </p:sp>
      <p:sp>
        <p:nvSpPr>
          <p:cNvPr id="26" name="Shape 23"/>
          <p:cNvSpPr/>
          <p:nvPr/>
        </p:nvSpPr>
        <p:spPr>
          <a:xfrm>
            <a:off x="640080" y="4617720"/>
            <a:ext cx="10908792" cy="960120"/>
          </a:xfrm>
          <a:prstGeom prst="roundRect">
            <a:avLst>
              <a:gd name="adj" fmla="val 7619"/>
            </a:avLst>
          </a:prstGeom>
          <a:solidFill>
            <a:srgbClr val="E8F1F5"/>
          </a:solidFill>
          <a:ln/>
        </p:spPr>
      </p:sp>
      <p:sp>
        <p:nvSpPr>
          <p:cNvPr id="27" name="Text 24"/>
          <p:cNvSpPr/>
          <p:nvPr/>
        </p:nvSpPr>
        <p:spPr>
          <a:xfrm>
            <a:off x="914400" y="4754880"/>
            <a:ext cx="10332720" cy="731520"/>
          </a:xfrm>
          <a:prstGeom prst="rect">
            <a:avLst/>
          </a:prstGeom>
          <a:noFill/>
          <a:ln/>
        </p:spPr>
        <p:txBody>
          <a:bodyPr wrap="square" rtlCol="0" anchor="ctr"/>
          <a:lstStyle/>
          <a:p>
            <a:pPr indent="0" marL="0">
              <a:lnSpc>
                <a:spcPts val="1700"/>
              </a:lnSpc>
              <a:buNone/>
            </a:pPr>
            <a:r>
              <a:rPr lang="en-US" sz="1250" b="1" dirty="0">
                <a:solidFill>
                  <a:srgbClr val="065A82"/>
                </a:solidFill>
                <a:latin typeface="Calibri" pitchFamily="34" charset="0"/>
                <a:ea typeface="Calibri" pitchFamily="34" charset="-122"/>
                <a:cs typeface="Calibri" pitchFamily="34" charset="-120"/>
              </a:rPr>
              <a:t>Why it matters:  </a:t>
            </a:r>
            <a:pPr indent="0" marL="0">
              <a:lnSpc>
                <a:spcPts val="1700"/>
              </a:lnSpc>
              <a:buNone/>
            </a:pPr>
            <a:r>
              <a:rPr lang="en-US" sz="1250" dirty="0">
                <a:solidFill>
                  <a:srgbClr val="1B1F27"/>
                </a:solidFill>
                <a:latin typeface="Calibri" pitchFamily="34" charset="0"/>
                <a:ea typeface="Calibri" pitchFamily="34" charset="-122"/>
                <a:cs typeface="Calibri" pitchFamily="34" charset="-120"/>
              </a:rPr>
              <a:t>pipelines run automatically and continuously, so decision-makers always have fresh, reliable data feeding their dashboards — without manual copy-pasting.</a:t>
            </a:r>
            <a:endParaRPr lang="en-US" sz="1250" dirty="0"/>
          </a:p>
        </p:txBody>
      </p:sp>
      <p:sp>
        <p:nvSpPr>
          <p:cNvPr id="29" name="Text 2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371600"/>
            <a:ext cx="4114800" cy="4114800"/>
          </a:xfrm>
          <a:prstGeom prst="ellipse">
            <a:avLst/>
          </a:prstGeom>
          <a:solidFill>
            <a:srgbClr val="065A82">
              <a:alpha val="45000"/>
            </a:srgbClr>
          </a:solidFill>
          <a:ln/>
        </p:spPr>
      </p:sp>
      <p:sp>
        <p:nvSpPr>
          <p:cNvPr id="3" name="Text 1"/>
          <p:cNvSpPr/>
          <p:nvPr/>
        </p:nvSpPr>
        <p:spPr>
          <a:xfrm>
            <a:off x="731520" y="502920"/>
            <a:ext cx="73152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Unit 2 — Recap</a:t>
            </a:r>
            <a:endParaRPr lang="en-US" sz="3200" dirty="0"/>
          </a:p>
        </p:txBody>
      </p:sp>
      <p:sp>
        <p:nvSpPr>
          <p:cNvPr id="4" name="Shape 2"/>
          <p:cNvSpPr/>
          <p:nvPr/>
        </p:nvSpPr>
        <p:spPr>
          <a:xfrm>
            <a:off x="731520" y="1371600"/>
            <a:ext cx="365760" cy="365760"/>
          </a:xfrm>
          <a:prstGeom prst="roundRect">
            <a:avLst>
              <a:gd name="adj" fmla="val 15000"/>
            </a:avLst>
          </a:prstGeom>
          <a:solidFill>
            <a:srgbClr val="1C7293"/>
          </a:solidFill>
          <a:ln/>
        </p:spPr>
      </p:sp>
      <p:sp>
        <p:nvSpPr>
          <p:cNvPr id="5" name="Text 3"/>
          <p:cNvSpPr/>
          <p:nvPr/>
        </p:nvSpPr>
        <p:spPr>
          <a:xfrm>
            <a:off x="731520" y="13716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80160" y="1325880"/>
            <a:ext cx="10241280" cy="621792"/>
          </a:xfrm>
          <a:prstGeom prst="rect">
            <a:avLst/>
          </a:prstGeom>
          <a:noFill/>
          <a:ln/>
        </p:spPr>
        <p:txBody>
          <a:bodyPr wrap="square" rtlCol="0" anchor="ctr"/>
          <a:lstStyle/>
          <a:p>
            <a:pPr indent="0" marL="0">
              <a:lnSpc>
                <a:spcPts val="1600"/>
              </a:lnSpc>
              <a:buNone/>
            </a:pPr>
            <a:r>
              <a:rPr lang="en-US" sz="1300" dirty="0">
                <a:solidFill>
                  <a:srgbClr val="E8F1F5"/>
                </a:solidFill>
                <a:latin typeface="Calibri" pitchFamily="34" charset="0"/>
                <a:ea typeface="Calibri" pitchFamily="34" charset="-122"/>
                <a:cs typeface="Calibri" pitchFamily="34" charset="-120"/>
              </a:rPr>
              <a:t>Data Analytics turns raw data into insight through collecting, cleaning, analyzing, and interpreting it</a:t>
            </a:r>
            <a:endParaRPr lang="en-US" sz="1300" dirty="0"/>
          </a:p>
        </p:txBody>
      </p:sp>
      <p:sp>
        <p:nvSpPr>
          <p:cNvPr id="7" name="Shape 5"/>
          <p:cNvSpPr/>
          <p:nvPr/>
        </p:nvSpPr>
        <p:spPr>
          <a:xfrm>
            <a:off x="731520" y="2148840"/>
            <a:ext cx="365760" cy="365760"/>
          </a:xfrm>
          <a:prstGeom prst="roundRect">
            <a:avLst>
              <a:gd name="adj" fmla="val 15000"/>
            </a:avLst>
          </a:prstGeom>
          <a:solidFill>
            <a:srgbClr val="1C7293"/>
          </a:solidFill>
          <a:ln/>
        </p:spPr>
      </p:sp>
      <p:sp>
        <p:nvSpPr>
          <p:cNvPr id="8" name="Text 6"/>
          <p:cNvSpPr/>
          <p:nvPr/>
        </p:nvSpPr>
        <p:spPr>
          <a:xfrm>
            <a:off x="731520" y="214884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280160" y="2103120"/>
            <a:ext cx="10241280" cy="621792"/>
          </a:xfrm>
          <a:prstGeom prst="rect">
            <a:avLst/>
          </a:prstGeom>
          <a:noFill/>
          <a:ln/>
        </p:spPr>
        <p:txBody>
          <a:bodyPr wrap="square" rtlCol="0" anchor="ctr"/>
          <a:lstStyle/>
          <a:p>
            <a:pPr indent="0" marL="0">
              <a:lnSpc>
                <a:spcPts val="1600"/>
              </a:lnSpc>
              <a:buNone/>
            </a:pPr>
            <a:r>
              <a:rPr lang="en-US" sz="1300" dirty="0">
                <a:solidFill>
                  <a:srgbClr val="E8F1F5"/>
                </a:solidFill>
                <a:latin typeface="Calibri" pitchFamily="34" charset="0"/>
                <a:ea typeface="Calibri" pitchFamily="34" charset="-122"/>
                <a:cs typeface="Calibri" pitchFamily="34" charset="-120"/>
              </a:rPr>
              <a:t>Text, Web, and Marketing analytics each apply these ideas to a different kind of source</a:t>
            </a:r>
            <a:endParaRPr lang="en-US" sz="1300" dirty="0"/>
          </a:p>
        </p:txBody>
      </p:sp>
      <p:sp>
        <p:nvSpPr>
          <p:cNvPr id="10" name="Shape 8"/>
          <p:cNvSpPr/>
          <p:nvPr/>
        </p:nvSpPr>
        <p:spPr>
          <a:xfrm>
            <a:off x="731520" y="2926080"/>
            <a:ext cx="365760" cy="365760"/>
          </a:xfrm>
          <a:prstGeom prst="roundRect">
            <a:avLst>
              <a:gd name="adj" fmla="val 15000"/>
            </a:avLst>
          </a:prstGeom>
          <a:solidFill>
            <a:srgbClr val="1C7293"/>
          </a:solidFill>
          <a:ln/>
        </p:spPr>
      </p:sp>
      <p:sp>
        <p:nvSpPr>
          <p:cNvPr id="11" name="Text 9"/>
          <p:cNvSpPr/>
          <p:nvPr/>
        </p:nvSpPr>
        <p:spPr>
          <a:xfrm>
            <a:off x="731520" y="292608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280160" y="2880360"/>
            <a:ext cx="10241280" cy="621792"/>
          </a:xfrm>
          <a:prstGeom prst="rect">
            <a:avLst/>
          </a:prstGeom>
          <a:noFill/>
          <a:ln/>
        </p:spPr>
        <p:txBody>
          <a:bodyPr wrap="square" rtlCol="0" anchor="ctr"/>
          <a:lstStyle/>
          <a:p>
            <a:pPr indent="0" marL="0">
              <a:lnSpc>
                <a:spcPts val="1600"/>
              </a:lnSpc>
              <a:buNone/>
            </a:pPr>
            <a:r>
              <a:rPr lang="en-US" sz="1300" dirty="0">
                <a:solidFill>
                  <a:srgbClr val="E8F1F5"/>
                </a:solidFill>
                <a:latin typeface="Calibri" pitchFamily="34" charset="0"/>
                <a:ea typeface="Calibri" pitchFamily="34" charset="-122"/>
                <a:cs typeface="Calibri" pitchFamily="34" charset="-120"/>
              </a:rPr>
              <a:t>By nature, data is Numerical (discrete/continuous) or Categorical (nominal/ordinal)</a:t>
            </a:r>
            <a:endParaRPr lang="en-US" sz="1300" dirty="0"/>
          </a:p>
        </p:txBody>
      </p:sp>
      <p:sp>
        <p:nvSpPr>
          <p:cNvPr id="13" name="Shape 11"/>
          <p:cNvSpPr/>
          <p:nvPr/>
        </p:nvSpPr>
        <p:spPr>
          <a:xfrm>
            <a:off x="731520" y="3703320"/>
            <a:ext cx="365760" cy="365760"/>
          </a:xfrm>
          <a:prstGeom prst="roundRect">
            <a:avLst>
              <a:gd name="adj" fmla="val 15000"/>
            </a:avLst>
          </a:prstGeom>
          <a:solidFill>
            <a:srgbClr val="1C7293"/>
          </a:solidFill>
          <a:ln/>
        </p:spPr>
      </p:sp>
      <p:sp>
        <p:nvSpPr>
          <p:cNvPr id="14" name="Text 12"/>
          <p:cNvSpPr/>
          <p:nvPr/>
        </p:nvSpPr>
        <p:spPr>
          <a:xfrm>
            <a:off x="731520" y="370332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280160" y="3657600"/>
            <a:ext cx="10241280" cy="621792"/>
          </a:xfrm>
          <a:prstGeom prst="rect">
            <a:avLst/>
          </a:prstGeom>
          <a:noFill/>
          <a:ln/>
        </p:spPr>
        <p:txBody>
          <a:bodyPr wrap="square" rtlCol="0" anchor="ctr"/>
          <a:lstStyle/>
          <a:p>
            <a:pPr indent="0" marL="0">
              <a:lnSpc>
                <a:spcPts val="1600"/>
              </a:lnSpc>
              <a:buNone/>
            </a:pPr>
            <a:r>
              <a:rPr lang="en-US" sz="1300" dirty="0">
                <a:solidFill>
                  <a:srgbClr val="E8F1F5"/>
                </a:solidFill>
                <a:latin typeface="Calibri" pitchFamily="34" charset="0"/>
                <a:ea typeface="Calibri" pitchFamily="34" charset="-122"/>
                <a:cs typeface="Calibri" pitchFamily="34" charset="-120"/>
              </a:rPr>
              <a:t>By structure, data is Structured, Semi-Structured, or Unstructured — most of today's data is unstructured</a:t>
            </a:r>
            <a:endParaRPr lang="en-US" sz="1300" dirty="0"/>
          </a:p>
        </p:txBody>
      </p:sp>
      <p:sp>
        <p:nvSpPr>
          <p:cNvPr id="16" name="Shape 14"/>
          <p:cNvSpPr/>
          <p:nvPr/>
        </p:nvSpPr>
        <p:spPr>
          <a:xfrm>
            <a:off x="731520" y="4480560"/>
            <a:ext cx="365760" cy="365760"/>
          </a:xfrm>
          <a:prstGeom prst="roundRect">
            <a:avLst>
              <a:gd name="adj" fmla="val 15000"/>
            </a:avLst>
          </a:prstGeom>
          <a:solidFill>
            <a:srgbClr val="1C7293"/>
          </a:solidFill>
          <a:ln/>
        </p:spPr>
      </p:sp>
      <p:sp>
        <p:nvSpPr>
          <p:cNvPr id="17" name="Text 15"/>
          <p:cNvSpPr/>
          <p:nvPr/>
        </p:nvSpPr>
        <p:spPr>
          <a:xfrm>
            <a:off x="731520" y="448056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280160" y="4434840"/>
            <a:ext cx="10241280" cy="621792"/>
          </a:xfrm>
          <a:prstGeom prst="rect">
            <a:avLst/>
          </a:prstGeom>
          <a:noFill/>
          <a:ln/>
        </p:spPr>
        <p:txBody>
          <a:bodyPr wrap="square" rtlCol="0" anchor="ctr"/>
          <a:lstStyle/>
          <a:p>
            <a:pPr indent="0" marL="0">
              <a:lnSpc>
                <a:spcPts val="1600"/>
              </a:lnSpc>
              <a:buNone/>
            </a:pPr>
            <a:r>
              <a:rPr lang="en-US" sz="1300" dirty="0">
                <a:solidFill>
                  <a:srgbClr val="E8F1F5"/>
                </a:solidFill>
                <a:latin typeface="Calibri" pitchFamily="34" charset="0"/>
                <a:ea typeface="Calibri" pitchFamily="34" charset="-122"/>
                <a:cs typeface="Calibri" pitchFamily="34" charset="-120"/>
              </a:rPr>
              <a:t>Data has underlying types (integer, string, boolean...) and is exchanged in formats like CSV, JSON, XML</a:t>
            </a:r>
            <a:endParaRPr lang="en-US" sz="1300" dirty="0"/>
          </a:p>
        </p:txBody>
      </p:sp>
      <p:sp>
        <p:nvSpPr>
          <p:cNvPr id="19" name="Shape 17"/>
          <p:cNvSpPr/>
          <p:nvPr/>
        </p:nvSpPr>
        <p:spPr>
          <a:xfrm>
            <a:off x="731520" y="5257800"/>
            <a:ext cx="365760" cy="365760"/>
          </a:xfrm>
          <a:prstGeom prst="roundRect">
            <a:avLst>
              <a:gd name="adj" fmla="val 15000"/>
            </a:avLst>
          </a:prstGeom>
          <a:solidFill>
            <a:srgbClr val="1C7293"/>
          </a:solidFill>
          <a:ln/>
        </p:spPr>
      </p:sp>
      <p:sp>
        <p:nvSpPr>
          <p:cNvPr id="20" name="Text 18"/>
          <p:cNvSpPr/>
          <p:nvPr/>
        </p:nvSpPr>
        <p:spPr>
          <a:xfrm>
            <a:off x="731520" y="52578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280160" y="5212080"/>
            <a:ext cx="10241280" cy="621792"/>
          </a:xfrm>
          <a:prstGeom prst="rect">
            <a:avLst/>
          </a:prstGeom>
          <a:noFill/>
          <a:ln/>
        </p:spPr>
        <p:txBody>
          <a:bodyPr wrap="square" rtlCol="0" anchor="ctr"/>
          <a:lstStyle/>
          <a:p>
            <a:pPr indent="0" marL="0">
              <a:lnSpc>
                <a:spcPts val="1600"/>
              </a:lnSpc>
              <a:buNone/>
            </a:pPr>
            <a:r>
              <a:rPr lang="en-US" sz="1300" dirty="0">
                <a:solidFill>
                  <a:srgbClr val="E8F1F5"/>
                </a:solidFill>
                <a:latin typeface="Calibri" pitchFamily="34" charset="0"/>
                <a:ea typeface="Calibri" pitchFamily="34" charset="-122"/>
                <a:cs typeface="Calibri" pitchFamily="34" charset="-120"/>
              </a:rPr>
              <a:t>Repositories — Databases, Warehouses, Marts, and Lakes — store data for different purposes, fed by Pipelines</a:t>
            </a:r>
            <a:endParaRPr lang="en-US" sz="1300" dirty="0"/>
          </a:p>
        </p:txBody>
      </p:sp>
      <p:sp>
        <p:nvSpPr>
          <p:cNvPr id="22" name="Text 2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21295C">
              <a:alpha val="55000"/>
            </a:srgbClr>
          </a:solidFill>
          <a:ln/>
        </p:spPr>
      </p:sp>
      <p:sp>
        <p:nvSpPr>
          <p:cNvPr id="3" name="Shape 1"/>
          <p:cNvSpPr/>
          <p:nvPr/>
        </p:nvSpPr>
        <p:spPr>
          <a:xfrm>
            <a:off x="9875520" y="-1645920"/>
            <a:ext cx="4114800" cy="4114800"/>
          </a:xfrm>
          <a:prstGeom prst="ellipse">
            <a:avLst/>
          </a:prstGeom>
          <a:solidFill>
            <a:srgbClr val="1C7293">
              <a:alpha val="55000"/>
            </a:srgbClr>
          </a:solidFill>
          <a:ln/>
        </p:spPr>
      </p:sp>
      <p:sp>
        <p:nvSpPr>
          <p:cNvPr id="4" name="Text 2"/>
          <p:cNvSpPr/>
          <p:nvPr/>
        </p:nvSpPr>
        <p:spPr>
          <a:xfrm>
            <a:off x="822960" y="2651760"/>
            <a:ext cx="731520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a:t>
            </a:r>
            <a:endParaRPr lang="en-US" sz="4400" dirty="0"/>
          </a:p>
        </p:txBody>
      </p:sp>
      <p:sp>
        <p:nvSpPr>
          <p:cNvPr id="5" name="Text 3"/>
          <p:cNvSpPr/>
          <p:nvPr/>
        </p:nvSpPr>
        <p:spPr>
          <a:xfrm>
            <a:off x="822960" y="3611880"/>
            <a:ext cx="8229600" cy="548640"/>
          </a:xfrm>
          <a:prstGeom prst="rect">
            <a:avLst/>
          </a:prstGeom>
          <a:noFill/>
          <a:ln/>
        </p:spPr>
        <p:txBody>
          <a:bodyPr wrap="square" rtlCol="0" anchor="ctr"/>
          <a:lstStyle/>
          <a:p>
            <a:pPr indent="0" marL="0">
              <a:buNone/>
            </a:pPr>
            <a:r>
              <a:rPr lang="en-US" sz="1500" i="1" dirty="0">
                <a:solidFill>
                  <a:srgbClr val="E8F1F5"/>
                </a:solidFill>
                <a:latin typeface="Calibri" pitchFamily="34" charset="0"/>
                <a:ea typeface="Calibri" pitchFamily="34" charset="-122"/>
                <a:cs typeface="Calibri" pitchFamily="34" charset="-120"/>
              </a:rPr>
              <a:t>Let's discuss any examples, terms, or classifications you'd like to go over again.</a:t>
            </a:r>
            <a:endParaRPr lang="en-US" sz="1500" dirty="0"/>
          </a:p>
        </p:txBody>
      </p:sp>
      <p:sp>
        <p:nvSpPr>
          <p:cNvPr id="6" name="Text 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672"/>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2026-08-19T03:07:00Z</dcterms:created>
  <dcterms:modified xsi:type="dcterms:W3CDTF">2026-08-19T03:07:00Z</dcterms:modified>
</cp:coreProperties>
</file>