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89" r:id="rId12"/>
    <p:sldId id="290" r:id="rId13"/>
    <p:sldId id="291" r:id="rId14"/>
    <p:sldId id="292" r:id="rId15"/>
    <p:sldId id="293" r:id="rId16"/>
    <p:sldId id="294" r:id="rId17"/>
    <p:sldId id="295" r:id="rId18"/>
    <p:sldId id="296" r:id="rId19"/>
    <p:sldId id="297" r:id="rId20"/>
    <p:sldId id="298" r:id="rId21"/>
    <p:sldId id="266" r:id="rId22"/>
    <p:sldId id="268" r:id="rId23"/>
    <p:sldId id="269" r:id="rId24"/>
    <p:sldId id="270" r:id="rId25"/>
    <p:sldId id="271" r:id="rId26"/>
    <p:sldId id="272" r:id="rId27"/>
    <p:sldId id="273" r:id="rId28"/>
    <p:sldId id="279" r:id="rId29"/>
    <p:sldId id="280" r:id="rId30"/>
    <p:sldId id="281" r:id="rId31"/>
    <p:sldId id="282" r:id="rId32"/>
    <p:sldId id="283" r:id="rId33"/>
    <p:sldId id="284" r:id="rId34"/>
    <p:sldId id="285" r:id="rId35"/>
    <p:sldId id="286" r:id="rId36"/>
    <p:sldId id="287" r:id="rId37"/>
    <p:sldId id="288"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4" r:id="rId62"/>
    <p:sldId id="327" r:id="rId63"/>
    <p:sldId id="328" r:id="rId64"/>
    <p:sldId id="325" r:id="rId65"/>
    <p:sldId id="326" r:id="rId66"/>
    <p:sldId id="329" r:id="rId67"/>
    <p:sldId id="323"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3AF854A-36A6-48C6-B367-C7A7651066B9}" type="datetimeFigureOut">
              <a:rPr lang="en-IN" smtClean="0"/>
              <a:t>22-07-2024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2434695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3AF854A-36A6-48C6-B367-C7A7651066B9}" type="datetimeFigureOut">
              <a:rPr lang="en-IN" smtClean="0"/>
              <a:t>22-07-2024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138334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3AF854A-36A6-48C6-B367-C7A7651066B9}" type="datetimeFigureOut">
              <a:rPr lang="en-IN" smtClean="0"/>
              <a:t>22-07-2024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3798757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3AF854A-36A6-48C6-B367-C7A7651066B9}" type="datetimeFigureOut">
              <a:rPr lang="en-IN" smtClean="0"/>
              <a:t>22-07-2024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364548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3AF854A-36A6-48C6-B367-C7A7651066B9}" type="datetimeFigureOut">
              <a:rPr lang="en-IN" smtClean="0"/>
              <a:t>22-07-2024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310411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3AF854A-36A6-48C6-B367-C7A7651066B9}" type="datetimeFigureOut">
              <a:rPr lang="en-IN" smtClean="0"/>
              <a:t>22-07-2024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3956242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AF854A-36A6-48C6-B367-C7A7651066B9}" type="datetimeFigureOut">
              <a:rPr lang="en-IN" smtClean="0"/>
              <a:t>22-07-2024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120857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3AF854A-36A6-48C6-B367-C7A7651066B9}" type="datetimeFigureOut">
              <a:rPr lang="en-IN" smtClean="0"/>
              <a:t>22-07-2024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1471142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3AF854A-36A6-48C6-B367-C7A7651066B9}" type="datetimeFigureOut">
              <a:rPr lang="en-IN" smtClean="0"/>
              <a:t>22-07-2024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3860690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3AF854A-36A6-48C6-B367-C7A7651066B9}" type="datetimeFigureOut">
              <a:rPr lang="en-IN" smtClean="0"/>
              <a:t>22-07-2024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2405305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3AF854A-36A6-48C6-B367-C7A7651066B9}" type="datetimeFigureOut">
              <a:rPr lang="en-IN" smtClean="0"/>
              <a:t>22-07-2024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70C71-CE43-4D09-AC0C-BA4D6339A5E6}" type="slidenum">
              <a:rPr lang="en-IN" smtClean="0"/>
              <a:t>‹#›</a:t>
            </a:fld>
            <a:endParaRPr lang="en-IN"/>
          </a:p>
        </p:txBody>
      </p:sp>
    </p:spTree>
    <p:extLst>
      <p:ext uri="{BB962C8B-B14F-4D97-AF65-F5344CB8AC3E}">
        <p14:creationId xmlns:p14="http://schemas.microsoft.com/office/powerpoint/2010/main" val="583180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AF854A-36A6-48C6-B367-C7A7651066B9}" type="datetimeFigureOut">
              <a:rPr lang="en-IN" smtClean="0"/>
              <a:t>22-07-2024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D70C71-CE43-4D09-AC0C-BA4D6339A5E6}" type="slidenum">
              <a:rPr lang="en-IN" smtClean="0"/>
              <a:t>‹#›</a:t>
            </a:fld>
            <a:endParaRPr lang="en-IN"/>
          </a:p>
        </p:txBody>
      </p:sp>
    </p:spTree>
    <p:extLst>
      <p:ext uri="{BB962C8B-B14F-4D97-AF65-F5344CB8AC3E}">
        <p14:creationId xmlns:p14="http://schemas.microsoft.com/office/powerpoint/2010/main" val="335517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data-mining/" TargetMode="External"/><Relationship Id="rId2" Type="http://schemas.openxmlformats.org/officeDocument/2006/relationships/hyperlink" Target="https://www.geeksforgeeks.org/machine-learning/" TargetMode="External"/><Relationship Id="rId1" Type="http://schemas.openxmlformats.org/officeDocument/2006/relationships/slideLayout" Target="../slideLayouts/slideLayout2.xml"/><Relationship Id="rId4" Type="http://schemas.openxmlformats.org/officeDocument/2006/relationships/hyperlink" Target="https://www.geeksforgeeks.org/game-theory/"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geeksforgeeks.org/descriptive-analysis-in-r-programmi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what-is-prescriptive-analytics-in-data-scienc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alliant.edu/blog/business-intelligence-vs-data-analytic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hyperlink" Target="https://www.pecan.ai/blog/predictive-modeling"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pecan.ai/blog/convince-boss-predictive-analytics"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pecan.ai/blog/data-driven-business-strategy-with-ai"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solidFill>
                  <a:srgbClr val="FF0000"/>
                </a:solidFill>
              </a:rPr>
              <a:t>Data Analytics</a:t>
            </a:r>
            <a:endParaRPr lang="en-IN" b="1" dirty="0">
              <a:solidFill>
                <a:srgbClr val="FF0000"/>
              </a:solidFill>
            </a:endParaRPr>
          </a:p>
        </p:txBody>
      </p:sp>
      <p:sp>
        <p:nvSpPr>
          <p:cNvPr id="5" name="Content Placeholder 4"/>
          <p:cNvSpPr>
            <a:spLocks noGrp="1"/>
          </p:cNvSpPr>
          <p:nvPr>
            <p:ph idx="1"/>
          </p:nvPr>
        </p:nvSpPr>
        <p:spPr/>
        <p:txBody>
          <a:bodyPr/>
          <a:lstStyle/>
          <a:p>
            <a:pPr marL="3657600" lvl="8" indent="0">
              <a:buNone/>
            </a:pPr>
            <a:endParaRPr lang="en-IN" b="1" dirty="0"/>
          </a:p>
          <a:p>
            <a:pPr marL="3657600" lvl="8" indent="0">
              <a:buNone/>
            </a:pPr>
            <a:endParaRPr lang="en-IN" sz="4000" b="1" dirty="0" smtClean="0"/>
          </a:p>
          <a:p>
            <a:pPr marL="3657600" lvl="8" indent="0">
              <a:buNone/>
            </a:pPr>
            <a:r>
              <a:rPr lang="en-US" sz="4000" b="1" dirty="0" smtClean="0"/>
              <a:t>Chapter 1</a:t>
            </a:r>
            <a:endParaRPr lang="en-IN" sz="4000" b="1" dirty="0"/>
          </a:p>
          <a:p>
            <a:pPr marL="3657600" lvl="8" indent="0">
              <a:buNone/>
            </a:pPr>
            <a:r>
              <a:rPr lang="en-IN" sz="4000" b="1" dirty="0" smtClean="0"/>
              <a:t>Data </a:t>
            </a:r>
            <a:r>
              <a:rPr lang="en-IN" sz="4000" b="1" dirty="0"/>
              <a:t>Analytics </a:t>
            </a:r>
            <a:r>
              <a:rPr lang="en-IN" sz="4000" b="1" dirty="0" smtClean="0"/>
              <a:t>Overview</a:t>
            </a:r>
          </a:p>
          <a:p>
            <a:pPr marL="3657600" lvl="8" indent="0">
              <a:buNone/>
            </a:pPr>
            <a:r>
              <a:rPr lang="en-US" sz="4000" b="1" dirty="0" smtClean="0"/>
              <a:t> </a:t>
            </a:r>
            <a:endParaRPr lang="en-IN" sz="4000" dirty="0"/>
          </a:p>
          <a:p>
            <a:pPr lvl="1"/>
            <a:endParaRPr lang="en-IN" dirty="0"/>
          </a:p>
        </p:txBody>
      </p:sp>
    </p:spTree>
    <p:extLst>
      <p:ext uri="{BB962C8B-B14F-4D97-AF65-F5344CB8AC3E}">
        <p14:creationId xmlns:p14="http://schemas.microsoft.com/office/powerpoint/2010/main" val="2135026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0" y="369455"/>
            <a:ext cx="11942618" cy="5807508"/>
          </a:xfrm>
          <a:prstGeom prst="rect">
            <a:avLst/>
          </a:prstGeom>
        </p:spPr>
      </p:pic>
    </p:spTree>
    <p:extLst>
      <p:ext uri="{BB962C8B-B14F-4D97-AF65-F5344CB8AC3E}">
        <p14:creationId xmlns:p14="http://schemas.microsoft.com/office/powerpoint/2010/main" val="910262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23888" y="228600"/>
            <a:ext cx="13439775" cy="6400800"/>
          </a:xfrm>
          <a:prstGeom prst="rect">
            <a:avLst/>
          </a:prstGeom>
        </p:spPr>
      </p:pic>
    </p:spTree>
    <p:extLst>
      <p:ext uri="{BB962C8B-B14F-4D97-AF65-F5344CB8AC3E}">
        <p14:creationId xmlns:p14="http://schemas.microsoft.com/office/powerpoint/2010/main" val="3625165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5800" y="266700"/>
            <a:ext cx="13563600" cy="6324600"/>
          </a:xfrm>
          <a:prstGeom prst="rect">
            <a:avLst/>
          </a:prstGeom>
        </p:spPr>
      </p:pic>
    </p:spTree>
    <p:extLst>
      <p:ext uri="{BB962C8B-B14F-4D97-AF65-F5344CB8AC3E}">
        <p14:creationId xmlns:p14="http://schemas.microsoft.com/office/powerpoint/2010/main" val="3579285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9125" y="347662"/>
            <a:ext cx="13430250" cy="6162675"/>
          </a:xfrm>
          <a:prstGeom prst="rect">
            <a:avLst/>
          </a:prstGeom>
        </p:spPr>
      </p:pic>
    </p:spTree>
    <p:extLst>
      <p:ext uri="{BB962C8B-B14F-4D97-AF65-F5344CB8AC3E}">
        <p14:creationId xmlns:p14="http://schemas.microsoft.com/office/powerpoint/2010/main" val="2380921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6250" y="171450"/>
            <a:ext cx="13144500" cy="6515100"/>
          </a:xfrm>
          <a:prstGeom prst="rect">
            <a:avLst/>
          </a:prstGeom>
        </p:spPr>
      </p:pic>
    </p:spTree>
    <p:extLst>
      <p:ext uri="{BB962C8B-B14F-4D97-AF65-F5344CB8AC3E}">
        <p14:creationId xmlns:p14="http://schemas.microsoft.com/office/powerpoint/2010/main" val="527506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76288" y="85725"/>
            <a:ext cx="13744575" cy="6686550"/>
          </a:xfrm>
          <a:prstGeom prst="rect">
            <a:avLst/>
          </a:prstGeom>
        </p:spPr>
      </p:pic>
    </p:spTree>
    <p:extLst>
      <p:ext uri="{BB962C8B-B14F-4D97-AF65-F5344CB8AC3E}">
        <p14:creationId xmlns:p14="http://schemas.microsoft.com/office/powerpoint/2010/main" val="3401034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6254" y="142875"/>
            <a:ext cx="12463895" cy="6572250"/>
          </a:xfrm>
          <a:prstGeom prst="rect">
            <a:avLst/>
          </a:prstGeom>
        </p:spPr>
      </p:pic>
    </p:spTree>
    <p:extLst>
      <p:ext uri="{BB962C8B-B14F-4D97-AF65-F5344CB8AC3E}">
        <p14:creationId xmlns:p14="http://schemas.microsoft.com/office/powerpoint/2010/main" val="656878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33350"/>
            <a:ext cx="12825412" cy="6591300"/>
          </a:xfrm>
          <a:prstGeom prst="rect">
            <a:avLst/>
          </a:prstGeom>
        </p:spPr>
      </p:pic>
    </p:spTree>
    <p:extLst>
      <p:ext uri="{BB962C8B-B14F-4D97-AF65-F5344CB8AC3E}">
        <p14:creationId xmlns:p14="http://schemas.microsoft.com/office/powerpoint/2010/main" val="2194378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7782" y="228600"/>
            <a:ext cx="12634768" cy="6400800"/>
          </a:xfrm>
          <a:prstGeom prst="rect">
            <a:avLst/>
          </a:prstGeom>
        </p:spPr>
      </p:pic>
    </p:spTree>
    <p:extLst>
      <p:ext uri="{BB962C8B-B14F-4D97-AF65-F5344CB8AC3E}">
        <p14:creationId xmlns:p14="http://schemas.microsoft.com/office/powerpoint/2010/main" val="2200922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Types of Data Analytics</a:t>
            </a:r>
          </a:p>
        </p:txBody>
      </p:sp>
      <p:sp>
        <p:nvSpPr>
          <p:cNvPr id="3" name="Content Placeholder 2"/>
          <p:cNvSpPr>
            <a:spLocks noGrp="1"/>
          </p:cNvSpPr>
          <p:nvPr>
            <p:ph idx="1"/>
          </p:nvPr>
        </p:nvSpPr>
        <p:spPr/>
        <p:txBody>
          <a:bodyPr/>
          <a:lstStyle/>
          <a:p>
            <a:pPr fontAlgn="base"/>
            <a:r>
              <a:rPr lang="en-US" dirty="0" smtClean="0"/>
              <a:t>There </a:t>
            </a:r>
            <a:r>
              <a:rPr lang="en-US" dirty="0"/>
              <a:t>are four major types of data analytics:</a:t>
            </a:r>
          </a:p>
          <a:p>
            <a:pPr fontAlgn="base"/>
            <a:r>
              <a:rPr lang="en-US" b="1" dirty="0"/>
              <a:t>Predictive (forecasting)</a:t>
            </a:r>
            <a:endParaRPr lang="en-US" dirty="0"/>
          </a:p>
          <a:p>
            <a:pPr fontAlgn="base"/>
            <a:r>
              <a:rPr lang="en-US" b="1" dirty="0"/>
              <a:t>Descriptive (business intelligence and data mining)</a:t>
            </a:r>
            <a:endParaRPr lang="en-US" dirty="0"/>
          </a:p>
          <a:p>
            <a:pPr fontAlgn="base"/>
            <a:r>
              <a:rPr lang="en-US" b="1" dirty="0"/>
              <a:t>Prescriptive (optimization and simulation)</a:t>
            </a:r>
            <a:endParaRPr lang="en-US" dirty="0"/>
          </a:p>
          <a:p>
            <a:pPr fontAlgn="base"/>
            <a:r>
              <a:rPr lang="en-US" b="1" dirty="0"/>
              <a:t>Diagnostic analytics</a:t>
            </a:r>
            <a:endParaRPr lang="en-US" dirty="0"/>
          </a:p>
          <a:p>
            <a:endParaRPr lang="en-IN" dirty="0"/>
          </a:p>
        </p:txBody>
      </p:sp>
    </p:spTree>
    <p:extLst>
      <p:ext uri="{BB962C8B-B14F-4D97-AF65-F5344CB8AC3E}">
        <p14:creationId xmlns:p14="http://schemas.microsoft.com/office/powerpoint/2010/main" val="654009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4839"/>
          </a:xfrm>
        </p:spPr>
        <p:txBody>
          <a:bodyPr/>
          <a:lstStyle/>
          <a:p>
            <a:r>
              <a:rPr lang="en-US" dirty="0" smtClean="0"/>
              <a:t>Types of Data Analytics</a:t>
            </a:r>
            <a:endParaRPr lang="en-IN" dirty="0"/>
          </a:p>
        </p:txBody>
      </p:sp>
      <p:pic>
        <p:nvPicPr>
          <p:cNvPr id="5" name="Content Placeholder 4"/>
          <p:cNvPicPr>
            <a:picLocks noGrp="1" noChangeAspect="1"/>
          </p:cNvPicPr>
          <p:nvPr>
            <p:ph idx="1"/>
          </p:nvPr>
        </p:nvPicPr>
        <p:blipFill>
          <a:blip r:embed="rId2"/>
          <a:stretch>
            <a:fillRect/>
          </a:stretch>
        </p:blipFill>
        <p:spPr>
          <a:xfrm>
            <a:off x="923636" y="1209964"/>
            <a:ext cx="10178473" cy="4966999"/>
          </a:xfrm>
          <a:prstGeom prst="rect">
            <a:avLst/>
          </a:prstGeom>
        </p:spPr>
      </p:pic>
    </p:spTree>
    <p:extLst>
      <p:ext uri="{BB962C8B-B14F-4D97-AF65-F5344CB8AC3E}">
        <p14:creationId xmlns:p14="http://schemas.microsoft.com/office/powerpoint/2010/main" val="970056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r>
              <a:rPr lang="en-US" dirty="0" smtClean="0"/>
              <a:t>Predictive Analysis</a:t>
            </a:r>
            <a:endParaRPr lang="en-IN" dirty="0"/>
          </a:p>
        </p:txBody>
      </p:sp>
      <p:sp>
        <p:nvSpPr>
          <p:cNvPr id="3" name="Content Placeholder 2"/>
          <p:cNvSpPr>
            <a:spLocks noGrp="1"/>
          </p:cNvSpPr>
          <p:nvPr>
            <p:ph idx="1"/>
          </p:nvPr>
        </p:nvSpPr>
        <p:spPr>
          <a:xfrm>
            <a:off x="838200" y="1117600"/>
            <a:ext cx="10515600" cy="5059363"/>
          </a:xfrm>
        </p:spPr>
        <p:txBody>
          <a:bodyPr>
            <a:normAutofit fontScale="92500" lnSpcReduction="20000"/>
          </a:bodyPr>
          <a:lstStyle/>
          <a:p>
            <a:pPr fontAlgn="base"/>
            <a:r>
              <a:rPr lang="en-US" dirty="0"/>
              <a:t>Predictive analytics turn the data into valuable, actionable information. predictive analytics uses data to determine the probable outcome of an event or a likelihood of a situation occurring. Predictive analytics holds a variety of statistical techniques from modeling, </a:t>
            </a:r>
            <a:r>
              <a:rPr lang="en-US" u="sng" dirty="0">
                <a:hlinkClick r:id="rId2"/>
              </a:rPr>
              <a:t>machine learning</a:t>
            </a:r>
            <a:r>
              <a:rPr lang="en-US" dirty="0"/>
              <a:t>, </a:t>
            </a:r>
            <a:r>
              <a:rPr lang="en-US" u="sng" dirty="0">
                <a:hlinkClick r:id="rId3"/>
              </a:rPr>
              <a:t>data mining</a:t>
            </a:r>
            <a:r>
              <a:rPr lang="en-US" dirty="0"/>
              <a:t>, and </a:t>
            </a:r>
            <a:r>
              <a:rPr lang="en-US" u="sng" dirty="0">
                <a:hlinkClick r:id="rId4"/>
              </a:rPr>
              <a:t>game theory</a:t>
            </a:r>
            <a:r>
              <a:rPr lang="en-US" dirty="0"/>
              <a:t> that analyze current and historical facts to make predictions about a future event. Techniques that are used for predictive analytics are: </a:t>
            </a:r>
          </a:p>
          <a:p>
            <a:pPr fontAlgn="base"/>
            <a:r>
              <a:rPr lang="en-US" dirty="0"/>
              <a:t>Linear Regression</a:t>
            </a:r>
          </a:p>
          <a:p>
            <a:pPr fontAlgn="base"/>
            <a:r>
              <a:rPr lang="en-US" dirty="0"/>
              <a:t>Time Series Analysis and Forecasting</a:t>
            </a:r>
          </a:p>
          <a:p>
            <a:pPr fontAlgn="base"/>
            <a:r>
              <a:rPr lang="en-US" dirty="0"/>
              <a:t>Data Mining</a:t>
            </a:r>
          </a:p>
          <a:p>
            <a:pPr fontAlgn="base"/>
            <a:r>
              <a:rPr lang="en-US" b="1" dirty="0"/>
              <a:t>Basic Cornerstones of Predictive Analytics</a:t>
            </a:r>
          </a:p>
          <a:p>
            <a:pPr fontAlgn="base"/>
            <a:r>
              <a:rPr lang="en-US" dirty="0"/>
              <a:t>Predictive modeling</a:t>
            </a:r>
          </a:p>
          <a:p>
            <a:pPr fontAlgn="base"/>
            <a:r>
              <a:rPr lang="en-US" dirty="0"/>
              <a:t>Decision Analysis and optimization</a:t>
            </a:r>
          </a:p>
          <a:p>
            <a:pPr fontAlgn="base"/>
            <a:r>
              <a:rPr lang="en-US" dirty="0"/>
              <a:t>Transaction profiling</a:t>
            </a:r>
          </a:p>
          <a:p>
            <a:endParaRPr lang="en-IN" dirty="0"/>
          </a:p>
        </p:txBody>
      </p:sp>
    </p:spTree>
    <p:extLst>
      <p:ext uri="{BB962C8B-B14F-4D97-AF65-F5344CB8AC3E}">
        <p14:creationId xmlns:p14="http://schemas.microsoft.com/office/powerpoint/2010/main" val="4291937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IN" dirty="0"/>
          </a:p>
        </p:txBody>
      </p:sp>
      <p:sp>
        <p:nvSpPr>
          <p:cNvPr id="3" name="Content Placeholder 2"/>
          <p:cNvSpPr>
            <a:spLocks noGrp="1"/>
          </p:cNvSpPr>
          <p:nvPr>
            <p:ph idx="1"/>
          </p:nvPr>
        </p:nvSpPr>
        <p:spPr/>
        <p:txBody>
          <a:bodyPr/>
          <a:lstStyle/>
          <a:p>
            <a:r>
              <a:rPr lang="en-IN" dirty="0"/>
              <a:t>For example, an advertising campaign for t-shirts on Facebook could apply predictive analytics to determine how closely conversion rate correlates with a target audience’s geographic area, income bracket, and interests. From there, predictive </a:t>
            </a:r>
            <a:r>
              <a:rPr lang="en-IN" dirty="0" err="1"/>
              <a:t>modeling</a:t>
            </a:r>
            <a:r>
              <a:rPr lang="en-IN" dirty="0"/>
              <a:t> could be used to </a:t>
            </a:r>
            <a:r>
              <a:rPr lang="en-IN" dirty="0" err="1"/>
              <a:t>analyze</a:t>
            </a:r>
            <a:r>
              <a:rPr lang="en-IN" dirty="0"/>
              <a:t> the statistics for two (or more) target audiences, and provide possible revenue values for each demographic.</a:t>
            </a:r>
          </a:p>
          <a:p>
            <a:endParaRPr lang="en-IN" dirty="0"/>
          </a:p>
        </p:txBody>
      </p:sp>
    </p:spTree>
    <p:extLst>
      <p:ext uri="{BB962C8B-B14F-4D97-AF65-F5344CB8AC3E}">
        <p14:creationId xmlns:p14="http://schemas.microsoft.com/office/powerpoint/2010/main" val="780494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0111"/>
          </a:xfrm>
        </p:spPr>
        <p:txBody>
          <a:bodyPr>
            <a:normAutofit fontScale="90000"/>
          </a:bodyPr>
          <a:lstStyle/>
          <a:p>
            <a:r>
              <a:rPr lang="en-US" dirty="0" smtClean="0"/>
              <a:t>Descriptive Analysis</a:t>
            </a:r>
            <a:endParaRPr lang="en-IN" dirty="0"/>
          </a:p>
        </p:txBody>
      </p:sp>
      <p:sp>
        <p:nvSpPr>
          <p:cNvPr id="3" name="Content Placeholder 2"/>
          <p:cNvSpPr>
            <a:spLocks noGrp="1"/>
          </p:cNvSpPr>
          <p:nvPr>
            <p:ph idx="1"/>
          </p:nvPr>
        </p:nvSpPr>
        <p:spPr>
          <a:xfrm>
            <a:off x="838200" y="1145309"/>
            <a:ext cx="10515600" cy="5031654"/>
          </a:xfrm>
        </p:spPr>
        <p:txBody>
          <a:bodyPr>
            <a:normAutofit fontScale="85000" lnSpcReduction="20000"/>
          </a:bodyPr>
          <a:lstStyle/>
          <a:p>
            <a:pPr fontAlgn="base"/>
            <a:r>
              <a:rPr lang="en-US" dirty="0"/>
              <a:t>Descriptive analytics looks at data and analyze past event for insight as to how to approach future events. It looks at past performance and understands the performance by mining historical data to understand the cause of success or failure in the past. Almost all management reporting such as sales, marketing, operations, and finance uses this type of analysis. </a:t>
            </a:r>
          </a:p>
          <a:p>
            <a:pPr fontAlgn="base"/>
            <a:r>
              <a:rPr lang="en-US" dirty="0"/>
              <a:t>The descriptive model quantifies relationships in data in a way that is often used to classify customers or prospects into groups. Unlike a predictive model that focuses on predicting the behavior of a single customer, </a:t>
            </a:r>
            <a:r>
              <a:rPr lang="en-US" u="sng" dirty="0">
                <a:hlinkClick r:id="rId2"/>
              </a:rPr>
              <a:t>Descriptive analytics</a:t>
            </a:r>
            <a:r>
              <a:rPr lang="en-US" dirty="0"/>
              <a:t> identifies many different relationships between customer and product. </a:t>
            </a:r>
          </a:p>
          <a:p>
            <a:pPr fontAlgn="base"/>
            <a:r>
              <a:rPr lang="en-US" b="1" dirty="0"/>
              <a:t>Common examples of Descriptive analytics are company reports that provide historic reviews like: </a:t>
            </a:r>
            <a:endParaRPr lang="en-US" dirty="0"/>
          </a:p>
          <a:p>
            <a:pPr fontAlgn="base"/>
            <a:r>
              <a:rPr lang="en-US" dirty="0"/>
              <a:t>Data Queries</a:t>
            </a:r>
          </a:p>
          <a:p>
            <a:pPr fontAlgn="base"/>
            <a:r>
              <a:rPr lang="en-US" dirty="0"/>
              <a:t>Reports</a:t>
            </a:r>
          </a:p>
          <a:p>
            <a:pPr fontAlgn="base"/>
            <a:r>
              <a:rPr lang="en-US" dirty="0"/>
              <a:t>Descriptive Statistics</a:t>
            </a:r>
          </a:p>
          <a:p>
            <a:pPr fontAlgn="base"/>
            <a:r>
              <a:rPr lang="en-US" dirty="0"/>
              <a:t>Data dashboard</a:t>
            </a:r>
          </a:p>
          <a:p>
            <a:endParaRPr lang="en-IN" dirty="0"/>
          </a:p>
        </p:txBody>
      </p:sp>
    </p:spTree>
    <p:extLst>
      <p:ext uri="{BB962C8B-B14F-4D97-AF65-F5344CB8AC3E}">
        <p14:creationId xmlns:p14="http://schemas.microsoft.com/office/powerpoint/2010/main" val="2547169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r>
              <a:rPr lang="en-IN" dirty="0"/>
              <a:t>Ad hoc reports, on the other hand, are designed by you and usually aren’t scheduled. They are generated when there is a need to answer a specific business question. These reports are useful for obtaining more in-depth information about a specific query. An ad hoc report could focus on your corporate social media profile, examining the types of people who’ve liked your page and other industry pages, as well as other engagement and demographic information. Its </a:t>
            </a:r>
            <a:r>
              <a:rPr lang="en-IN" dirty="0" smtClean="0"/>
              <a:t>hyper specificity </a:t>
            </a:r>
            <a:r>
              <a:rPr lang="en-IN" dirty="0"/>
              <a:t>helps give a more complete picture of your social media audience. Chances are you won’t need to view this type of report a second time (unless there’s a major change to your audience).</a:t>
            </a:r>
          </a:p>
          <a:p>
            <a:endParaRPr lang="en-IN" dirty="0"/>
          </a:p>
        </p:txBody>
      </p:sp>
    </p:spTree>
    <p:extLst>
      <p:ext uri="{BB962C8B-B14F-4D97-AF65-F5344CB8AC3E}">
        <p14:creationId xmlns:p14="http://schemas.microsoft.com/office/powerpoint/2010/main" val="4046977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lstStyle/>
          <a:p>
            <a:r>
              <a:rPr lang="en-US" dirty="0" smtClean="0"/>
              <a:t>Prescriptive Analysis</a:t>
            </a:r>
            <a:endParaRPr lang="en-IN" dirty="0"/>
          </a:p>
        </p:txBody>
      </p:sp>
      <p:sp>
        <p:nvSpPr>
          <p:cNvPr id="3" name="Content Placeholder 2"/>
          <p:cNvSpPr>
            <a:spLocks noGrp="1"/>
          </p:cNvSpPr>
          <p:nvPr>
            <p:ph idx="1"/>
          </p:nvPr>
        </p:nvSpPr>
        <p:spPr>
          <a:xfrm>
            <a:off x="838200" y="1422400"/>
            <a:ext cx="10515600" cy="4754563"/>
          </a:xfrm>
        </p:spPr>
        <p:txBody>
          <a:bodyPr>
            <a:normAutofit fontScale="92500" lnSpcReduction="20000"/>
          </a:bodyPr>
          <a:lstStyle/>
          <a:p>
            <a:pPr fontAlgn="base"/>
            <a:r>
              <a:rPr lang="en-US" dirty="0"/>
              <a:t>Prescriptive Analytics automatically synthesize big data, mathematical science, business rule, and machine learning to make a prediction and then suggests a decision option to take advantage of the prediction. </a:t>
            </a:r>
          </a:p>
          <a:p>
            <a:pPr fontAlgn="base"/>
            <a:r>
              <a:rPr lang="en-US" dirty="0"/>
              <a:t>Prescriptive analytics goes beyond predicting future outcomes by also suggesting action benefits from the predictions and showing the decision maker the implication of each decision option. Prescriptive Analytics not only anticipates what will happen and when to happen but also why it will happen. Further, Prescriptive Analytics can suggest decision options on how to take advantage of a future opportunity or mitigate a future risk and illustrate the implication of each decision option. </a:t>
            </a:r>
          </a:p>
          <a:p>
            <a:pPr fontAlgn="base"/>
            <a:r>
              <a:rPr lang="en-US" dirty="0"/>
              <a:t>For example, </a:t>
            </a:r>
            <a:r>
              <a:rPr lang="en-US" u="sng" dirty="0">
                <a:hlinkClick r:id="rId2"/>
              </a:rPr>
              <a:t>Prescriptive Analytics</a:t>
            </a:r>
            <a:r>
              <a:rPr lang="en-US" dirty="0"/>
              <a:t> can benefit healthcare strategic planning by using analytics to leverage operational and usage data combined with data of external factors such as economic data, population demography, etc. </a:t>
            </a:r>
          </a:p>
          <a:p>
            <a:endParaRPr lang="en-IN" dirty="0"/>
          </a:p>
        </p:txBody>
      </p:sp>
    </p:spTree>
    <p:extLst>
      <p:ext uri="{BB962C8B-B14F-4D97-AF65-F5344CB8AC3E}">
        <p14:creationId xmlns:p14="http://schemas.microsoft.com/office/powerpoint/2010/main" val="4140335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r>
              <a:rPr lang="en-IN" dirty="0"/>
              <a:t>Using advancements in ML, prescriptive analytics can help answer questions such as “What if we try this?” and “What is the best action?” You can test the correct variables and even suggest new variables that offer a higher chance of generating a positive outcome.</a:t>
            </a:r>
          </a:p>
          <a:p>
            <a:endParaRPr lang="en-IN" dirty="0"/>
          </a:p>
        </p:txBody>
      </p:sp>
    </p:spTree>
    <p:extLst>
      <p:ext uri="{BB962C8B-B14F-4D97-AF65-F5344CB8AC3E}">
        <p14:creationId xmlns:p14="http://schemas.microsoft.com/office/powerpoint/2010/main" val="4107468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7057"/>
          </a:xfrm>
        </p:spPr>
        <p:txBody>
          <a:bodyPr/>
          <a:lstStyle/>
          <a:p>
            <a:r>
              <a:rPr lang="en-US" dirty="0" smtClean="0"/>
              <a:t>Diagnostic Analysis</a:t>
            </a:r>
            <a:endParaRPr lang="en-IN" dirty="0"/>
          </a:p>
        </p:txBody>
      </p:sp>
      <p:sp>
        <p:nvSpPr>
          <p:cNvPr id="3" name="Content Placeholder 2"/>
          <p:cNvSpPr>
            <a:spLocks noGrp="1"/>
          </p:cNvSpPr>
          <p:nvPr>
            <p:ph idx="1"/>
          </p:nvPr>
        </p:nvSpPr>
        <p:spPr>
          <a:xfrm>
            <a:off x="838200" y="1246909"/>
            <a:ext cx="10515600" cy="4930054"/>
          </a:xfrm>
        </p:spPr>
        <p:txBody>
          <a:bodyPr>
            <a:normAutofit lnSpcReduction="10000"/>
          </a:bodyPr>
          <a:lstStyle/>
          <a:p>
            <a:pPr fontAlgn="base"/>
            <a:r>
              <a:rPr lang="en-US" dirty="0"/>
              <a:t>In this analysis, we generally use historical data over other data to answer any question or for the solution of any problem. We try to find any dependency and pattern in the historical data of the particular problem. </a:t>
            </a:r>
          </a:p>
          <a:p>
            <a:pPr fontAlgn="base"/>
            <a:r>
              <a:rPr lang="en-US" dirty="0"/>
              <a:t>For example, companies go for this analysis because it gives a great insight into a problem, and they also keep detailed information about their disposal otherwise data collection may turn out individual for every problem and it will be very time-consuming.  Common techniques used for Diagnostic Analytics are: </a:t>
            </a:r>
          </a:p>
          <a:p>
            <a:pPr fontAlgn="base"/>
            <a:r>
              <a:rPr lang="en-US" dirty="0"/>
              <a:t>Data discovery</a:t>
            </a:r>
          </a:p>
          <a:p>
            <a:pPr fontAlgn="base"/>
            <a:r>
              <a:rPr lang="en-US" dirty="0"/>
              <a:t>Data mining</a:t>
            </a:r>
          </a:p>
          <a:p>
            <a:pPr fontAlgn="base"/>
            <a:r>
              <a:rPr lang="en-US" dirty="0"/>
              <a:t>Correlations </a:t>
            </a:r>
          </a:p>
          <a:p>
            <a:endParaRPr lang="en-IN" dirty="0"/>
          </a:p>
        </p:txBody>
      </p:sp>
    </p:spTree>
    <p:extLst>
      <p:ext uri="{BB962C8B-B14F-4D97-AF65-F5344CB8AC3E}">
        <p14:creationId xmlns:p14="http://schemas.microsoft.com/office/powerpoint/2010/main" val="2219461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t>
            </a:r>
            <a:r>
              <a:rPr lang="en-US" dirty="0" smtClean="0"/>
              <a:t>xample</a:t>
            </a:r>
            <a:endParaRPr lang="en-IN" dirty="0"/>
          </a:p>
        </p:txBody>
      </p:sp>
      <p:sp>
        <p:nvSpPr>
          <p:cNvPr id="3" name="Content Placeholder 2"/>
          <p:cNvSpPr>
            <a:spLocks noGrp="1"/>
          </p:cNvSpPr>
          <p:nvPr>
            <p:ph idx="1"/>
          </p:nvPr>
        </p:nvSpPr>
        <p:spPr/>
        <p:txBody>
          <a:bodyPr/>
          <a:lstStyle/>
          <a:p>
            <a:r>
              <a:rPr lang="en-IN" dirty="0"/>
              <a:t>For example, a sales rep that closed significantly fewer deals one month. A drill down could show fewer workdays, due to a two-week vacation.</a:t>
            </a:r>
          </a:p>
          <a:p>
            <a:r>
              <a:rPr lang="en-IN" dirty="0"/>
              <a:t>Discover and alerts notify of a potential issue before it occurs, for example, an alert about a lower amount of staff hours, which could result in a decrease in closed deals. You could also use diagnostic data analytics to “discover” information such as the most-qualified candidate for a new position at your company.</a:t>
            </a:r>
          </a:p>
          <a:p>
            <a:endParaRPr lang="en-IN" dirty="0"/>
          </a:p>
        </p:txBody>
      </p:sp>
    </p:spTree>
    <p:extLst>
      <p:ext uri="{BB962C8B-B14F-4D97-AF65-F5344CB8AC3E}">
        <p14:creationId xmlns:p14="http://schemas.microsoft.com/office/powerpoint/2010/main" val="821052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6700" y="214312"/>
            <a:ext cx="12725400" cy="6429375"/>
          </a:xfrm>
          <a:prstGeom prst="rect">
            <a:avLst/>
          </a:prstGeom>
        </p:spPr>
      </p:pic>
    </p:spTree>
    <p:extLst>
      <p:ext uri="{BB962C8B-B14F-4D97-AF65-F5344CB8AC3E}">
        <p14:creationId xmlns:p14="http://schemas.microsoft.com/office/powerpoint/2010/main" val="1153278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4766"/>
          </a:xfrm>
        </p:spPr>
        <p:txBody>
          <a:bodyPr/>
          <a:lstStyle/>
          <a:p>
            <a:r>
              <a:rPr lang="en-US" b="1" dirty="0" smtClean="0">
                <a:solidFill>
                  <a:srgbClr val="FF0000"/>
                </a:solidFill>
              </a:rPr>
              <a:t>Benefits of Data Analytics</a:t>
            </a:r>
            <a:endParaRPr lang="en-IN" b="1" dirty="0">
              <a:solidFill>
                <a:srgbClr val="FF0000"/>
              </a:solidFill>
            </a:endParaRPr>
          </a:p>
        </p:txBody>
      </p:sp>
      <p:sp>
        <p:nvSpPr>
          <p:cNvPr id="3" name="Content Placeholder 2"/>
          <p:cNvSpPr>
            <a:spLocks noGrp="1"/>
          </p:cNvSpPr>
          <p:nvPr>
            <p:ph idx="1"/>
          </p:nvPr>
        </p:nvSpPr>
        <p:spPr>
          <a:xfrm>
            <a:off x="838200" y="1089892"/>
            <a:ext cx="10515600" cy="5087071"/>
          </a:xfrm>
        </p:spPr>
        <p:txBody>
          <a:bodyPr>
            <a:normAutofit fontScale="85000" lnSpcReduction="20000"/>
          </a:bodyPr>
          <a:lstStyle/>
          <a:p>
            <a:pPr algn="just"/>
            <a:r>
              <a:rPr lang="en-IN" b="1" dirty="0"/>
              <a:t>#1 Informed Decision Making</a:t>
            </a:r>
            <a:endParaRPr lang="en-IN" dirty="0"/>
          </a:p>
          <a:p>
            <a:pPr algn="just"/>
            <a:r>
              <a:rPr lang="en-IN" dirty="0"/>
              <a:t>One of the most significant benefits of data analytics is that it takes speculation out of critical (and even minor) business decisions. Historical data provides valuable insight that enables businesses to assess where they presently stand, predict future outcomes, and pinpoint—and mitigate—risks.</a:t>
            </a:r>
          </a:p>
          <a:p>
            <a:pPr algn="just"/>
            <a:r>
              <a:rPr lang="en-IN" b="1" dirty="0"/>
              <a:t>#2. Operational Efficiency and Process Improvement</a:t>
            </a:r>
            <a:endParaRPr lang="en-IN" dirty="0"/>
          </a:p>
          <a:p>
            <a:pPr algn="just"/>
            <a:r>
              <a:rPr lang="en-IN" dirty="0"/>
              <a:t>Enhanced productivity and efficiency enable businesses to keep pace with their competitors (if not outrun them) while also meeting the increasing customer demand for seamless and </a:t>
            </a:r>
            <a:r>
              <a:rPr lang="en-IN" i="1" dirty="0"/>
              <a:t>swift</a:t>
            </a:r>
            <a:r>
              <a:rPr lang="en-IN" dirty="0"/>
              <a:t> experiences. Data collection and data analytics can help a company </a:t>
            </a:r>
            <a:r>
              <a:rPr lang="en-IN" dirty="0" smtClean="0"/>
              <a:t>up level </a:t>
            </a:r>
            <a:r>
              <a:rPr lang="en-IN" dirty="0"/>
              <a:t>their processes and improve their overall efficiency by identifying ways to</a:t>
            </a:r>
            <a:r>
              <a:rPr lang="en-IN" dirty="0" smtClean="0"/>
              <a:t>:</a:t>
            </a:r>
            <a:endParaRPr lang="en-IN" dirty="0"/>
          </a:p>
          <a:p>
            <a:pPr lvl="0" algn="just"/>
            <a:r>
              <a:rPr lang="en-IN" dirty="0"/>
              <a:t>Curb manual </a:t>
            </a:r>
            <a:r>
              <a:rPr lang="en-IN" dirty="0" err="1"/>
              <a:t>labor</a:t>
            </a:r>
            <a:r>
              <a:rPr lang="en-IN" dirty="0"/>
              <a:t> (and the expenses that arrive with it</a:t>
            </a:r>
            <a:r>
              <a:rPr lang="en-IN" dirty="0" smtClean="0"/>
              <a:t>)(curb means to control)</a:t>
            </a:r>
            <a:endParaRPr lang="en-IN" dirty="0"/>
          </a:p>
          <a:p>
            <a:pPr lvl="0" algn="just"/>
            <a:r>
              <a:rPr lang="en-IN" dirty="0"/>
              <a:t>Spot bottlenecks in production</a:t>
            </a:r>
          </a:p>
          <a:p>
            <a:pPr lvl="0" algn="just"/>
            <a:r>
              <a:rPr lang="en-IN" dirty="0"/>
              <a:t>Streamline and strengthen workflows</a:t>
            </a:r>
          </a:p>
          <a:p>
            <a:pPr lvl="0" algn="just"/>
            <a:r>
              <a:rPr lang="en-IN" dirty="0"/>
              <a:t>Maximize supply chain operations</a:t>
            </a:r>
          </a:p>
          <a:p>
            <a:pPr algn="just"/>
            <a:endParaRPr lang="en-IN" dirty="0"/>
          </a:p>
        </p:txBody>
      </p:sp>
    </p:spTree>
    <p:extLst>
      <p:ext uri="{BB962C8B-B14F-4D97-AF65-F5344CB8AC3E}">
        <p14:creationId xmlns:p14="http://schemas.microsoft.com/office/powerpoint/2010/main" val="347409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7893"/>
          </a:xfrm>
        </p:spPr>
        <p:txBody>
          <a:bodyPr/>
          <a:lstStyle/>
          <a:p>
            <a:r>
              <a:rPr lang="en-US" b="1" dirty="0" smtClean="0">
                <a:solidFill>
                  <a:srgbClr val="FF0000"/>
                </a:solidFill>
              </a:rPr>
              <a:t>Benefits of DA</a:t>
            </a:r>
            <a:endParaRPr lang="en-IN" b="1" dirty="0">
              <a:solidFill>
                <a:srgbClr val="FF0000"/>
              </a:solidFill>
            </a:endParaRPr>
          </a:p>
        </p:txBody>
      </p:sp>
      <p:sp>
        <p:nvSpPr>
          <p:cNvPr id="3" name="Content Placeholder 2"/>
          <p:cNvSpPr>
            <a:spLocks noGrp="1"/>
          </p:cNvSpPr>
          <p:nvPr>
            <p:ph idx="1"/>
          </p:nvPr>
        </p:nvSpPr>
        <p:spPr>
          <a:xfrm>
            <a:off x="838200" y="1173018"/>
            <a:ext cx="10515600" cy="5003945"/>
          </a:xfrm>
        </p:spPr>
        <p:txBody>
          <a:bodyPr>
            <a:normAutofit fontScale="92500" lnSpcReduction="20000"/>
          </a:bodyPr>
          <a:lstStyle/>
          <a:p>
            <a:pPr algn="just"/>
            <a:r>
              <a:rPr lang="en-IN" b="1" dirty="0"/>
              <a:t>#3. Customer Understanding and Personalization</a:t>
            </a:r>
            <a:endParaRPr lang="en-IN" dirty="0"/>
          </a:p>
          <a:p>
            <a:pPr algn="just"/>
            <a:r>
              <a:rPr lang="en-IN" dirty="0"/>
              <a:t>Understanding a customer’s </a:t>
            </a:r>
            <a:r>
              <a:rPr lang="en-IN" dirty="0" err="1"/>
              <a:t>behavior</a:t>
            </a:r>
            <a:r>
              <a:rPr lang="en-IN" dirty="0"/>
              <a:t>—from what they buy to when they buy—is essential to boosting customer retention and a brand’s bottom line. Companies can cultivate stronger relationships with their patrons by anticipating the products and services they want and need through a combination of </a:t>
            </a:r>
            <a:r>
              <a:rPr lang="en-IN" dirty="0" err="1"/>
              <a:t>analyzing</a:t>
            </a:r>
            <a:r>
              <a:rPr lang="en-IN" dirty="0" smtClean="0"/>
              <a:t>:</a:t>
            </a:r>
            <a:endParaRPr lang="en-IN" dirty="0"/>
          </a:p>
          <a:p>
            <a:pPr lvl="0" algn="just"/>
            <a:r>
              <a:rPr lang="en-IN" dirty="0" err="1"/>
              <a:t>Behavioral</a:t>
            </a:r>
            <a:r>
              <a:rPr lang="en-IN" dirty="0"/>
              <a:t> data</a:t>
            </a:r>
          </a:p>
          <a:p>
            <a:pPr lvl="0" algn="just"/>
            <a:r>
              <a:rPr lang="en-IN" dirty="0"/>
              <a:t>Demographic </a:t>
            </a:r>
            <a:r>
              <a:rPr lang="en-IN" dirty="0" smtClean="0"/>
              <a:t>data(information of groups according to certain attributes)</a:t>
            </a:r>
            <a:endParaRPr lang="en-IN" dirty="0"/>
          </a:p>
          <a:p>
            <a:pPr lvl="0" algn="just"/>
            <a:r>
              <a:rPr lang="en-IN" dirty="0"/>
              <a:t>Psychographic </a:t>
            </a:r>
            <a:r>
              <a:rPr lang="en-IN" dirty="0" smtClean="0"/>
              <a:t>data(personality, </a:t>
            </a:r>
            <a:r>
              <a:rPr lang="en-IN" dirty="0" err="1" smtClean="0"/>
              <a:t>values,attitudes,lifestyle</a:t>
            </a:r>
            <a:r>
              <a:rPr lang="en-IN" dirty="0" smtClean="0"/>
              <a:t>)</a:t>
            </a:r>
            <a:endParaRPr lang="en-IN" dirty="0"/>
          </a:p>
          <a:p>
            <a:pPr lvl="0" algn="just"/>
            <a:r>
              <a:rPr lang="en-IN" dirty="0"/>
              <a:t>Transactional data</a:t>
            </a:r>
          </a:p>
          <a:p>
            <a:pPr algn="just"/>
            <a:r>
              <a:rPr lang="en-IN" dirty="0"/>
              <a:t>We all know how refreshing and reassuring it feels when a company seems to “get” you (and a product or service pops into view at precisely the right moment). This is often thanks to strong </a:t>
            </a:r>
            <a:r>
              <a:rPr lang="en-IN" u="sng" dirty="0">
                <a:hlinkClick r:id="rId2"/>
              </a:rPr>
              <a:t>data analytics and business intelligence</a:t>
            </a:r>
            <a:r>
              <a:rPr lang="en-IN" dirty="0"/>
              <a:t>.</a:t>
            </a:r>
          </a:p>
          <a:p>
            <a:pPr algn="just"/>
            <a:endParaRPr lang="en-IN" dirty="0"/>
          </a:p>
        </p:txBody>
      </p:sp>
    </p:spTree>
    <p:extLst>
      <p:ext uri="{BB962C8B-B14F-4D97-AF65-F5344CB8AC3E}">
        <p14:creationId xmlns:p14="http://schemas.microsoft.com/office/powerpoint/2010/main" val="2576722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9493"/>
          </a:xfrm>
        </p:spPr>
        <p:txBody>
          <a:bodyPr/>
          <a:lstStyle/>
          <a:p>
            <a:r>
              <a:rPr lang="en-US" b="1" dirty="0" smtClean="0">
                <a:solidFill>
                  <a:srgbClr val="FF0000"/>
                </a:solidFill>
              </a:rPr>
              <a:t>Benefits of DA</a:t>
            </a:r>
            <a:endParaRPr lang="en-IN" b="1" dirty="0">
              <a:solidFill>
                <a:srgbClr val="FF0000"/>
              </a:solidFill>
            </a:endParaRPr>
          </a:p>
        </p:txBody>
      </p:sp>
      <p:sp>
        <p:nvSpPr>
          <p:cNvPr id="3" name="Content Placeholder 2"/>
          <p:cNvSpPr>
            <a:spLocks noGrp="1"/>
          </p:cNvSpPr>
          <p:nvPr>
            <p:ph idx="1"/>
          </p:nvPr>
        </p:nvSpPr>
        <p:spPr>
          <a:xfrm>
            <a:off x="838200" y="1274618"/>
            <a:ext cx="10515600" cy="5357091"/>
          </a:xfrm>
        </p:spPr>
        <p:txBody>
          <a:bodyPr>
            <a:normAutofit fontScale="85000" lnSpcReduction="20000"/>
          </a:bodyPr>
          <a:lstStyle/>
          <a:p>
            <a:pPr algn="just"/>
            <a:r>
              <a:rPr lang="en-IN" b="1" dirty="0"/>
              <a:t>#4. Marketing and Sales Optimization</a:t>
            </a:r>
            <a:endParaRPr lang="en-IN" dirty="0"/>
          </a:p>
          <a:p>
            <a:pPr algn="just"/>
            <a:r>
              <a:rPr lang="en-IN" dirty="0"/>
              <a:t>It’s safe to say that no business exists that isn’t intent on </a:t>
            </a:r>
            <a:r>
              <a:rPr lang="en-IN" dirty="0" smtClean="0"/>
              <a:t>bolstering(to encourage) </a:t>
            </a:r>
            <a:r>
              <a:rPr lang="en-IN" dirty="0"/>
              <a:t>their sales performance.</a:t>
            </a:r>
          </a:p>
          <a:p>
            <a:pPr algn="just"/>
            <a:r>
              <a:rPr lang="en-IN" dirty="0"/>
              <a:t>Data analytics and business intelligence can help substantially in this regard. In fact, companies that utilize data-driven marketing tactics have a five times higher ROI than businesses that don’t</a:t>
            </a:r>
            <a:r>
              <a:rPr lang="en-IN" dirty="0" smtClean="0"/>
              <a:t>.</a:t>
            </a:r>
            <a:endParaRPr lang="en-IN" baseline="30000" dirty="0"/>
          </a:p>
          <a:p>
            <a:pPr marL="0" indent="0" algn="just">
              <a:buNone/>
            </a:pPr>
            <a:r>
              <a:rPr lang="en-IN" dirty="0"/>
              <a:t> Specifically, data analytics facilitates:</a:t>
            </a:r>
          </a:p>
          <a:p>
            <a:pPr lvl="0" algn="just"/>
            <a:r>
              <a:rPr lang="en-IN" dirty="0"/>
              <a:t>Improved marketing messages that may resonate with new and existing customers</a:t>
            </a:r>
          </a:p>
          <a:p>
            <a:pPr lvl="0" algn="just"/>
            <a:r>
              <a:rPr lang="en-IN" dirty="0"/>
              <a:t>A clearer comprehension of which keywords fuel traffic and lead to conversions</a:t>
            </a:r>
          </a:p>
          <a:p>
            <a:pPr lvl="0" algn="just"/>
            <a:r>
              <a:rPr lang="en-IN" dirty="0"/>
              <a:t>Elevated content decisions based on a target audience’s preferences and engagement</a:t>
            </a:r>
          </a:p>
          <a:p>
            <a:pPr algn="just"/>
            <a:r>
              <a:rPr lang="en-IN" dirty="0"/>
              <a:t>Data analytics can also help companies track which products and services are performing well and predict sales trends—and leverage this qualitative data in their product management, development, and marketing strategies with the help of data visualization tools.</a:t>
            </a:r>
          </a:p>
          <a:p>
            <a:pPr algn="just"/>
            <a:endParaRPr lang="en-IN" dirty="0"/>
          </a:p>
        </p:txBody>
      </p:sp>
    </p:spTree>
    <p:extLst>
      <p:ext uri="{BB962C8B-B14F-4D97-AF65-F5344CB8AC3E}">
        <p14:creationId xmlns:p14="http://schemas.microsoft.com/office/powerpoint/2010/main" val="2531167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6439"/>
          </a:xfrm>
        </p:spPr>
        <p:txBody>
          <a:bodyPr/>
          <a:lstStyle/>
          <a:p>
            <a:r>
              <a:rPr lang="en-US" b="1" dirty="0" smtClean="0">
                <a:solidFill>
                  <a:srgbClr val="FF0000"/>
                </a:solidFill>
              </a:rPr>
              <a:t>Benefits of DA</a:t>
            </a:r>
            <a:endParaRPr lang="en-IN" b="1" dirty="0">
              <a:solidFill>
                <a:srgbClr val="FF0000"/>
              </a:solidFill>
            </a:endParaRPr>
          </a:p>
        </p:txBody>
      </p:sp>
      <p:sp>
        <p:nvSpPr>
          <p:cNvPr id="3" name="Content Placeholder 2"/>
          <p:cNvSpPr>
            <a:spLocks noGrp="1"/>
          </p:cNvSpPr>
          <p:nvPr>
            <p:ph idx="1"/>
          </p:nvPr>
        </p:nvSpPr>
        <p:spPr>
          <a:xfrm>
            <a:off x="838200" y="1173018"/>
            <a:ext cx="10515600" cy="5003945"/>
          </a:xfrm>
        </p:spPr>
        <p:txBody>
          <a:bodyPr/>
          <a:lstStyle/>
          <a:p>
            <a:pPr algn="just"/>
            <a:r>
              <a:rPr lang="en-IN" b="1" dirty="0"/>
              <a:t>#5. Competitor Analysis and Market Research</a:t>
            </a:r>
            <a:endParaRPr lang="en-IN" dirty="0"/>
          </a:p>
          <a:p>
            <a:pPr algn="just"/>
            <a:r>
              <a:rPr lang="en-IN" dirty="0"/>
              <a:t>Businesses must comprehensively understand their market’s landscape—and stay </a:t>
            </a:r>
            <a:r>
              <a:rPr lang="en-IN" dirty="0" smtClean="0"/>
              <a:t>apprised(informed) </a:t>
            </a:r>
            <a:r>
              <a:rPr lang="en-IN" dirty="0"/>
              <a:t>of changes to adjust and </a:t>
            </a:r>
            <a:r>
              <a:rPr lang="en-IN" dirty="0" smtClean="0"/>
              <a:t>revamp(to change something) </a:t>
            </a:r>
            <a:r>
              <a:rPr lang="en-IN" dirty="0"/>
              <a:t>when necessary.</a:t>
            </a:r>
            <a:r>
              <a:rPr lang="en-IN" baseline="30000" dirty="0"/>
              <a:t>7</a:t>
            </a:r>
            <a:endParaRPr lang="en-IN" dirty="0"/>
          </a:p>
          <a:p>
            <a:pPr algn="just"/>
            <a:r>
              <a:rPr lang="en-IN" dirty="0"/>
              <a:t>Data analytics helps companies evaluate their competitors’ performance, price points, marketing methods, social media reach, and more. Business leaders can make informed decisions to ensure they’re taking the proper, proactive steps to remain at the top of their </a:t>
            </a:r>
            <a:r>
              <a:rPr lang="en-IN" dirty="0" smtClean="0"/>
              <a:t>position.</a:t>
            </a:r>
            <a:endParaRPr lang="en-IN" dirty="0"/>
          </a:p>
          <a:p>
            <a:pPr algn="just"/>
            <a:endParaRPr lang="en-IN" dirty="0"/>
          </a:p>
        </p:txBody>
      </p:sp>
    </p:spTree>
    <p:extLst>
      <p:ext uri="{BB962C8B-B14F-4D97-AF65-F5344CB8AC3E}">
        <p14:creationId xmlns:p14="http://schemas.microsoft.com/office/powerpoint/2010/main" val="565799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6984"/>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Additional </a:t>
            </a:r>
            <a:r>
              <a:rPr lang="en-IN" b="1" dirty="0">
                <a:solidFill>
                  <a:srgbClr val="FF0000"/>
                </a:solidFill>
              </a:rPr>
              <a:t>Benefits of Data Analytics</a:t>
            </a:r>
            <a:r>
              <a:rPr lang="en-IN" dirty="0">
                <a:solidFill>
                  <a:srgbClr val="FF0000"/>
                </a:solidFill>
              </a:rPr>
              <a:t/>
            </a:r>
            <a:br>
              <a:rPr lang="en-IN"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173018"/>
            <a:ext cx="10515600" cy="5003945"/>
          </a:xfrm>
        </p:spPr>
        <p:txBody>
          <a:bodyPr>
            <a:normAutofit fontScale="92500"/>
          </a:bodyPr>
          <a:lstStyle/>
          <a:p>
            <a:r>
              <a:rPr lang="en-IN" dirty="0"/>
              <a:t>Data analytics is an invaluable tool for businesses. In addition to the benefits outlined above, it may enhance:</a:t>
            </a:r>
          </a:p>
          <a:p>
            <a:pPr lvl="0"/>
            <a:r>
              <a:rPr lang="en-IN" b="1" dirty="0"/>
              <a:t>Financial performance and budgeting</a:t>
            </a:r>
            <a:r>
              <a:rPr lang="en-IN" dirty="0"/>
              <a:t> – Data analytics offers an evidence-based, holistic view of how a company is performing—and where there’s room for improvement. Payroll costs, revenues, and net income—can all be </a:t>
            </a:r>
            <a:r>
              <a:rPr lang="en-IN" dirty="0" smtClean="0"/>
              <a:t>analysed </a:t>
            </a:r>
            <a:r>
              <a:rPr lang="en-IN" dirty="0"/>
              <a:t>to craft a sustainable budget and maximize profits</a:t>
            </a:r>
            <a:r>
              <a:rPr lang="en-IN" dirty="0" smtClean="0"/>
              <a:t>.</a:t>
            </a:r>
            <a:endParaRPr lang="en-IN" dirty="0"/>
          </a:p>
          <a:p>
            <a:pPr lvl="0"/>
            <a:r>
              <a:rPr lang="en-IN" b="1" dirty="0"/>
              <a:t>Fraud detection and security</a:t>
            </a:r>
            <a:r>
              <a:rPr lang="en-IN" dirty="0"/>
              <a:t> – Fraud data analytics (a subset of data analytics) assesses information to detect suspicious activity, anticipate risks, minimize vulnerability, and protect businesses and their customers</a:t>
            </a:r>
            <a:r>
              <a:rPr lang="en-IN" dirty="0" smtClean="0"/>
              <a:t>.</a:t>
            </a:r>
            <a:endParaRPr lang="en-IN" dirty="0"/>
          </a:p>
          <a:p>
            <a:r>
              <a:rPr lang="en-IN" dirty="0"/>
              <a:t>Last but certainly not least, data analytics can help businesses forecast trends and opportunities—and strategically plan how to position themselves in the future.</a:t>
            </a:r>
          </a:p>
          <a:p>
            <a:endParaRPr lang="en-IN" dirty="0"/>
          </a:p>
        </p:txBody>
      </p:sp>
    </p:spTree>
    <p:extLst>
      <p:ext uri="{BB962C8B-B14F-4D97-AF65-F5344CB8AC3E}">
        <p14:creationId xmlns:p14="http://schemas.microsoft.com/office/powerpoint/2010/main" val="1615458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018" y="143453"/>
            <a:ext cx="10515600" cy="530801"/>
          </a:xfrm>
        </p:spPr>
        <p:txBody>
          <a:bodyPr>
            <a:normAutofit fontScale="90000"/>
          </a:bodyPr>
          <a:lstStyle/>
          <a:p>
            <a:r>
              <a:rPr lang="en-US" b="1" dirty="0" smtClean="0">
                <a:solidFill>
                  <a:srgbClr val="FF0000"/>
                </a:solidFill>
              </a:rPr>
              <a:t>Applications of DA</a:t>
            </a:r>
            <a:endParaRPr lang="en-IN" b="1" dirty="0">
              <a:solidFill>
                <a:srgbClr val="FF0000"/>
              </a:solidFill>
            </a:endParaRPr>
          </a:p>
        </p:txBody>
      </p:sp>
      <p:pic>
        <p:nvPicPr>
          <p:cNvPr id="4" name="Content Placeholder 3"/>
          <p:cNvPicPr>
            <a:picLocks noGrp="1"/>
          </p:cNvPicPr>
          <p:nvPr>
            <p:ph idx="1"/>
          </p:nvPr>
        </p:nvPicPr>
        <p:blipFill>
          <a:blip r:embed="rId2"/>
          <a:stretch>
            <a:fillRect/>
          </a:stretch>
        </p:blipFill>
        <p:spPr>
          <a:xfrm>
            <a:off x="64655" y="812800"/>
            <a:ext cx="11859489" cy="5837382"/>
          </a:xfrm>
          <a:prstGeom prst="rect">
            <a:avLst/>
          </a:prstGeom>
        </p:spPr>
      </p:pic>
    </p:spTree>
    <p:extLst>
      <p:ext uri="{BB962C8B-B14F-4D97-AF65-F5344CB8AC3E}">
        <p14:creationId xmlns:p14="http://schemas.microsoft.com/office/powerpoint/2010/main" val="2708102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1345" y="0"/>
            <a:ext cx="10418619" cy="6858000"/>
          </a:xfrm>
          <a:prstGeom prst="rect">
            <a:avLst/>
          </a:prstGeom>
        </p:spPr>
      </p:pic>
    </p:spTree>
    <p:extLst>
      <p:ext uri="{BB962C8B-B14F-4D97-AF65-F5344CB8AC3E}">
        <p14:creationId xmlns:p14="http://schemas.microsoft.com/office/powerpoint/2010/main" val="2215793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9673" y="720436"/>
            <a:ext cx="10825018" cy="3884901"/>
          </a:xfrm>
          <a:prstGeom prst="rect">
            <a:avLst/>
          </a:prstGeom>
        </p:spPr>
      </p:pic>
    </p:spTree>
    <p:extLst>
      <p:ext uri="{BB962C8B-B14F-4D97-AF65-F5344CB8AC3E}">
        <p14:creationId xmlns:p14="http://schemas.microsoft.com/office/powerpoint/2010/main" val="3336947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03565" y="167264"/>
            <a:ext cx="11055926" cy="6486525"/>
          </a:xfrm>
          <a:prstGeom prst="rect">
            <a:avLst/>
          </a:prstGeom>
        </p:spPr>
      </p:pic>
    </p:spTree>
    <p:extLst>
      <p:ext uri="{BB962C8B-B14F-4D97-AF65-F5344CB8AC3E}">
        <p14:creationId xmlns:p14="http://schemas.microsoft.com/office/powerpoint/2010/main" val="1864604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12800" y="-1"/>
            <a:ext cx="10991273" cy="7077075"/>
          </a:xfrm>
          <a:prstGeom prst="rect">
            <a:avLst/>
          </a:prstGeom>
        </p:spPr>
      </p:pic>
    </p:spTree>
    <p:extLst>
      <p:ext uri="{BB962C8B-B14F-4D97-AF65-F5344CB8AC3E}">
        <p14:creationId xmlns:p14="http://schemas.microsoft.com/office/powerpoint/2010/main" val="78322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49744" y="535710"/>
            <a:ext cx="10686473" cy="5212628"/>
          </a:xfrm>
          <a:prstGeom prst="rect">
            <a:avLst/>
          </a:prstGeom>
        </p:spPr>
      </p:pic>
    </p:spTree>
    <p:extLst>
      <p:ext uri="{BB962C8B-B14F-4D97-AF65-F5344CB8AC3E}">
        <p14:creationId xmlns:p14="http://schemas.microsoft.com/office/powerpoint/2010/main" val="1406312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79054" y="0"/>
            <a:ext cx="10695709" cy="6687128"/>
          </a:xfrm>
          <a:prstGeom prst="rect">
            <a:avLst/>
          </a:prstGeom>
        </p:spPr>
      </p:pic>
    </p:spTree>
    <p:extLst>
      <p:ext uri="{BB962C8B-B14F-4D97-AF65-F5344CB8AC3E}">
        <p14:creationId xmlns:p14="http://schemas.microsoft.com/office/powerpoint/2010/main" val="2196711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7057"/>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The </a:t>
            </a:r>
            <a:r>
              <a:rPr lang="en-IN" b="1" dirty="0">
                <a:solidFill>
                  <a:srgbClr val="FF0000"/>
                </a:solidFill>
              </a:rPr>
              <a:t>Roles and Responsibilities of a Data Analyst</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219200"/>
            <a:ext cx="10515600" cy="4957763"/>
          </a:xfrm>
        </p:spPr>
        <p:txBody>
          <a:bodyPr>
            <a:normAutofit/>
          </a:bodyPr>
          <a:lstStyle/>
          <a:p>
            <a:pPr lvl="0" algn="just"/>
            <a:r>
              <a:rPr lang="en-IN" dirty="0"/>
              <a:t>Data analysts are responsible for collecting and </a:t>
            </a:r>
            <a:r>
              <a:rPr lang="en-IN" dirty="0" err="1"/>
              <a:t>analyzing</a:t>
            </a:r>
            <a:r>
              <a:rPr lang="en-IN" dirty="0"/>
              <a:t> data to provide valuable insights.</a:t>
            </a:r>
          </a:p>
          <a:p>
            <a:pPr lvl="0" algn="just"/>
            <a:r>
              <a:rPr lang="en-IN" dirty="0"/>
              <a:t>They manage databases, troubleshoot issues, and optimize performance.</a:t>
            </a:r>
          </a:p>
          <a:p>
            <a:pPr lvl="0" algn="just"/>
            <a:r>
              <a:rPr lang="en-IN" dirty="0"/>
              <a:t>Data analysts generate reports and present findings to aid decision-making.</a:t>
            </a:r>
          </a:p>
          <a:p>
            <a:pPr lvl="0" algn="just"/>
            <a:r>
              <a:rPr lang="en-IN" dirty="0"/>
              <a:t>Specialized tasks include data visualization, statistical analysis, and </a:t>
            </a:r>
            <a:r>
              <a:rPr lang="en-IN" u="sng" dirty="0">
                <a:hlinkClick r:id="rId2"/>
              </a:rPr>
              <a:t>predictive </a:t>
            </a:r>
            <a:r>
              <a:rPr lang="en-IN" u="sng" dirty="0" err="1">
                <a:hlinkClick r:id="rId2"/>
              </a:rPr>
              <a:t>modeling</a:t>
            </a:r>
            <a:r>
              <a:rPr lang="en-IN" dirty="0"/>
              <a:t>.</a:t>
            </a:r>
          </a:p>
          <a:p>
            <a:pPr lvl="0" algn="just"/>
            <a:r>
              <a:rPr lang="en-IN" dirty="0"/>
              <a:t>Key skills include technical proficiency, analytical thinking, communication, and collaboration.</a:t>
            </a:r>
          </a:p>
          <a:p>
            <a:pPr algn="just"/>
            <a:endParaRPr lang="en-IN" dirty="0"/>
          </a:p>
        </p:txBody>
      </p:sp>
    </p:spTree>
    <p:extLst>
      <p:ext uri="{BB962C8B-B14F-4D97-AF65-F5344CB8AC3E}">
        <p14:creationId xmlns:p14="http://schemas.microsoft.com/office/powerpoint/2010/main" val="2819560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91020"/>
          </a:xfrm>
        </p:spPr>
        <p:txBody>
          <a:bodyPr/>
          <a:lstStyle/>
          <a:p>
            <a:r>
              <a:rPr lang="en-US" b="1" dirty="0" smtClean="0">
                <a:solidFill>
                  <a:srgbClr val="FF0000"/>
                </a:solidFill>
              </a:rPr>
              <a:t>Core Responsibilities of Data Analyst</a:t>
            </a:r>
            <a:endParaRPr lang="en-IN" b="1" dirty="0">
              <a:solidFill>
                <a:srgbClr val="FF0000"/>
              </a:solidFill>
            </a:endParaRPr>
          </a:p>
        </p:txBody>
      </p:sp>
      <p:sp>
        <p:nvSpPr>
          <p:cNvPr id="3" name="Content Placeholder 2"/>
          <p:cNvSpPr>
            <a:spLocks noGrp="1"/>
          </p:cNvSpPr>
          <p:nvPr>
            <p:ph idx="1"/>
          </p:nvPr>
        </p:nvSpPr>
        <p:spPr>
          <a:xfrm>
            <a:off x="838200" y="1326860"/>
            <a:ext cx="10515600" cy="5175539"/>
          </a:xfrm>
        </p:spPr>
        <p:txBody>
          <a:bodyPr>
            <a:normAutofit fontScale="92500" lnSpcReduction="20000"/>
          </a:bodyPr>
          <a:lstStyle/>
          <a:p>
            <a:pPr algn="just"/>
            <a:r>
              <a:rPr lang="en-IN" dirty="0">
                <a:solidFill>
                  <a:srgbClr val="FF0000"/>
                </a:solidFill>
              </a:rPr>
              <a:t>Data Collection and Analysis</a:t>
            </a:r>
            <a:endParaRPr lang="en-IN" b="1" dirty="0">
              <a:solidFill>
                <a:srgbClr val="FF0000"/>
              </a:solidFill>
            </a:endParaRPr>
          </a:p>
          <a:p>
            <a:pPr algn="just"/>
            <a:r>
              <a:rPr lang="en-IN" dirty="0"/>
              <a:t>At the heart of a data analyst's duties is data collection and examination. This involves gathering relevant information from multiple sources, structuring it in a way that allows for effective analysis, and then scrutinizing it to derive meaningful insights.</a:t>
            </a:r>
          </a:p>
          <a:p>
            <a:pPr algn="just"/>
            <a:r>
              <a:rPr lang="en-IN" dirty="0"/>
              <a:t>Depending on the nature of the data and the objectives of the analysis, this process may demand a range of techniques, from simple queries to complex statistical methods.</a:t>
            </a:r>
          </a:p>
          <a:p>
            <a:pPr algn="just"/>
            <a:r>
              <a:rPr lang="en-IN" dirty="0">
                <a:solidFill>
                  <a:srgbClr val="FF0000"/>
                </a:solidFill>
              </a:rPr>
              <a:t>Database Management and Maintenance</a:t>
            </a:r>
            <a:endParaRPr lang="en-IN" b="1" dirty="0">
              <a:solidFill>
                <a:srgbClr val="FF0000"/>
              </a:solidFill>
            </a:endParaRPr>
          </a:p>
          <a:p>
            <a:pPr algn="just"/>
            <a:r>
              <a:rPr lang="en-IN" dirty="0"/>
              <a:t>Maintaining and managing databases is another essential duty of a data analyst. They create and manage databases to store and organize data effectively.</a:t>
            </a:r>
          </a:p>
          <a:p>
            <a:pPr algn="just"/>
            <a:r>
              <a:rPr lang="en-IN" dirty="0"/>
              <a:t>Additionally, they are responsible for ensuring data integrity, troubleshooting any issues, and implementing necessary updates or modifications to optimize database performance.</a:t>
            </a:r>
          </a:p>
          <a:p>
            <a:pPr algn="just"/>
            <a:endParaRPr lang="en-IN" dirty="0"/>
          </a:p>
        </p:txBody>
      </p:sp>
    </p:spTree>
    <p:extLst>
      <p:ext uri="{BB962C8B-B14F-4D97-AF65-F5344CB8AC3E}">
        <p14:creationId xmlns:p14="http://schemas.microsoft.com/office/powerpoint/2010/main" val="30602671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7130"/>
          </a:xfrm>
        </p:spPr>
        <p:txBody>
          <a:bodyPr/>
          <a:lstStyle/>
          <a:p>
            <a:r>
              <a:rPr lang="en-US" b="1" dirty="0" smtClean="0">
                <a:solidFill>
                  <a:srgbClr val="FF0000"/>
                </a:solidFill>
              </a:rPr>
              <a:t>Core Responsibilities of Data Analyst</a:t>
            </a:r>
            <a:endParaRPr lang="en-IN" b="1" dirty="0">
              <a:solidFill>
                <a:srgbClr val="FF0000"/>
              </a:solidFill>
            </a:endParaRPr>
          </a:p>
        </p:txBody>
      </p:sp>
      <p:sp>
        <p:nvSpPr>
          <p:cNvPr id="3" name="Content Placeholder 2"/>
          <p:cNvSpPr>
            <a:spLocks noGrp="1"/>
          </p:cNvSpPr>
          <p:nvPr>
            <p:ph idx="1"/>
          </p:nvPr>
        </p:nvSpPr>
        <p:spPr>
          <a:xfrm>
            <a:off x="838200" y="1089891"/>
            <a:ext cx="10515600" cy="5087072"/>
          </a:xfrm>
        </p:spPr>
        <p:txBody>
          <a:bodyPr>
            <a:normAutofit fontScale="92500" lnSpcReduction="20000"/>
          </a:bodyPr>
          <a:lstStyle/>
          <a:p>
            <a:pPr algn="just"/>
            <a:r>
              <a:rPr lang="en-IN" dirty="0">
                <a:solidFill>
                  <a:srgbClr val="FF0000"/>
                </a:solidFill>
              </a:rPr>
              <a:t>Generating Reports and Presenting Findings</a:t>
            </a:r>
            <a:endParaRPr lang="en-IN" b="1" dirty="0">
              <a:solidFill>
                <a:srgbClr val="FF0000"/>
              </a:solidFill>
            </a:endParaRPr>
          </a:p>
          <a:p>
            <a:pPr algn="just"/>
            <a:r>
              <a:rPr lang="en-IN" dirty="0"/>
              <a:t>Turning data into actionable insights is a critical role for data analysts. After </a:t>
            </a:r>
            <a:r>
              <a:rPr lang="en-IN" dirty="0" err="1"/>
              <a:t>analyzing</a:t>
            </a:r>
            <a:r>
              <a:rPr lang="en-IN" dirty="0"/>
              <a:t> data, they generate comprehensive reports highlighting key findings and trends.</a:t>
            </a:r>
          </a:p>
          <a:p>
            <a:pPr algn="just"/>
            <a:r>
              <a:rPr lang="en-IN" dirty="0"/>
              <a:t>However, compiling and presenting these insights in a way that's understandable and valuable to </a:t>
            </a:r>
            <a:r>
              <a:rPr lang="en-IN" u="sng" dirty="0">
                <a:hlinkClick r:id="rId2"/>
              </a:rPr>
              <a:t>management and other stakeholders</a:t>
            </a:r>
            <a:r>
              <a:rPr lang="en-IN" dirty="0"/>
              <a:t> is an art in itself. A successful data analyst is able not only to produce quality analysis but also to communicate its implications effectively to aid decision-making.</a:t>
            </a:r>
          </a:p>
          <a:p>
            <a:pPr algn="just"/>
            <a:r>
              <a:rPr lang="en-IN" dirty="0">
                <a:solidFill>
                  <a:srgbClr val="FF0000"/>
                </a:solidFill>
              </a:rPr>
              <a:t>Specialized Roles and Tasks</a:t>
            </a:r>
            <a:endParaRPr lang="en-IN" b="1" dirty="0">
              <a:solidFill>
                <a:srgbClr val="FF0000"/>
              </a:solidFill>
            </a:endParaRPr>
          </a:p>
          <a:p>
            <a:pPr algn="just"/>
            <a:r>
              <a:rPr lang="en-IN" dirty="0"/>
              <a:t>Certain data analyst positions may involve specialized tasks. As businesses evolve and data analysis becomes more integrated into decision-making processes, data analysts are increasingly required to wear multiple hats and </a:t>
            </a:r>
            <a:r>
              <a:rPr lang="en-IN" dirty="0" smtClean="0"/>
              <a:t>delve(search for something) </a:t>
            </a:r>
            <a:r>
              <a:rPr lang="en-IN" dirty="0"/>
              <a:t>into specialized </a:t>
            </a:r>
            <a:r>
              <a:rPr lang="en-IN" dirty="0" smtClean="0"/>
              <a:t>realms(an area of activity).</a:t>
            </a:r>
            <a:endParaRPr lang="en-IN" dirty="0"/>
          </a:p>
        </p:txBody>
      </p:sp>
    </p:spTree>
    <p:extLst>
      <p:ext uri="{BB962C8B-B14F-4D97-AF65-F5344CB8AC3E}">
        <p14:creationId xmlns:p14="http://schemas.microsoft.com/office/powerpoint/2010/main" val="28575696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0948"/>
          </a:xfrm>
        </p:spPr>
        <p:txBody>
          <a:bodyPr/>
          <a:lstStyle/>
          <a:p>
            <a:r>
              <a:rPr lang="en-US" b="1" dirty="0" smtClean="0">
                <a:solidFill>
                  <a:srgbClr val="FF0000"/>
                </a:solidFill>
              </a:rPr>
              <a:t>Core Responsibilities of Data Analyst</a:t>
            </a:r>
            <a:endParaRPr lang="en-IN" b="1" dirty="0">
              <a:solidFill>
                <a:srgbClr val="FF0000"/>
              </a:solidFill>
            </a:endParaRPr>
          </a:p>
        </p:txBody>
      </p:sp>
      <p:sp>
        <p:nvSpPr>
          <p:cNvPr id="3" name="Content Placeholder 2"/>
          <p:cNvSpPr>
            <a:spLocks noGrp="1"/>
          </p:cNvSpPr>
          <p:nvPr>
            <p:ph idx="1"/>
          </p:nvPr>
        </p:nvSpPr>
        <p:spPr>
          <a:xfrm>
            <a:off x="838200" y="1373043"/>
            <a:ext cx="10515600" cy="5267902"/>
          </a:xfrm>
        </p:spPr>
        <p:txBody>
          <a:bodyPr/>
          <a:lstStyle/>
          <a:p>
            <a:pPr algn="just"/>
            <a:r>
              <a:rPr lang="en-IN" dirty="0">
                <a:solidFill>
                  <a:srgbClr val="FF0000"/>
                </a:solidFill>
              </a:rPr>
              <a:t>Data Visualization and Dashboard Creation</a:t>
            </a:r>
            <a:endParaRPr lang="en-IN" b="1" dirty="0">
              <a:solidFill>
                <a:srgbClr val="FF0000"/>
              </a:solidFill>
            </a:endParaRPr>
          </a:p>
          <a:p>
            <a:pPr algn="just"/>
            <a:r>
              <a:rPr lang="en-IN" u="sng" dirty="0">
                <a:hlinkClick r:id="rId2"/>
              </a:rPr>
              <a:t>Data-driven decisions</a:t>
            </a:r>
            <a:r>
              <a:rPr lang="en-IN" dirty="0"/>
              <a:t> are vital to the success of a business, and the ability to visualize data and create dashboards is becoming a definitive skill for data analysts.</a:t>
            </a:r>
          </a:p>
          <a:p>
            <a:pPr algn="just"/>
            <a:r>
              <a:rPr lang="en-IN" dirty="0"/>
              <a:t>These tasks go beyond presenting data in charts or tables. They involve creating a visual narrative that conveys complex insights in a simplified, easily digestible manner.</a:t>
            </a:r>
          </a:p>
          <a:p>
            <a:pPr algn="just"/>
            <a:r>
              <a:rPr lang="en-IN" dirty="0"/>
              <a:t>This can be achieved through various tools and software that allow an analyst to build interactive dashboards, maps, and other graphical representations, allowing the data to 'tell the story' itself.</a:t>
            </a:r>
          </a:p>
          <a:p>
            <a:pPr algn="just"/>
            <a:endParaRPr lang="en-IN" dirty="0"/>
          </a:p>
        </p:txBody>
      </p:sp>
    </p:spTree>
    <p:extLst>
      <p:ext uri="{BB962C8B-B14F-4D97-AF65-F5344CB8AC3E}">
        <p14:creationId xmlns:p14="http://schemas.microsoft.com/office/powerpoint/2010/main" val="35818115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895927" y="406400"/>
            <a:ext cx="10123055" cy="6012873"/>
          </a:xfrm>
          <a:prstGeom prst="rect">
            <a:avLst/>
          </a:prstGeom>
        </p:spPr>
      </p:pic>
    </p:spTree>
    <p:extLst>
      <p:ext uri="{BB962C8B-B14F-4D97-AF65-F5344CB8AC3E}">
        <p14:creationId xmlns:p14="http://schemas.microsoft.com/office/powerpoint/2010/main" val="42487590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36073" y="581891"/>
            <a:ext cx="10215418" cy="5698836"/>
          </a:xfrm>
          <a:prstGeom prst="rect">
            <a:avLst/>
          </a:prstGeom>
        </p:spPr>
      </p:pic>
    </p:spTree>
    <p:extLst>
      <p:ext uri="{BB962C8B-B14F-4D97-AF65-F5344CB8AC3E}">
        <p14:creationId xmlns:p14="http://schemas.microsoft.com/office/powerpoint/2010/main" val="17999260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14400" y="406399"/>
            <a:ext cx="10714182" cy="6132945"/>
          </a:xfrm>
          <a:prstGeom prst="rect">
            <a:avLst/>
          </a:prstGeom>
        </p:spPr>
      </p:pic>
    </p:spTree>
    <p:extLst>
      <p:ext uri="{BB962C8B-B14F-4D97-AF65-F5344CB8AC3E}">
        <p14:creationId xmlns:p14="http://schemas.microsoft.com/office/powerpoint/2010/main" val="4583564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3492" y="683491"/>
            <a:ext cx="10649526" cy="5735781"/>
          </a:xfrm>
          <a:prstGeom prst="rect">
            <a:avLst/>
          </a:prstGeom>
        </p:spPr>
      </p:pic>
    </p:spTree>
    <p:extLst>
      <p:ext uri="{BB962C8B-B14F-4D97-AF65-F5344CB8AC3E}">
        <p14:creationId xmlns:p14="http://schemas.microsoft.com/office/powerpoint/2010/main" val="31183064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5018" y="406400"/>
            <a:ext cx="10778837" cy="5902036"/>
          </a:xfrm>
          <a:prstGeom prst="rect">
            <a:avLst/>
          </a:prstGeom>
        </p:spPr>
      </p:pic>
    </p:spTree>
    <p:extLst>
      <p:ext uri="{BB962C8B-B14F-4D97-AF65-F5344CB8AC3E}">
        <p14:creationId xmlns:p14="http://schemas.microsoft.com/office/powerpoint/2010/main" val="9133033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92727" y="471055"/>
            <a:ext cx="10972800" cy="6022109"/>
          </a:xfrm>
          <a:prstGeom prst="rect">
            <a:avLst/>
          </a:prstGeom>
        </p:spPr>
      </p:pic>
    </p:spTree>
    <p:extLst>
      <p:ext uri="{BB962C8B-B14F-4D97-AF65-F5344CB8AC3E}">
        <p14:creationId xmlns:p14="http://schemas.microsoft.com/office/powerpoint/2010/main" val="42648821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0436" y="554183"/>
            <a:ext cx="10677237" cy="5781962"/>
          </a:xfrm>
          <a:prstGeom prst="rect">
            <a:avLst/>
          </a:prstGeom>
        </p:spPr>
      </p:pic>
    </p:spTree>
    <p:extLst>
      <p:ext uri="{BB962C8B-B14F-4D97-AF65-F5344CB8AC3E}">
        <p14:creationId xmlns:p14="http://schemas.microsoft.com/office/powerpoint/2010/main" val="19566468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01963" y="609600"/>
            <a:ext cx="10898909" cy="5920509"/>
          </a:xfrm>
          <a:prstGeom prst="rect">
            <a:avLst/>
          </a:prstGeom>
        </p:spPr>
      </p:pic>
    </p:spTree>
    <p:extLst>
      <p:ext uri="{BB962C8B-B14F-4D97-AF65-F5344CB8AC3E}">
        <p14:creationId xmlns:p14="http://schemas.microsoft.com/office/powerpoint/2010/main" val="16860851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11200" y="498764"/>
            <a:ext cx="10603345" cy="6059053"/>
          </a:xfrm>
          <a:prstGeom prst="rect">
            <a:avLst/>
          </a:prstGeom>
        </p:spPr>
      </p:pic>
    </p:spTree>
    <p:extLst>
      <p:ext uri="{BB962C8B-B14F-4D97-AF65-F5344CB8AC3E}">
        <p14:creationId xmlns:p14="http://schemas.microsoft.com/office/powerpoint/2010/main" val="26046703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74255" y="461818"/>
            <a:ext cx="10880436" cy="6179127"/>
          </a:xfrm>
          <a:prstGeom prst="rect">
            <a:avLst/>
          </a:prstGeom>
        </p:spPr>
      </p:pic>
    </p:spTree>
    <p:extLst>
      <p:ext uri="{BB962C8B-B14F-4D97-AF65-F5344CB8AC3E}">
        <p14:creationId xmlns:p14="http://schemas.microsoft.com/office/powerpoint/2010/main" val="32526244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3492" y="563418"/>
            <a:ext cx="10751126" cy="5975927"/>
          </a:xfrm>
          <a:prstGeom prst="rect">
            <a:avLst/>
          </a:prstGeom>
        </p:spPr>
      </p:pic>
    </p:spTree>
    <p:extLst>
      <p:ext uri="{BB962C8B-B14F-4D97-AF65-F5344CB8AC3E}">
        <p14:creationId xmlns:p14="http://schemas.microsoft.com/office/powerpoint/2010/main" val="25420703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86691" y="591127"/>
            <a:ext cx="10566400" cy="5929745"/>
          </a:xfrm>
          <a:prstGeom prst="rect">
            <a:avLst/>
          </a:prstGeom>
        </p:spPr>
      </p:pic>
    </p:spTree>
    <p:extLst>
      <p:ext uri="{BB962C8B-B14F-4D97-AF65-F5344CB8AC3E}">
        <p14:creationId xmlns:p14="http://schemas.microsoft.com/office/powerpoint/2010/main" val="9345978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63417" y="674255"/>
            <a:ext cx="10898909" cy="5938981"/>
          </a:xfrm>
          <a:prstGeom prst="rect">
            <a:avLst/>
          </a:prstGeom>
        </p:spPr>
      </p:pic>
    </p:spTree>
    <p:extLst>
      <p:ext uri="{BB962C8B-B14F-4D97-AF65-F5344CB8AC3E}">
        <p14:creationId xmlns:p14="http://schemas.microsoft.com/office/powerpoint/2010/main" val="18239241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7382" y="600364"/>
            <a:ext cx="10843491" cy="6105235"/>
          </a:xfrm>
          <a:prstGeom prst="rect">
            <a:avLst/>
          </a:prstGeom>
        </p:spPr>
      </p:pic>
    </p:spTree>
    <p:extLst>
      <p:ext uri="{BB962C8B-B14F-4D97-AF65-F5344CB8AC3E}">
        <p14:creationId xmlns:p14="http://schemas.microsoft.com/office/powerpoint/2010/main" val="39119605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89527" y="498764"/>
            <a:ext cx="11212946" cy="6077527"/>
          </a:xfrm>
          <a:prstGeom prst="rect">
            <a:avLst/>
          </a:prstGeom>
        </p:spPr>
      </p:pic>
    </p:spTree>
    <p:extLst>
      <p:ext uri="{BB962C8B-B14F-4D97-AF65-F5344CB8AC3E}">
        <p14:creationId xmlns:p14="http://schemas.microsoft.com/office/powerpoint/2010/main" val="4290369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9600" y="415636"/>
            <a:ext cx="11037455" cy="6253019"/>
          </a:xfrm>
          <a:prstGeom prst="rect">
            <a:avLst/>
          </a:prstGeom>
        </p:spPr>
      </p:pic>
    </p:spTree>
    <p:extLst>
      <p:ext uri="{BB962C8B-B14F-4D97-AF65-F5344CB8AC3E}">
        <p14:creationId xmlns:p14="http://schemas.microsoft.com/office/powerpoint/2010/main" val="113228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31273" y="424873"/>
            <a:ext cx="10547927" cy="5948217"/>
          </a:xfrm>
          <a:prstGeom prst="rect">
            <a:avLst/>
          </a:prstGeom>
        </p:spPr>
      </p:pic>
    </p:spTree>
    <p:extLst>
      <p:ext uri="{BB962C8B-B14F-4D97-AF65-F5344CB8AC3E}">
        <p14:creationId xmlns:p14="http://schemas.microsoft.com/office/powerpoint/2010/main" val="38128771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46545" y="406399"/>
            <a:ext cx="10898910" cy="6336145"/>
          </a:xfrm>
          <a:prstGeom prst="rect">
            <a:avLst/>
          </a:prstGeom>
        </p:spPr>
      </p:pic>
    </p:spTree>
    <p:extLst>
      <p:ext uri="{BB962C8B-B14F-4D97-AF65-F5344CB8AC3E}">
        <p14:creationId xmlns:p14="http://schemas.microsoft.com/office/powerpoint/2010/main" val="36567997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2656" y="360218"/>
            <a:ext cx="11111344" cy="6105237"/>
          </a:xfrm>
          <a:prstGeom prst="rect">
            <a:avLst/>
          </a:prstGeom>
        </p:spPr>
      </p:pic>
    </p:spTree>
    <p:extLst>
      <p:ext uri="{BB962C8B-B14F-4D97-AF65-F5344CB8AC3E}">
        <p14:creationId xmlns:p14="http://schemas.microsoft.com/office/powerpoint/2010/main" val="5786270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34109" y="387926"/>
            <a:ext cx="11212946" cy="6262255"/>
          </a:xfrm>
          <a:prstGeom prst="rect">
            <a:avLst/>
          </a:prstGeom>
        </p:spPr>
      </p:pic>
    </p:spTree>
    <p:extLst>
      <p:ext uri="{BB962C8B-B14F-4D97-AF65-F5344CB8AC3E}">
        <p14:creationId xmlns:p14="http://schemas.microsoft.com/office/powerpoint/2010/main" val="36162962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17236" y="572654"/>
            <a:ext cx="11305309" cy="6040581"/>
          </a:xfrm>
          <a:prstGeom prst="rect">
            <a:avLst/>
          </a:prstGeom>
        </p:spPr>
      </p:pic>
    </p:spTree>
    <p:extLst>
      <p:ext uri="{BB962C8B-B14F-4D97-AF65-F5344CB8AC3E}">
        <p14:creationId xmlns:p14="http://schemas.microsoft.com/office/powerpoint/2010/main" val="37559180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98764" y="424874"/>
            <a:ext cx="11286836" cy="6271490"/>
          </a:xfrm>
          <a:prstGeom prst="rect">
            <a:avLst/>
          </a:prstGeom>
        </p:spPr>
      </p:pic>
    </p:spTree>
    <p:extLst>
      <p:ext uri="{BB962C8B-B14F-4D97-AF65-F5344CB8AC3E}">
        <p14:creationId xmlns:p14="http://schemas.microsoft.com/office/powerpoint/2010/main" val="2477113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4874" y="332509"/>
            <a:ext cx="11471562" cy="6253018"/>
          </a:xfrm>
          <a:prstGeom prst="rect">
            <a:avLst/>
          </a:prstGeom>
        </p:spPr>
      </p:pic>
    </p:spTree>
    <p:extLst>
      <p:ext uri="{BB962C8B-B14F-4D97-AF65-F5344CB8AC3E}">
        <p14:creationId xmlns:p14="http://schemas.microsoft.com/office/powerpoint/2010/main" val="9757625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4693"/>
          </a:xfrm>
        </p:spPr>
        <p:txBody>
          <a:bodyPr>
            <a:normAutofit fontScale="90000"/>
          </a:bodyPr>
          <a:lstStyle/>
          <a:p>
            <a:r>
              <a:rPr lang="en-IN" dirty="0" smtClean="0">
                <a:solidFill>
                  <a:srgbClr val="FF0000"/>
                </a:solidFill>
              </a:rPr>
              <a:t/>
            </a:r>
            <a:br>
              <a:rPr lang="en-IN" dirty="0" smtClean="0">
                <a:solidFill>
                  <a:srgbClr val="FF0000"/>
                </a:solidFill>
              </a:rPr>
            </a:br>
            <a:r>
              <a:rPr lang="en-IN" dirty="0" smtClean="0">
                <a:solidFill>
                  <a:srgbClr val="FF0000"/>
                </a:solidFill>
              </a:rPr>
              <a:t>Roles </a:t>
            </a:r>
            <a:r>
              <a:rPr lang="en-IN" dirty="0">
                <a:solidFill>
                  <a:srgbClr val="FF0000"/>
                </a:solidFill>
              </a:rPr>
              <a:t>and Responsibilities</a:t>
            </a:r>
            <a:br>
              <a:rPr lang="en-IN"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209964"/>
            <a:ext cx="10515600" cy="4966999"/>
          </a:xfrm>
        </p:spPr>
        <p:txBody>
          <a:bodyPr>
            <a:normAutofit fontScale="70000" lnSpcReduction="20000"/>
          </a:bodyPr>
          <a:lstStyle/>
          <a:p>
            <a:r>
              <a:rPr lang="en-US" dirty="0"/>
              <a:t>Use data analysis tools for data extraction from various data sources.</a:t>
            </a:r>
          </a:p>
          <a:p>
            <a:r>
              <a:rPr lang="en-US" dirty="0"/>
              <a:t>Remove wrong or corrupt data.</a:t>
            </a:r>
          </a:p>
          <a:p>
            <a:r>
              <a:rPr lang="en-US" dirty="0"/>
              <a:t>Perform quality analysis tests on data.</a:t>
            </a:r>
          </a:p>
          <a:p>
            <a:r>
              <a:rPr lang="en-US" dirty="0"/>
              <a:t>Manage and develop databases.</a:t>
            </a:r>
          </a:p>
          <a:p>
            <a:r>
              <a:rPr lang="en-US" dirty="0"/>
              <a:t>Create database processes and systems to manage data.</a:t>
            </a:r>
          </a:p>
          <a:p>
            <a:r>
              <a:rPr lang="en-US" dirty="0"/>
              <a:t>Filter existing data based on the requirements of various stakeholders.</a:t>
            </a:r>
          </a:p>
          <a:p>
            <a:r>
              <a:rPr lang="en-US" dirty="0"/>
              <a:t>Use statistical tools and data analysis to predict market trends and share actionable insights.</a:t>
            </a:r>
          </a:p>
          <a:p>
            <a:r>
              <a:rPr lang="en-US" dirty="0"/>
              <a:t>Prepare detailed reports based on </a:t>
            </a:r>
            <a:r>
              <a:rPr lang="en-US" dirty="0" err="1"/>
              <a:t>analysed</a:t>
            </a:r>
            <a:r>
              <a:rPr lang="en-US" dirty="0"/>
              <a:t> data to forecast predictions and trends.</a:t>
            </a:r>
          </a:p>
          <a:p>
            <a:r>
              <a:rPr lang="en-US" dirty="0"/>
              <a:t>Work with various members of the team to stay updated on data management systems and processes. This includes the technical, operations, product and engineering teams.</a:t>
            </a:r>
          </a:p>
          <a:p>
            <a:r>
              <a:rPr lang="en-US" dirty="0"/>
              <a:t>Manage Exploratory Data Analysis projects and identify patterns.</a:t>
            </a:r>
          </a:p>
          <a:p>
            <a:r>
              <a:rPr lang="en-US" dirty="0"/>
              <a:t>Understand MS Excel thoroughly along with Macros and VBA.</a:t>
            </a:r>
          </a:p>
          <a:p>
            <a:r>
              <a:rPr lang="en-US" dirty="0"/>
              <a:t>Be proficient in statistical tools such as SAS and SPSS along with various other tools depending on project needs.</a:t>
            </a:r>
          </a:p>
          <a:p>
            <a:endParaRPr lang="en-IN" dirty="0"/>
          </a:p>
        </p:txBody>
      </p:sp>
    </p:spTree>
    <p:extLst>
      <p:ext uri="{BB962C8B-B14F-4D97-AF65-F5344CB8AC3E}">
        <p14:creationId xmlns:p14="http://schemas.microsoft.com/office/powerpoint/2010/main" val="29505726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0948"/>
          </a:xfrm>
        </p:spPr>
        <p:txBody>
          <a:bodyPr/>
          <a:lstStyle/>
          <a:p>
            <a:r>
              <a:rPr lang="en-US" dirty="0" smtClean="0">
                <a:solidFill>
                  <a:srgbClr val="FF0000"/>
                </a:solidFill>
              </a:rPr>
              <a:t>Roles and Responsibilities of Data Analyst</a:t>
            </a:r>
            <a:endParaRPr lang="en-IN" dirty="0">
              <a:solidFill>
                <a:srgbClr val="FF0000"/>
              </a:solidFill>
            </a:endParaRPr>
          </a:p>
        </p:txBody>
      </p:sp>
      <p:sp>
        <p:nvSpPr>
          <p:cNvPr id="3" name="Content Placeholder 2"/>
          <p:cNvSpPr>
            <a:spLocks noGrp="1"/>
          </p:cNvSpPr>
          <p:nvPr>
            <p:ph idx="1"/>
          </p:nvPr>
        </p:nvSpPr>
        <p:spPr>
          <a:xfrm>
            <a:off x="838199" y="1136074"/>
            <a:ext cx="10975109" cy="5523344"/>
          </a:xfrm>
        </p:spPr>
        <p:txBody>
          <a:bodyPr>
            <a:normAutofit fontScale="70000" lnSpcReduction="20000"/>
          </a:bodyPr>
          <a:lstStyle/>
          <a:p>
            <a:r>
              <a:rPr lang="en-US" dirty="0"/>
              <a:t>Gather data from primary and secondary sources, ensuring the upkeep of databases and data systems.</a:t>
            </a:r>
          </a:p>
          <a:p>
            <a:r>
              <a:rPr lang="en-US" dirty="0"/>
              <a:t>Detect, examine, and decode trends or patterns within intricate datasets.</a:t>
            </a:r>
          </a:p>
          <a:p>
            <a:r>
              <a:rPr lang="en-US" dirty="0"/>
              <a:t>Cleanse data and scrutinize computer-generated reports and outputs to identify and rectify coding errors.</a:t>
            </a:r>
          </a:p>
          <a:p>
            <a:r>
              <a:rPr lang="en-US" dirty="0"/>
              <a:t>Coordinate with management to align business and informational priorities.</a:t>
            </a:r>
          </a:p>
          <a:p>
            <a:r>
              <a:rPr lang="en-US" dirty="0"/>
              <a:t>Identify opportunities for process enhancements.</a:t>
            </a:r>
          </a:p>
          <a:p>
            <a:r>
              <a:rPr lang="en-US" dirty="0"/>
              <a:t>Employ statistical techniques to scrutinize data and produce actionable business insights.</a:t>
            </a:r>
          </a:p>
          <a:p>
            <a:r>
              <a:rPr lang="en-US" dirty="0"/>
              <a:t>Collaborate with the management team to determine and rank the needs of different business units.</a:t>
            </a:r>
          </a:p>
          <a:p>
            <a:r>
              <a:rPr lang="en-US" dirty="0"/>
              <a:t>Develop data dashboards, charts, and visual aids to support decision-making across departments.</a:t>
            </a:r>
          </a:p>
          <a:p>
            <a:r>
              <a:rPr lang="en-US" dirty="0"/>
              <a:t>Convey insights through both reports and visual presentations.</a:t>
            </a:r>
          </a:p>
          <a:p>
            <a:r>
              <a:rPr lang="en-US" dirty="0"/>
              <a:t>Partner with engineering and product development teams to understand business requirements.</a:t>
            </a:r>
          </a:p>
          <a:p>
            <a:r>
              <a:rPr lang="en-US" dirty="0"/>
              <a:t>Engage with managers from various departments to specify data requirements for analysis projects tailored to their unique business processes</a:t>
            </a:r>
            <a:r>
              <a:rPr lang="en-US" dirty="0" smtClean="0"/>
              <a:t>.</a:t>
            </a:r>
          </a:p>
          <a:p>
            <a:r>
              <a:rPr lang="en-US" dirty="0"/>
              <a:t>Partner with engineering and product development teams to understand business requirements.</a:t>
            </a:r>
          </a:p>
          <a:p>
            <a:r>
              <a:rPr lang="en-US" dirty="0"/>
              <a:t>Engage with managers from various departments to specify data requirements for analysis projects tailored to their unique business processes.</a:t>
            </a:r>
          </a:p>
          <a:p>
            <a:endParaRPr lang="en-US" dirty="0"/>
          </a:p>
          <a:p>
            <a:endParaRPr lang="en-IN" dirty="0"/>
          </a:p>
        </p:txBody>
      </p:sp>
    </p:spTree>
    <p:extLst>
      <p:ext uri="{BB962C8B-B14F-4D97-AF65-F5344CB8AC3E}">
        <p14:creationId xmlns:p14="http://schemas.microsoft.com/office/powerpoint/2010/main" val="38118927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0875"/>
          </a:xfrm>
        </p:spPr>
        <p:txBody>
          <a:bodyPr>
            <a:normAutofit fontScale="90000"/>
          </a:bodyPr>
          <a:lstStyle/>
          <a:p>
            <a:r>
              <a:rPr lang="en-IN" dirty="0" smtClean="0">
                <a:solidFill>
                  <a:srgbClr val="FF0000"/>
                </a:solidFill>
              </a:rPr>
              <a:t/>
            </a:r>
            <a:br>
              <a:rPr lang="en-IN" dirty="0" smtClean="0">
                <a:solidFill>
                  <a:srgbClr val="FF0000"/>
                </a:solidFill>
              </a:rPr>
            </a:br>
            <a:r>
              <a:rPr lang="en-IN" dirty="0" smtClean="0">
                <a:solidFill>
                  <a:srgbClr val="FF0000"/>
                </a:solidFill>
              </a:rPr>
              <a:t>Skills </a:t>
            </a:r>
            <a:r>
              <a:rPr lang="en-IN" dirty="0">
                <a:solidFill>
                  <a:srgbClr val="FF0000"/>
                </a:solidFill>
              </a:rPr>
              <a:t>and Qualifications</a:t>
            </a:r>
            <a:br>
              <a:rPr lang="en-IN"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080655"/>
            <a:ext cx="10515600" cy="5096308"/>
          </a:xfrm>
        </p:spPr>
        <p:txBody>
          <a:bodyPr>
            <a:normAutofit fontScale="85000" lnSpcReduction="10000"/>
          </a:bodyPr>
          <a:lstStyle/>
          <a:p>
            <a:r>
              <a:rPr lang="en-US" dirty="0"/>
              <a:t>Possess a solid foundation in statistics and practical experience with statistical software (such as Excel, SPSS, SAS) and mastery in data analysis languages including SQL, Python, and R.</a:t>
            </a:r>
          </a:p>
          <a:p>
            <a:r>
              <a:rPr lang="en-US" dirty="0"/>
              <a:t>Exhibit exceptional analytical abilities to compile, structure, examine, and present substantial data sets with precision and thoroughness. </a:t>
            </a:r>
          </a:p>
          <a:p>
            <a:r>
              <a:rPr lang="en-US" dirty="0"/>
              <a:t>Capable of critically evaluating data to derive meaningful, actionable insights.</a:t>
            </a:r>
          </a:p>
          <a:p>
            <a:r>
              <a:rPr lang="en-US" dirty="0"/>
              <a:t>Demonstrate superior communication and presentation capabilities, adept at simplifying complex data insights for audiences without a technical background.</a:t>
            </a:r>
          </a:p>
          <a:p>
            <a:r>
              <a:rPr lang="en-US" dirty="0"/>
              <a:t>A bachelor's degree in Computer Science, Information Management, Statistics, or a comparable discipline is required, with prior experience in data analysis or a related field being advantageous</a:t>
            </a:r>
            <a:r>
              <a:rPr lang="en-US" dirty="0" smtClean="0"/>
              <a:t>.</a:t>
            </a:r>
          </a:p>
          <a:p>
            <a:r>
              <a:rPr lang="en-US" dirty="0"/>
              <a:t>Adept at report writing and presenting findings.</a:t>
            </a:r>
          </a:p>
          <a:p>
            <a:r>
              <a:rPr lang="en-US" dirty="0"/>
              <a:t>Ability to work under pressure and meet tight deadlines.</a:t>
            </a:r>
          </a:p>
          <a:p>
            <a:r>
              <a:rPr lang="en-US" dirty="0"/>
              <a:t>A deep understanding of the industry and business operations is a plus.</a:t>
            </a:r>
          </a:p>
          <a:p>
            <a:endParaRPr lang="en-US" dirty="0"/>
          </a:p>
          <a:p>
            <a:endParaRPr lang="en-IN" dirty="0"/>
          </a:p>
        </p:txBody>
      </p:sp>
    </p:spTree>
    <p:extLst>
      <p:ext uri="{BB962C8B-B14F-4D97-AF65-F5344CB8AC3E}">
        <p14:creationId xmlns:p14="http://schemas.microsoft.com/office/powerpoint/2010/main" val="8540260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1639"/>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Key </a:t>
            </a:r>
            <a:r>
              <a:rPr lang="en-US" b="1" dirty="0">
                <a:solidFill>
                  <a:srgbClr val="FF0000"/>
                </a:solidFill>
              </a:rPr>
              <a:t>Skills a Data Analyst Should Have:</a:t>
            </a:r>
            <a:r>
              <a:rPr lang="en-US" dirty="0">
                <a:solidFill>
                  <a:srgbClr val="FF0000"/>
                </a:solidFill>
              </a:rPr>
              <a:t/>
            </a:r>
            <a:br>
              <a:rPr lang="en-US"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136073"/>
            <a:ext cx="10515600" cy="5486400"/>
          </a:xfrm>
        </p:spPr>
        <p:txBody>
          <a:bodyPr>
            <a:normAutofit fontScale="70000" lnSpcReduction="20000"/>
          </a:bodyPr>
          <a:lstStyle/>
          <a:p>
            <a:r>
              <a:rPr lang="en-US" dirty="0"/>
              <a:t>Collecting, measuring, </a:t>
            </a:r>
            <a:r>
              <a:rPr lang="en-US" dirty="0" err="1"/>
              <a:t>organising</a:t>
            </a:r>
            <a:r>
              <a:rPr lang="en-US" dirty="0"/>
              <a:t> and </a:t>
            </a:r>
            <a:r>
              <a:rPr lang="en-US" dirty="0" err="1"/>
              <a:t>analysing</a:t>
            </a:r>
            <a:r>
              <a:rPr lang="en-US" dirty="0"/>
              <a:t> data requires strong mathematical skills</a:t>
            </a:r>
          </a:p>
          <a:p>
            <a:r>
              <a:rPr lang="en-US" dirty="0"/>
              <a:t>Understanding of SQL, R, Oracle, Python and other programming languages</a:t>
            </a:r>
          </a:p>
          <a:p>
            <a:r>
              <a:rPr lang="en-US" dirty="0"/>
              <a:t>Technical experience working with data models, database design development, segmentation and data mining techniques</a:t>
            </a:r>
          </a:p>
          <a:p>
            <a:r>
              <a:rPr lang="en-US" dirty="0"/>
              <a:t>Experience with reporting package handling, including databases, business objects and programming (XML, ETL or JavaScript frameworks)</a:t>
            </a:r>
          </a:p>
          <a:p>
            <a:r>
              <a:rPr lang="en-US" dirty="0"/>
              <a:t>In-depth understanding of statistical packages and statistics used to </a:t>
            </a:r>
            <a:r>
              <a:rPr lang="en-US" dirty="0" err="1"/>
              <a:t>analyse</a:t>
            </a:r>
            <a:r>
              <a:rPr lang="en-US" dirty="0"/>
              <a:t> datasets.</a:t>
            </a:r>
          </a:p>
          <a:p>
            <a:r>
              <a:rPr lang="en-US" dirty="0"/>
              <a:t>Fluent with the workings of platforms for data processing, such as Apache Spark and Hadoop</a:t>
            </a:r>
          </a:p>
          <a:p>
            <a:r>
              <a:rPr lang="en-US" dirty="0"/>
              <a:t>Data </a:t>
            </a:r>
            <a:r>
              <a:rPr lang="en-US" dirty="0" err="1"/>
              <a:t>visualisation</a:t>
            </a:r>
            <a:r>
              <a:rPr lang="en-US" dirty="0"/>
              <a:t> software knowledge including </a:t>
            </a:r>
            <a:r>
              <a:rPr lang="en-US" dirty="0" err="1"/>
              <a:t>Qlik</a:t>
            </a:r>
            <a:r>
              <a:rPr lang="en-US" dirty="0"/>
              <a:t> and Tableau</a:t>
            </a:r>
          </a:p>
          <a:p>
            <a:r>
              <a:rPr lang="en-US" dirty="0"/>
              <a:t>Knowing how to apply and create accurate algorithms for datasets to identify solutions</a:t>
            </a:r>
          </a:p>
          <a:p>
            <a:r>
              <a:rPr lang="en-US" dirty="0"/>
              <a:t>Problem-solving capabilities</a:t>
            </a:r>
          </a:p>
          <a:p>
            <a:r>
              <a:rPr lang="en-US" dirty="0"/>
              <a:t>Attention to fine details</a:t>
            </a:r>
          </a:p>
          <a:p>
            <a:r>
              <a:rPr lang="en-US" dirty="0"/>
              <a:t>Solid understanding of report writing, making presentations and querying</a:t>
            </a:r>
          </a:p>
          <a:p>
            <a:r>
              <a:rPr lang="en-US" dirty="0"/>
              <a:t>Ability to work in a team</a:t>
            </a:r>
          </a:p>
          <a:p>
            <a:r>
              <a:rPr lang="en-US" dirty="0"/>
              <a:t>Strong written and verbal communication skills</a:t>
            </a:r>
          </a:p>
          <a:p>
            <a:r>
              <a:rPr lang="en-US" dirty="0"/>
              <a:t>Industry experience specific to data analysis</a:t>
            </a:r>
          </a:p>
          <a:p>
            <a:endParaRPr lang="en-IN" dirty="0"/>
          </a:p>
        </p:txBody>
      </p:sp>
    </p:spTree>
    <p:extLst>
      <p:ext uri="{BB962C8B-B14F-4D97-AF65-F5344CB8AC3E}">
        <p14:creationId xmlns:p14="http://schemas.microsoft.com/office/powerpoint/2010/main" val="16661307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0257"/>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Qualifications </a:t>
            </a:r>
            <a:r>
              <a:rPr lang="en-US" b="1" dirty="0">
                <a:solidFill>
                  <a:srgbClr val="FF0000"/>
                </a:solidFill>
              </a:rPr>
              <a:t>of a Data Analyst:</a:t>
            </a:r>
            <a:r>
              <a:rPr lang="en-US" dirty="0">
                <a:solidFill>
                  <a:srgbClr val="FF0000"/>
                </a:solidFill>
              </a:rPr>
              <a:t/>
            </a:r>
            <a:br>
              <a:rPr lang="en-US"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265382"/>
            <a:ext cx="10515600" cy="4911581"/>
          </a:xfrm>
        </p:spPr>
        <p:txBody>
          <a:bodyPr>
            <a:normAutofit fontScale="92500" lnSpcReduction="20000"/>
          </a:bodyPr>
          <a:lstStyle/>
          <a:p>
            <a:r>
              <a:rPr lang="en-US" dirty="0"/>
              <a:t>To become a successful data analyst, technical experience alone is not enough. Earlier, requirements included an undergraduate degree in an analytical or statistical subject like statistics, mathematics or economics. Even today, students with this background have an edge over the competition. Alternatively, you could also choose a postgraduate degree or a skill-based certification. Skill-based certifications have become immensely popular these days as they cover all data analyst roles and responsibilities. </a:t>
            </a:r>
          </a:p>
          <a:p>
            <a:r>
              <a:rPr lang="en-US" dirty="0"/>
              <a:t>In addition to your technical skills, you also need soft skills like:</a:t>
            </a:r>
          </a:p>
          <a:p>
            <a:r>
              <a:rPr lang="en-US" dirty="0"/>
              <a:t>Critical thinking capabilities</a:t>
            </a:r>
          </a:p>
          <a:p>
            <a:r>
              <a:rPr lang="en-US" dirty="0"/>
              <a:t>Presentation and communication skills</a:t>
            </a:r>
          </a:p>
          <a:p>
            <a:r>
              <a:rPr lang="en-US" dirty="0"/>
              <a:t>Using a logical and systematic approach to solve problems</a:t>
            </a:r>
          </a:p>
          <a:p>
            <a:r>
              <a:rPr lang="en-US" dirty="0"/>
              <a:t>Team skills</a:t>
            </a:r>
          </a:p>
          <a:p>
            <a:r>
              <a:rPr lang="en-US" dirty="0"/>
              <a:t>Creativity</a:t>
            </a:r>
          </a:p>
          <a:p>
            <a:endParaRPr lang="en-IN" dirty="0"/>
          </a:p>
        </p:txBody>
      </p:sp>
    </p:spTree>
    <p:extLst>
      <p:ext uri="{BB962C8B-B14F-4D97-AF65-F5344CB8AC3E}">
        <p14:creationId xmlns:p14="http://schemas.microsoft.com/office/powerpoint/2010/main" val="22506102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66148"/>
          </a:xfrm>
        </p:spPr>
        <p:txBody>
          <a:bodyPr>
            <a:normAutofit fontScale="90000"/>
          </a:bodyPr>
          <a:lstStyle/>
          <a:p>
            <a:r>
              <a:rPr lang="en-US" dirty="0" smtClean="0">
                <a:solidFill>
                  <a:srgbClr val="FF0000"/>
                </a:solidFill>
              </a:rPr>
              <a:t>Questions</a:t>
            </a:r>
            <a:endParaRPr lang="en-IN" dirty="0">
              <a:solidFill>
                <a:srgbClr val="FF0000"/>
              </a:solidFill>
            </a:endParaRPr>
          </a:p>
        </p:txBody>
      </p:sp>
      <p:sp>
        <p:nvSpPr>
          <p:cNvPr id="3" name="Content Placeholder 2"/>
          <p:cNvSpPr>
            <a:spLocks noGrp="1"/>
          </p:cNvSpPr>
          <p:nvPr>
            <p:ph idx="1"/>
          </p:nvPr>
        </p:nvSpPr>
        <p:spPr/>
        <p:txBody>
          <a:bodyPr/>
          <a:lstStyle/>
          <a:p>
            <a:r>
              <a:rPr lang="en-US" dirty="0" smtClean="0"/>
              <a:t>Write any ten roles and responsibilities of Data Analyst</a:t>
            </a:r>
          </a:p>
          <a:p>
            <a:r>
              <a:rPr lang="en-US" dirty="0" smtClean="0"/>
              <a:t>Write any ten tools do Data Analyst use with its purpose.</a:t>
            </a:r>
          </a:p>
          <a:p>
            <a:r>
              <a:rPr lang="en-US" dirty="0" smtClean="0"/>
              <a:t>Write any five importance of data analyst in today’s data driven world.</a:t>
            </a:r>
          </a:p>
          <a:p>
            <a:r>
              <a:rPr lang="en-US" dirty="0" smtClean="0"/>
              <a:t>Write in detail data Analyst Qualifications required mentioning educational, technical and soft skills.</a:t>
            </a:r>
          </a:p>
          <a:p>
            <a:r>
              <a:rPr lang="en-US" dirty="0" smtClean="0"/>
              <a:t>Write any 20 essential data analyst skills required.</a:t>
            </a:r>
            <a:endParaRPr lang="en-IN" dirty="0"/>
          </a:p>
        </p:txBody>
      </p:sp>
    </p:spTree>
    <p:extLst>
      <p:ext uri="{BB962C8B-B14F-4D97-AF65-F5344CB8AC3E}">
        <p14:creationId xmlns:p14="http://schemas.microsoft.com/office/powerpoint/2010/main" val="35572054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endParaRPr lang="en-US" dirty="0" smtClean="0"/>
          </a:p>
          <a:p>
            <a:endParaRPr lang="en-US" dirty="0"/>
          </a:p>
          <a:p>
            <a:endParaRPr lang="en-US" dirty="0" smtClean="0"/>
          </a:p>
          <a:p>
            <a:pPr lvl="8"/>
            <a:r>
              <a:rPr lang="en-US" sz="3200" dirty="0" smtClean="0">
                <a:solidFill>
                  <a:srgbClr val="FF0000"/>
                </a:solidFill>
              </a:rPr>
              <a:t>Thank u</a:t>
            </a:r>
          </a:p>
        </p:txBody>
      </p:sp>
    </p:spTree>
    <p:extLst>
      <p:ext uri="{BB962C8B-B14F-4D97-AF65-F5344CB8AC3E}">
        <p14:creationId xmlns:p14="http://schemas.microsoft.com/office/powerpoint/2010/main" val="4166191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585</TotalTime>
  <Words>1842</Words>
  <Application>Microsoft Office PowerPoint</Application>
  <PresentationFormat>Widescreen</PresentationFormat>
  <Paragraphs>179</Paragraphs>
  <Slides>67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67</vt:i4>
      </vt:variant>
    </vt:vector>
  </HeadingPairs>
  <TitlesOfParts>
    <vt:vector size="71" baseType="lpstr">
      <vt:lpstr>Arial</vt:lpstr>
      <vt:lpstr>Calibri</vt:lpstr>
      <vt:lpstr>Calibri Light</vt:lpstr>
      <vt:lpstr>Office Theme</vt:lpstr>
      <vt:lpstr>Data Analytics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Data Analytics</vt:lpstr>
      <vt:lpstr>Types of Data Analytics</vt:lpstr>
      <vt:lpstr>Predictive Analysis</vt:lpstr>
      <vt:lpstr>Example </vt:lpstr>
      <vt:lpstr>Descriptive Analysis</vt:lpstr>
      <vt:lpstr>Example</vt:lpstr>
      <vt:lpstr>Prescriptive Analysis</vt:lpstr>
      <vt:lpstr>Example</vt:lpstr>
      <vt:lpstr>Diagnostic Analysis</vt:lpstr>
      <vt:lpstr>Example</vt:lpstr>
      <vt:lpstr>PowerPoint Presentation</vt:lpstr>
      <vt:lpstr>Benefits of Data Analytics</vt:lpstr>
      <vt:lpstr>Benefits of DA</vt:lpstr>
      <vt:lpstr>Benefits of DA</vt:lpstr>
      <vt:lpstr>Benefits of DA</vt:lpstr>
      <vt:lpstr> Additional Benefits of Data Analytics </vt:lpstr>
      <vt:lpstr>Applications of DA</vt:lpstr>
      <vt:lpstr>PowerPoint Presentation</vt:lpstr>
      <vt:lpstr>PowerPoint Presentation</vt:lpstr>
      <vt:lpstr>PowerPoint Presentation</vt:lpstr>
      <vt:lpstr>PowerPoint Presentation</vt:lpstr>
      <vt:lpstr>PowerPoint Presentation</vt:lpstr>
      <vt:lpstr>PowerPoint Presentation</vt:lpstr>
      <vt:lpstr> The Roles and Responsibilities of a Data Analyst </vt:lpstr>
      <vt:lpstr>Core Responsibilities of Data Analyst</vt:lpstr>
      <vt:lpstr>Core Responsibilities of Data Analyst</vt:lpstr>
      <vt:lpstr>Core Responsibilities of Data Analyst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Roles and Responsibilities </vt:lpstr>
      <vt:lpstr>Roles and Responsibilities of Data Analyst</vt:lpstr>
      <vt:lpstr> Skills and Qualifications </vt:lpstr>
      <vt:lpstr> Key Skills a Data Analyst Should Have: </vt:lpstr>
      <vt:lpstr> Qualifications of a Data Analyst: </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Farhadeeba</dc:creator>
  <cp:lastModifiedBy>Farhadeeba</cp:lastModifiedBy>
  <cp:revision>36</cp:revision>
  <dcterms:created xsi:type="dcterms:W3CDTF">2024-07-07T14:50:46Z</dcterms:created>
  <dcterms:modified xsi:type="dcterms:W3CDTF">2024-07-22T05:42:12Z</dcterms:modified>
</cp:coreProperties>
</file>