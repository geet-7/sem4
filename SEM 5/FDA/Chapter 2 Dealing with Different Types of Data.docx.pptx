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07"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308" r:id="rId26"/>
    <p:sldId id="279" r:id="rId27"/>
    <p:sldId id="280" r:id="rId28"/>
    <p:sldId id="281" r:id="rId29"/>
    <p:sldId id="282" r:id="rId30"/>
    <p:sldId id="283" r:id="rId31"/>
    <p:sldId id="284" r:id="rId32"/>
    <p:sldId id="309" r:id="rId33"/>
    <p:sldId id="310" r:id="rId34"/>
    <p:sldId id="311" r:id="rId35"/>
    <p:sldId id="313" r:id="rId36"/>
    <p:sldId id="312" r:id="rId37"/>
    <p:sldId id="315" r:id="rId38"/>
    <p:sldId id="316" r:id="rId39"/>
    <p:sldId id="317" r:id="rId40"/>
    <p:sldId id="318" r:id="rId41"/>
    <p:sldId id="319" r:id="rId42"/>
    <p:sldId id="320" r:id="rId43"/>
    <p:sldId id="292" r:id="rId44"/>
    <p:sldId id="293" r:id="rId45"/>
    <p:sldId id="294" r:id="rId46"/>
    <p:sldId id="295" r:id="rId47"/>
    <p:sldId id="296" r:id="rId48"/>
    <p:sldId id="297" r:id="rId49"/>
    <p:sldId id="298" r:id="rId50"/>
    <p:sldId id="299" r:id="rId51"/>
    <p:sldId id="300" r:id="rId52"/>
    <p:sldId id="301" r:id="rId53"/>
    <p:sldId id="304" r:id="rId54"/>
    <p:sldId id="305" r:id="rId55"/>
    <p:sldId id="306" r:id="rId56"/>
    <p:sldId id="302" r:id="rId57"/>
    <p:sldId id="303"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BF292FE-D558-4984-BCCA-97263098BC5B}" type="datetimeFigureOut">
              <a:rPr lang="en-IN" smtClean="0"/>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597962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F292FE-D558-4984-BCCA-97263098BC5B}" type="datetimeFigureOut">
              <a:rPr lang="en-IN" smtClean="0"/>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2269526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F292FE-D558-4984-BCCA-97263098BC5B}" type="datetimeFigureOut">
              <a:rPr lang="en-IN" smtClean="0"/>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4000862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BF292FE-D558-4984-BCCA-97263098BC5B}" type="datetimeFigureOut">
              <a:rPr lang="en-IN" smtClean="0"/>
              <a:t>29-07-2024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2163652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BF292FE-D558-4984-BCCA-97263098BC5B}" type="datetimeFigureOut">
              <a:rPr lang="en-IN" smtClean="0"/>
              <a:t>29-07-2024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445965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BF292FE-D558-4984-BCCA-97263098BC5B}" type="datetimeFigureOut">
              <a:rPr lang="en-IN" smtClean="0"/>
              <a:t>29-07-2024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3705997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F292FE-D558-4984-BCCA-97263098BC5B}" type="datetimeFigureOut">
              <a:rPr lang="en-IN" smtClean="0"/>
              <a:t>29-07-2024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348515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F292FE-D558-4984-BCCA-97263098BC5B}" type="datetimeFigureOut">
              <a:rPr lang="en-IN" smtClean="0"/>
              <a:t>29-07-2024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2111271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BF292FE-D558-4984-BCCA-97263098BC5B}" type="datetimeFigureOut">
              <a:rPr lang="en-IN" smtClean="0"/>
              <a:t>29-07-2024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3262465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F292FE-D558-4984-BCCA-97263098BC5B}" type="datetimeFigureOut">
              <a:rPr lang="en-IN" smtClean="0"/>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2911298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F292FE-D558-4984-BCCA-97263098BC5B}" type="datetimeFigureOut">
              <a:rPr lang="en-IN" smtClean="0"/>
              <a:t>29-07-2024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2A4DB0-7614-4956-8AEA-F4720F97FBDD}" type="slidenum">
              <a:rPr lang="en-IN" smtClean="0"/>
              <a:t>‹#›</a:t>
            </a:fld>
            <a:endParaRPr lang="en-IN"/>
          </a:p>
        </p:txBody>
      </p:sp>
    </p:spTree>
    <p:extLst>
      <p:ext uri="{BB962C8B-B14F-4D97-AF65-F5344CB8AC3E}">
        <p14:creationId xmlns:p14="http://schemas.microsoft.com/office/powerpoint/2010/main" val="1177838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292FE-D558-4984-BCCA-97263098BC5B}" type="datetimeFigureOut">
              <a:rPr lang="en-IN" smtClean="0"/>
              <a:t>29-07-2024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2A4DB0-7614-4956-8AEA-F4720F97FBDD}" type="slidenum">
              <a:rPr lang="en-IN" smtClean="0"/>
              <a:t>‹#›</a:t>
            </a:fld>
            <a:endParaRPr lang="en-IN"/>
          </a:p>
        </p:txBody>
      </p:sp>
    </p:spTree>
    <p:extLst>
      <p:ext uri="{BB962C8B-B14F-4D97-AF65-F5344CB8AC3E}">
        <p14:creationId xmlns:p14="http://schemas.microsoft.com/office/powerpoint/2010/main" val="4184112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analytics8.com/blog/how-to-use-machine-learning-to-predict-ncaa-march-madnes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analytics8.com/blog/how-do-i-pick-the-right-business-intelligence-tool-for-my-business/" TargetMode="External"/><Relationship Id="rId2" Type="http://schemas.openxmlformats.org/officeDocument/2006/relationships/hyperlink" Target="https://www.analytics8.com/blog/the-difference-between-and-how-three-tools-play-a-role-in-modern-data-managemen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nalytics8.com/services/data-architecture/" TargetMode="External"/><Relationship Id="rId2" Type="http://schemas.openxmlformats.org/officeDocument/2006/relationships/hyperlink" Target="https://www.analytics8.com/services/cloud-migration/" TargetMode="External"/><Relationship Id="rId1" Type="http://schemas.openxmlformats.org/officeDocument/2006/relationships/slideLayout" Target="../slideLayouts/slideLayout2.xml"/><Relationship Id="rId4" Type="http://schemas.openxmlformats.org/officeDocument/2006/relationships/hyperlink" Target="https://www.analytics8.com/blog/the-difference-between-and-how-three-tools-play-a-role-in-modern-data-managemen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analytics8.com/services/data-integration-data-engineering/" TargetMode="External"/><Relationship Id="rId2" Type="http://schemas.openxmlformats.org/officeDocument/2006/relationships/hyperlink" Target="https://www.analytics8.com/blog/the-difference-between-and-how-three-tools-play-a-role-in-modern-data-management/" TargetMode="External"/><Relationship Id="rId1" Type="http://schemas.openxmlformats.org/officeDocument/2006/relationships/slideLayout" Target="../slideLayouts/slideLayout2.xml"/><Relationship Id="rId4" Type="http://schemas.openxmlformats.org/officeDocument/2006/relationships/hyperlink" Target="https://www.analytics8.com/blog/data-integration-understanding-the-what-why-and-how/"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analytics8.com/blog/unraveling-the-concepts-of-a-data-warehouse-and-a-data-lake/" TargetMode="External"/><Relationship Id="rId2" Type="http://schemas.openxmlformats.org/officeDocument/2006/relationships/hyperlink" Target="https://www.analytics8.com/blog/how-to-build-an-effective-data-governance-program-and-strateg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nlp-chunking-rules" TargetMode="External"/><Relationship Id="rId2" Type="http://schemas.openxmlformats.org/officeDocument/2006/relationships/hyperlink" Target="https://www.geeksforgeeks.org/tokenize-text-using-nltk-python"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machine-learni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techtarget.com/searchcustomerexperience/definition/actionable-insight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techtarget.com/whatis/definition/conversion-rate-optimization"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techtarget.com/searchsoftwarequality/definition/UX-research"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techtarget.com/searchbusinessanalytics/feature/Clear-the-confusion-of-advanced-vs-predictive-analytic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techtarget.com/searchbusinessanalytics/definition/Google-Analytics" TargetMode="External"/><Relationship Id="rId2" Type="http://schemas.openxmlformats.org/officeDocument/2006/relationships/hyperlink" Target="https://www.techtarget.com/searchcio/definition/qualitative-data" TargetMode="External"/><Relationship Id="rId1" Type="http://schemas.openxmlformats.org/officeDocument/2006/relationships/slideLayout" Target="../slideLayouts/slideLayout2.xml"/><Relationship Id="rId6" Type="http://schemas.openxmlformats.org/officeDocument/2006/relationships/hyperlink" Target="https://www.techtarget.com/searchbusinessanalytics/definition/key-performance-indicators-KPIs" TargetMode="External"/><Relationship Id="rId5" Type="http://schemas.openxmlformats.org/officeDocument/2006/relationships/hyperlink" Target="https://www.techtarget.com/whatis/definition/IP-address-Internet-Protocol-Address" TargetMode="External"/><Relationship Id="rId4" Type="http://schemas.openxmlformats.org/officeDocument/2006/relationships/hyperlink" Target="https://www.techtarget.com/whatis/definition/HTTP-Hypertext-Transfer-Protocol"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https://www.techtarget.com/searchbusinessanalytics/news/366570632/Generative-AI-dominates-Googles-data-and-analytics-roadmap"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techtarget.com/whatis/definition/search-engine" TargetMode="External"/><Relationship Id="rId2" Type="http://schemas.openxmlformats.org/officeDocument/2006/relationships/hyperlink" Target="https://www.techtarget.com/whatis/definition/social-media" TargetMode="External"/><Relationship Id="rId1" Type="http://schemas.openxmlformats.org/officeDocument/2006/relationships/slideLayout" Target="../slideLayouts/slideLayout2.xml"/><Relationship Id="rId5" Type="http://schemas.openxmlformats.org/officeDocument/2006/relationships/hyperlink" Target="https://www.techtarget.com/whatis/definition/tag-management-systems-TMS" TargetMode="External"/><Relationship Id="rId4" Type="http://schemas.openxmlformats.org/officeDocument/2006/relationships/hyperlink" Target="https://www.techtarget.com/whatis/definition/log-log-file"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marketingevolution.com/marketing-essentials/multi-touch-attribution?hsLang=en" TargetMode="External"/><Relationship Id="rId2" Type="http://schemas.openxmlformats.org/officeDocument/2006/relationships/hyperlink" Target="https://www.marketingevolution.com/marketing-essentials/media-mix-modeling?hsLang=en" TargetMode="External"/><Relationship Id="rId1" Type="http://schemas.openxmlformats.org/officeDocument/2006/relationships/slideLayout" Target="../slideLayouts/slideLayout2.xml"/><Relationship Id="rId4" Type="http://schemas.openxmlformats.org/officeDocument/2006/relationships/hyperlink" Target="https://www.marketingevolution.com/marketing-essentials/unified-marketing-measurement?hsLang=e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marketingevolution.com/marketing-essentials/target-audience?hsLang=e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marketingevolution.com/marketing-essentials/media-buying?hsLang=en"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geeksforgeeks.org/statistic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sql-tutorial/" TargetMode="External"/><Relationship Id="rId2" Type="http://schemas.openxmlformats.org/officeDocument/2006/relationships/hyperlink" Target="https://www.geeksforgeeks.org/what-is-structured-data/"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what-is-unstructured-data/" TargetMode="External"/><Relationship Id="rId2" Type="http://schemas.openxmlformats.org/officeDocument/2006/relationships/hyperlink" Target="https://www.geeksforgeeks.org/what-is-semi-structured-dat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questionpro.com/blog/what-is-data-analysi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hyperlink" Target="https://www.questionpro.com/blog/data-governance/" TargetMode="External"/><Relationship Id="rId2" Type="http://schemas.openxmlformats.org/officeDocument/2006/relationships/hyperlink" Target="https://www.questionpro.com/blog/data-lake/" TargetMode="External"/><Relationship Id="rId1" Type="http://schemas.openxmlformats.org/officeDocument/2006/relationships/slideLayout" Target="../slideLayouts/slideLayout2.xml"/><Relationship Id="rId4" Type="http://schemas.openxmlformats.org/officeDocument/2006/relationships/hyperlink" Target="https://www.questionpro.com/blog/data-governance-framework/"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www.altexsoft.com/blog/olap-online-analytical-processing/" TargetMode="External"/><Relationship Id="rId2" Type="http://schemas.openxmlformats.org/officeDocument/2006/relationships/hyperlink" Target="http://indstuds.yolasite.com/resources/OLTP.pdf"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www.altexsoft.com/blog/bi-developer-role-responsibilities-skills/" TargetMode="External"/><Relationship Id="rId2" Type="http://schemas.openxmlformats.org/officeDocument/2006/relationships/hyperlink" Target="https://www.altexsoft.com/blog/datascience/how-to-structure-data-science-team-key-models-and-roles/" TargetMode="External"/><Relationship Id="rId1" Type="http://schemas.openxmlformats.org/officeDocument/2006/relationships/slideLayout" Target="../slideLayouts/slideLayout2.xml"/><Relationship Id="rId4" Type="http://schemas.openxmlformats.org/officeDocument/2006/relationships/hyperlink" Target="https://www.altexsoft.com/blog/chief-product-officer/"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hyperlink" Target="https://www.questionpro.com/blog/survey-data-collectio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Chapter 2</a:t>
            </a:r>
            <a:endParaRPr lang="en-IN" b="1" dirty="0">
              <a:solidFill>
                <a:srgbClr val="FF0000"/>
              </a:solidFill>
            </a:endParaRPr>
          </a:p>
        </p:txBody>
      </p:sp>
      <p:sp>
        <p:nvSpPr>
          <p:cNvPr id="3" name="Subtitle 2"/>
          <p:cNvSpPr>
            <a:spLocks noGrp="1"/>
          </p:cNvSpPr>
          <p:nvPr>
            <p:ph type="subTitle" idx="1"/>
          </p:nvPr>
        </p:nvSpPr>
        <p:spPr/>
        <p:txBody>
          <a:bodyPr/>
          <a:lstStyle/>
          <a:p>
            <a:r>
              <a:rPr lang="en-US" b="1" dirty="0" smtClean="0">
                <a:solidFill>
                  <a:srgbClr val="FF0000"/>
                </a:solidFill>
              </a:rPr>
              <a:t>Dealing with different types of data</a:t>
            </a:r>
            <a:endParaRPr lang="en-IN" b="1" dirty="0">
              <a:solidFill>
                <a:srgbClr val="FF0000"/>
              </a:solidFill>
            </a:endParaRPr>
          </a:p>
        </p:txBody>
      </p:sp>
    </p:spTree>
    <p:extLst>
      <p:ext uri="{BB962C8B-B14F-4D97-AF65-F5344CB8AC3E}">
        <p14:creationId xmlns:p14="http://schemas.microsoft.com/office/powerpoint/2010/main" val="42900960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2402"/>
          </a:xfrm>
        </p:spPr>
        <p:txBody>
          <a:bodyPr>
            <a:normAutofit fontScale="90000"/>
          </a:bodyPr>
          <a:lstStyle/>
          <a:p>
            <a:r>
              <a:rPr lang="en-US" b="1" dirty="0" smtClean="0">
                <a:solidFill>
                  <a:srgbClr val="FF0000"/>
                </a:solidFill>
              </a:rPr>
              <a:t>Terminologies in Data Analytics</a:t>
            </a:r>
            <a:endParaRPr lang="en-IN" b="1" dirty="0">
              <a:solidFill>
                <a:srgbClr val="FF0000"/>
              </a:solidFill>
            </a:endParaRPr>
          </a:p>
        </p:txBody>
      </p:sp>
      <p:sp>
        <p:nvSpPr>
          <p:cNvPr id="3" name="Content Placeholder 2"/>
          <p:cNvSpPr>
            <a:spLocks noGrp="1"/>
          </p:cNvSpPr>
          <p:nvPr>
            <p:ph idx="1"/>
          </p:nvPr>
        </p:nvSpPr>
        <p:spPr>
          <a:xfrm>
            <a:off x="838200" y="1191491"/>
            <a:ext cx="10515600" cy="4985472"/>
          </a:xfrm>
        </p:spPr>
        <p:txBody>
          <a:bodyPr/>
          <a:lstStyle/>
          <a:p>
            <a:r>
              <a:rPr lang="en-IN" b="1" dirty="0"/>
              <a:t>Dealing with Different Types of Data </a:t>
            </a:r>
            <a:endParaRPr lang="en-IN" dirty="0"/>
          </a:p>
          <a:p>
            <a:r>
              <a:rPr lang="en-IN" dirty="0"/>
              <a:t>Introduction, Terminologies in Data Analytics, Text analytics, web analytics, marketing analytics, Types of Data –Data, numerical data and categorical data, structured and unstructured data, ordinal data and nominal data, data types, and data format, types of data repositories such as Databases, Data Warehouses, Data Marts, Data Lakes, and Data Pipelines.</a:t>
            </a:r>
          </a:p>
          <a:p>
            <a:endParaRPr lang="en-IN" dirty="0"/>
          </a:p>
        </p:txBody>
      </p:sp>
    </p:spTree>
    <p:extLst>
      <p:ext uri="{BB962C8B-B14F-4D97-AF65-F5344CB8AC3E}">
        <p14:creationId xmlns:p14="http://schemas.microsoft.com/office/powerpoint/2010/main" val="17631570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3930"/>
          </a:xfrm>
        </p:spPr>
        <p:txBody>
          <a:bodyPr>
            <a:normAutofit fontScale="90000"/>
          </a:bodyPr>
          <a:lstStyle/>
          <a:p>
            <a:r>
              <a:rPr lang="en-US" b="1" dirty="0" smtClean="0">
                <a:solidFill>
                  <a:srgbClr val="FF0000"/>
                </a:solidFill>
              </a:rPr>
              <a:t>Terminologies in Data Analytics</a:t>
            </a:r>
            <a:endParaRPr lang="en-IN" dirty="0"/>
          </a:p>
        </p:txBody>
      </p:sp>
      <p:sp>
        <p:nvSpPr>
          <p:cNvPr id="3" name="Content Placeholder 2"/>
          <p:cNvSpPr>
            <a:spLocks noGrp="1"/>
          </p:cNvSpPr>
          <p:nvPr>
            <p:ph idx="1"/>
          </p:nvPr>
        </p:nvSpPr>
        <p:spPr>
          <a:xfrm>
            <a:off x="838200" y="1173018"/>
            <a:ext cx="10515600" cy="5003945"/>
          </a:xfrm>
        </p:spPr>
        <p:txBody>
          <a:bodyPr>
            <a:normAutofit fontScale="92500" lnSpcReduction="20000"/>
          </a:bodyPr>
          <a:lstStyle/>
          <a:p>
            <a:pPr algn="just"/>
            <a:r>
              <a:rPr lang="en-US" b="1" dirty="0">
                <a:hlinkClick r:id="rId2"/>
              </a:rPr>
              <a:t>Artificial intelligence</a:t>
            </a:r>
            <a:r>
              <a:rPr lang="en-US" b="1" dirty="0"/>
              <a:t> (AI) </a:t>
            </a:r>
            <a:r>
              <a:rPr lang="en-US" dirty="0"/>
              <a:t>is a simulation of human intelligence processes by machines. It combines computer science with robust datasets to enable problem solving using the rapid learning capabilities of machines.</a:t>
            </a:r>
          </a:p>
          <a:p>
            <a:pPr algn="just"/>
            <a:r>
              <a:rPr lang="en-US" b="1" dirty="0"/>
              <a:t>Augmented intelligence </a:t>
            </a:r>
            <a:r>
              <a:rPr lang="en-US" dirty="0"/>
              <a:t>is a design pattern for a human-centered partnership model of people and artificial intelligence used to enhance cognitive performance, including learning, decision making, and new experiences. The combination of human intuition and artificial intelligence is powerful and can help mitigate perceived risk with purely machine-driven AI.</a:t>
            </a:r>
          </a:p>
          <a:p>
            <a:pPr algn="just"/>
            <a:r>
              <a:rPr lang="en-US" b="1" dirty="0"/>
              <a:t>Big data </a:t>
            </a:r>
            <a:r>
              <a:rPr lang="en-US" dirty="0"/>
              <a:t>refers to large and complex datasets containing structured and unstructured data, arriving in increasing volumes and velocity. Big data is relative — what was big ten years ago is no longer considered big today, and the same will be true ten years from now. The point here is that the data is big enough to require special attention with regards to storing, moving, updating, querying, and aggregating it.</a:t>
            </a:r>
          </a:p>
          <a:p>
            <a:endParaRPr lang="en-IN" dirty="0"/>
          </a:p>
        </p:txBody>
      </p:sp>
    </p:spTree>
    <p:extLst>
      <p:ext uri="{BB962C8B-B14F-4D97-AF65-F5344CB8AC3E}">
        <p14:creationId xmlns:p14="http://schemas.microsoft.com/office/powerpoint/2010/main" val="36946945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8584"/>
          </a:xfrm>
        </p:spPr>
        <p:txBody>
          <a:bodyPr>
            <a:normAutofit fontScale="90000"/>
          </a:bodyPr>
          <a:lstStyle/>
          <a:p>
            <a:r>
              <a:rPr lang="en-US" b="1" dirty="0" smtClean="0">
                <a:solidFill>
                  <a:srgbClr val="FF0000"/>
                </a:solidFill>
              </a:rPr>
              <a:t>Terminologies</a:t>
            </a:r>
            <a:endParaRPr lang="en-IN" b="1" dirty="0">
              <a:solidFill>
                <a:srgbClr val="FF0000"/>
              </a:solidFill>
            </a:endParaRPr>
          </a:p>
        </p:txBody>
      </p:sp>
      <p:sp>
        <p:nvSpPr>
          <p:cNvPr id="3" name="Content Placeholder 2"/>
          <p:cNvSpPr>
            <a:spLocks noGrp="1"/>
          </p:cNvSpPr>
          <p:nvPr>
            <p:ph idx="1"/>
          </p:nvPr>
        </p:nvSpPr>
        <p:spPr>
          <a:xfrm>
            <a:off x="838200" y="1117600"/>
            <a:ext cx="10515600" cy="5059363"/>
          </a:xfrm>
        </p:spPr>
        <p:txBody>
          <a:bodyPr>
            <a:normAutofit/>
          </a:bodyPr>
          <a:lstStyle/>
          <a:p>
            <a:pPr algn="just"/>
            <a:r>
              <a:rPr lang="en-US" b="1" dirty="0" smtClean="0">
                <a:hlinkClick r:id="rId2"/>
              </a:rPr>
              <a:t>Business glossary</a:t>
            </a:r>
            <a:r>
              <a:rPr lang="en-US" dirty="0" smtClean="0"/>
              <a:t> is a repository of information that contains concepts and definitions of business terms frequently used in day-to-day activities within an organization — across all business functions — and is meant to be a single authoritative source for commonly used terms for all business users. </a:t>
            </a:r>
          </a:p>
          <a:p>
            <a:pPr algn="just"/>
            <a:r>
              <a:rPr lang="en-US" b="1" dirty="0" smtClean="0">
                <a:hlinkClick r:id="rId3"/>
              </a:rPr>
              <a:t>Business intelligence</a:t>
            </a:r>
            <a:r>
              <a:rPr lang="en-US" b="1" dirty="0" smtClean="0"/>
              <a:t> (BI) </a:t>
            </a:r>
            <a:r>
              <a:rPr lang="en-US" dirty="0" smtClean="0"/>
              <a:t>leverages software and services that help business users make more informed decisions by delivering reports and dashboards to help them analyze data and actionable information.</a:t>
            </a:r>
          </a:p>
          <a:p>
            <a:endParaRPr lang="en-IN" dirty="0"/>
          </a:p>
        </p:txBody>
      </p:sp>
    </p:spTree>
    <p:extLst>
      <p:ext uri="{BB962C8B-B14F-4D97-AF65-F5344CB8AC3E}">
        <p14:creationId xmlns:p14="http://schemas.microsoft.com/office/powerpoint/2010/main" val="25835107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0111"/>
          </a:xfrm>
        </p:spPr>
        <p:txBody>
          <a:bodyPr>
            <a:normAutofit fontScale="90000"/>
          </a:bodyPr>
          <a:lstStyle/>
          <a:p>
            <a:r>
              <a:rPr lang="en-US" b="1" dirty="0" smtClean="0">
                <a:solidFill>
                  <a:srgbClr val="FF0000"/>
                </a:solidFill>
              </a:rPr>
              <a:t>Terminologies in Data Analytics</a:t>
            </a:r>
            <a:endParaRPr lang="en-IN" dirty="0"/>
          </a:p>
        </p:txBody>
      </p:sp>
      <p:sp>
        <p:nvSpPr>
          <p:cNvPr id="3" name="Content Placeholder 2"/>
          <p:cNvSpPr>
            <a:spLocks noGrp="1"/>
          </p:cNvSpPr>
          <p:nvPr>
            <p:ph idx="1"/>
          </p:nvPr>
        </p:nvSpPr>
        <p:spPr>
          <a:xfrm>
            <a:off x="838200" y="1025236"/>
            <a:ext cx="10515600" cy="5151727"/>
          </a:xfrm>
        </p:spPr>
        <p:txBody>
          <a:bodyPr>
            <a:normAutofit fontScale="85000" lnSpcReduction="20000"/>
          </a:bodyPr>
          <a:lstStyle/>
          <a:p>
            <a:pPr algn="just"/>
            <a:r>
              <a:rPr lang="en-US" b="1" dirty="0">
                <a:hlinkClick r:id="rId2"/>
              </a:rPr>
              <a:t>Cloud computing</a:t>
            </a:r>
            <a:r>
              <a:rPr lang="en-US" dirty="0">
                <a:hlinkClick r:id="rId2"/>
              </a:rPr>
              <a:t> </a:t>
            </a:r>
            <a:r>
              <a:rPr lang="en-US" dirty="0"/>
              <a:t>is a service provided via the internet where an organization can access on-demand computing resources from another organization under a shared service model. Cloud computing allows organizations to avoid large upfront costs and ongoing maintenance associated with procuring, hosting, and managing their own data centers. Users can effectively rent compute, network, and storage resources for a period and only pay for the services as long as they are using them. This allows for maximum flexibility to scale up and scale down resources quickly and on-demand.</a:t>
            </a:r>
          </a:p>
          <a:p>
            <a:pPr algn="just"/>
            <a:r>
              <a:rPr lang="en-US" b="1" dirty="0">
                <a:hlinkClick r:id="rId3"/>
              </a:rPr>
              <a:t>Data architecture</a:t>
            </a:r>
            <a:r>
              <a:rPr lang="en-US" dirty="0"/>
              <a:t> is the plan and design for the entire data lifecycle for an organization, starting when data is captured, going all the way to when value is generated from data through analytics.</a:t>
            </a:r>
          </a:p>
          <a:p>
            <a:pPr algn="just"/>
            <a:r>
              <a:rPr lang="en-US" b="1" dirty="0">
                <a:hlinkClick r:id="rId4"/>
              </a:rPr>
              <a:t>Data catalog</a:t>
            </a:r>
            <a:r>
              <a:rPr lang="en-US" dirty="0"/>
              <a:t> is the pathway — or a bridge — between a business glossary and a data dictionary. It is an organized inventory of an organization’s data assets that informs users — both business and technical — on available datasets about a topic and helps them to locate it quickly.</a:t>
            </a:r>
          </a:p>
          <a:p>
            <a:pPr algn="just"/>
            <a:r>
              <a:rPr lang="en-US" b="1" dirty="0"/>
              <a:t>Data democratization </a:t>
            </a:r>
            <a:r>
              <a:rPr lang="en-US" dirty="0"/>
              <a:t>is the process of providing all business users with an organization — technical and non-technical — access to data and enabling them to use it, when they need it, to gain insights and expedite decision-making.</a:t>
            </a:r>
          </a:p>
          <a:p>
            <a:endParaRPr lang="en-IN" dirty="0"/>
          </a:p>
        </p:txBody>
      </p:sp>
    </p:spTree>
    <p:extLst>
      <p:ext uri="{BB962C8B-B14F-4D97-AF65-F5344CB8AC3E}">
        <p14:creationId xmlns:p14="http://schemas.microsoft.com/office/powerpoint/2010/main" val="15644968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348"/>
          </a:xfrm>
        </p:spPr>
        <p:txBody>
          <a:bodyPr>
            <a:normAutofit fontScale="90000"/>
          </a:bodyPr>
          <a:lstStyle/>
          <a:p>
            <a:r>
              <a:rPr lang="en-US" b="1" dirty="0" smtClean="0">
                <a:solidFill>
                  <a:srgbClr val="FF0000"/>
                </a:solidFill>
              </a:rPr>
              <a:t>Terminologies in Data Analytics</a:t>
            </a:r>
            <a:endParaRPr lang="en-IN" dirty="0"/>
          </a:p>
        </p:txBody>
      </p:sp>
      <p:sp>
        <p:nvSpPr>
          <p:cNvPr id="3" name="Content Placeholder 2"/>
          <p:cNvSpPr>
            <a:spLocks noGrp="1"/>
          </p:cNvSpPr>
          <p:nvPr>
            <p:ph idx="1"/>
          </p:nvPr>
        </p:nvSpPr>
        <p:spPr>
          <a:xfrm>
            <a:off x="838200" y="1191491"/>
            <a:ext cx="10515600" cy="4985472"/>
          </a:xfrm>
        </p:spPr>
        <p:txBody>
          <a:bodyPr>
            <a:normAutofit fontScale="92500" lnSpcReduction="20000"/>
          </a:bodyPr>
          <a:lstStyle/>
          <a:p>
            <a:pPr algn="just"/>
            <a:r>
              <a:rPr lang="en-US" b="1" dirty="0">
                <a:hlinkClick r:id="rId2"/>
              </a:rPr>
              <a:t>Data dictionary</a:t>
            </a:r>
            <a:r>
              <a:rPr lang="en-US" dirty="0"/>
              <a:t> is the technical and thorough documentation of data and its metadata within a database or repository. It consists of the names of fields and entities, their location within the database or repository, detailed definitions, examples of content, descriptions for business interpretation, technical information like type, width, constraints, and indexes, and business rules and logic applied to derived or semantic assets.</a:t>
            </a:r>
          </a:p>
          <a:p>
            <a:pPr algn="just"/>
            <a:r>
              <a:rPr lang="en-US" b="1" dirty="0">
                <a:hlinkClick r:id="rId3"/>
              </a:rPr>
              <a:t>Data engineering </a:t>
            </a:r>
            <a:r>
              <a:rPr lang="en-US" dirty="0"/>
              <a:t>is the process and practices needed to transform raw data into meaningful and actionable information. Common data engineering tasks involve data collection, extraction, curation, ingestion, storage, movement, transformation, and integration.</a:t>
            </a:r>
          </a:p>
          <a:p>
            <a:pPr algn="just"/>
            <a:r>
              <a:rPr lang="en-US" b="1" dirty="0"/>
              <a:t>Data ingestion </a:t>
            </a:r>
            <a:r>
              <a:rPr lang="en-US" dirty="0"/>
              <a:t>is the process by which data is loaded from various sources to a storage medium — such as a data warehouse or a data lake — where it can be accessed, used, and analyzed.</a:t>
            </a:r>
          </a:p>
          <a:p>
            <a:pPr algn="just"/>
            <a:r>
              <a:rPr lang="en-US" b="1" dirty="0">
                <a:hlinkClick r:id="rId4"/>
              </a:rPr>
              <a:t>Data integration</a:t>
            </a:r>
            <a:r>
              <a:rPr lang="en-US" dirty="0"/>
              <a:t> is the process of connecting disparate data together for analysis or operational uses.</a:t>
            </a:r>
          </a:p>
          <a:p>
            <a:endParaRPr lang="en-IN" dirty="0"/>
          </a:p>
        </p:txBody>
      </p:sp>
    </p:spTree>
    <p:extLst>
      <p:ext uri="{BB962C8B-B14F-4D97-AF65-F5344CB8AC3E}">
        <p14:creationId xmlns:p14="http://schemas.microsoft.com/office/powerpoint/2010/main" val="1878154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2402"/>
          </a:xfrm>
        </p:spPr>
        <p:txBody>
          <a:bodyPr>
            <a:normAutofit fontScale="90000"/>
          </a:bodyPr>
          <a:lstStyle/>
          <a:p>
            <a:r>
              <a:rPr lang="en-US" b="1" dirty="0" smtClean="0">
                <a:solidFill>
                  <a:srgbClr val="FF0000"/>
                </a:solidFill>
              </a:rPr>
              <a:t>Terminologies in Data Analytics</a:t>
            </a:r>
            <a:endParaRPr lang="en-IN" dirty="0"/>
          </a:p>
        </p:txBody>
      </p:sp>
      <p:sp>
        <p:nvSpPr>
          <p:cNvPr id="3" name="Content Placeholder 2"/>
          <p:cNvSpPr>
            <a:spLocks noGrp="1"/>
          </p:cNvSpPr>
          <p:nvPr>
            <p:ph idx="1"/>
          </p:nvPr>
        </p:nvSpPr>
        <p:spPr>
          <a:xfrm>
            <a:off x="838200" y="1117600"/>
            <a:ext cx="10515600" cy="5059363"/>
          </a:xfrm>
        </p:spPr>
        <p:txBody>
          <a:bodyPr>
            <a:normAutofit/>
          </a:bodyPr>
          <a:lstStyle/>
          <a:p>
            <a:pPr algn="just"/>
            <a:r>
              <a:rPr lang="en-US" b="1" dirty="0">
                <a:hlinkClick r:id="rId2"/>
              </a:rPr>
              <a:t>Data governance</a:t>
            </a:r>
            <a:r>
              <a:rPr lang="en-US" dirty="0"/>
              <a:t> is the way an organization ensures that its data policies, practices, and processes are followed. When executed properly, a governance program should also clearly define who ultimately owns the data, who stewards it when something needs to be corrected or maintained, and who uses it to ensure that downstream impacts of change are monitored. </a:t>
            </a:r>
            <a:endParaRPr lang="en-US" dirty="0" smtClean="0"/>
          </a:p>
          <a:p>
            <a:pPr algn="just"/>
            <a:r>
              <a:rPr lang="en-US" b="1" dirty="0" smtClean="0">
                <a:hlinkClick r:id="rId3"/>
              </a:rPr>
              <a:t>Data </a:t>
            </a:r>
            <a:r>
              <a:rPr lang="en-US" b="1" dirty="0">
                <a:hlinkClick r:id="rId3"/>
              </a:rPr>
              <a:t>lake</a:t>
            </a:r>
            <a:r>
              <a:rPr lang="en-US" dirty="0"/>
              <a:t> is a central data repository that accepts relational, structured, semi-structured, and non-structured data types in a low-to-no modeling framework, used for tasks such as reporting, visualization, advanced analytics, and machine learning. A data lake can be established on premises (within an organization’s data centers) or in the cloud.</a:t>
            </a:r>
          </a:p>
          <a:p>
            <a:endParaRPr lang="en-IN" dirty="0"/>
          </a:p>
        </p:txBody>
      </p:sp>
    </p:spTree>
    <p:extLst>
      <p:ext uri="{BB962C8B-B14F-4D97-AF65-F5344CB8AC3E}">
        <p14:creationId xmlns:p14="http://schemas.microsoft.com/office/powerpoint/2010/main" val="3748156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3930"/>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What </a:t>
            </a:r>
            <a:r>
              <a:rPr lang="en-IN" b="1" dirty="0">
                <a:solidFill>
                  <a:srgbClr val="FF0000"/>
                </a:solidFill>
              </a:rPr>
              <a:t>is Text Analytics?</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099127"/>
            <a:ext cx="10515600" cy="5320146"/>
          </a:xfrm>
        </p:spPr>
        <p:txBody>
          <a:bodyPr>
            <a:normAutofit fontScale="92500" lnSpcReduction="20000"/>
          </a:bodyPr>
          <a:lstStyle/>
          <a:p>
            <a:pPr algn="just" fontAlgn="base"/>
            <a:r>
              <a:rPr lang="en-US" b="1" dirty="0"/>
              <a:t>Text Analytic</a:t>
            </a:r>
            <a:r>
              <a:rPr lang="en-US" dirty="0"/>
              <a:t>s is a process of analyzing and understanding written or spoken language. It employs computer algorithms and techniques to extract valuable information, patterns, and insights from extensive textual data. In simpler terms, text analytics empowers computers to understand and interpret human language.</a:t>
            </a:r>
          </a:p>
          <a:p>
            <a:pPr algn="just" fontAlgn="base"/>
            <a:r>
              <a:rPr lang="en-US" dirty="0"/>
              <a:t>In simpler terms, text analytics helps computers understand and interpret human language.</a:t>
            </a:r>
            <a:r>
              <a:rPr lang="en-US" b="1" dirty="0"/>
              <a:t> Here’s a real-world example to illustrate text analytics:</a:t>
            </a:r>
            <a:r>
              <a:rPr lang="en-US" dirty="0"/>
              <a:t> Let’s say a company receives customer reviews for its products online. These reviews can be a goldmine of information, but it’s not feasible for humans to read and analyze thousands of reviews manually. This is where text analytics comes in. The text analytics system can automatically analyze the reviews, looking for patterns and sentiments. It can identify common words or phrases that customers use to express satisfaction or dissatisfaction. For example, it might recognize that words like </a:t>
            </a:r>
            <a:r>
              <a:rPr lang="en-US" b="1" dirty="0"/>
              <a:t>love, great, and excellent often appear in positive reviews</a:t>
            </a:r>
            <a:r>
              <a:rPr lang="en-US" dirty="0"/>
              <a:t>, while words like </a:t>
            </a:r>
            <a:r>
              <a:rPr lang="en-US" b="1" dirty="0"/>
              <a:t>disappointed, issues, and poor may appear in negative reviews</a:t>
            </a:r>
            <a:r>
              <a:rPr lang="en-US" dirty="0"/>
              <a:t>.</a:t>
            </a:r>
          </a:p>
          <a:p>
            <a:endParaRPr lang="en-IN" dirty="0"/>
          </a:p>
        </p:txBody>
      </p:sp>
    </p:spTree>
    <p:extLst>
      <p:ext uri="{BB962C8B-B14F-4D97-AF65-F5344CB8AC3E}">
        <p14:creationId xmlns:p14="http://schemas.microsoft.com/office/powerpoint/2010/main" val="2194532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Why </a:t>
            </a:r>
            <a:r>
              <a:rPr lang="en-US" b="1" dirty="0">
                <a:solidFill>
                  <a:srgbClr val="FF0000"/>
                </a:solidFill>
              </a:rPr>
              <a:t>is Text Analytics Important?</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136073"/>
            <a:ext cx="10515600" cy="5551054"/>
          </a:xfrm>
        </p:spPr>
        <p:txBody>
          <a:bodyPr>
            <a:normAutofit fontScale="62500" lnSpcReduction="20000"/>
          </a:bodyPr>
          <a:lstStyle/>
          <a:p>
            <a:pPr algn="just" fontAlgn="base"/>
            <a:r>
              <a:rPr lang="en-US" dirty="0"/>
              <a:t>Text analytics has become a crucial tool in today’s information age for two main reasons: the </a:t>
            </a:r>
            <a:r>
              <a:rPr lang="en-US" b="1" dirty="0"/>
              <a:t>massive growth of text data</a:t>
            </a:r>
            <a:r>
              <a:rPr lang="en-US" dirty="0"/>
              <a:t> and its unique ability to </a:t>
            </a:r>
            <a:r>
              <a:rPr lang="en-US" b="1" dirty="0"/>
              <a:t>extract valuable insights</a:t>
            </a:r>
            <a:r>
              <a:rPr lang="en-US" dirty="0"/>
              <a:t> hidden within that data.</a:t>
            </a:r>
          </a:p>
          <a:p>
            <a:pPr fontAlgn="base"/>
            <a:r>
              <a:rPr lang="en-US" b="1" dirty="0"/>
              <a:t>1. Explosion of Text Data:</a:t>
            </a:r>
            <a:endParaRPr lang="en-US" dirty="0"/>
          </a:p>
          <a:p>
            <a:pPr algn="just" fontAlgn="base"/>
            <a:r>
              <a:rPr lang="en-US" dirty="0"/>
              <a:t>We generate an immense amount of text data daily, from emails and social media posts to customer reviews, documents, and online articles.</a:t>
            </a:r>
          </a:p>
          <a:p>
            <a:pPr algn="just" fontAlgn="base"/>
            <a:r>
              <a:rPr lang="en-US" dirty="0"/>
              <a:t>Traditional data analysis methods struggle with this </a:t>
            </a:r>
            <a:r>
              <a:rPr lang="en-US" b="1" dirty="0"/>
              <a:t>unstructured</a:t>
            </a:r>
            <a:r>
              <a:rPr lang="en-US" dirty="0"/>
              <a:t> format. Text data lacks the neat rows and columns of traditional databases.</a:t>
            </a:r>
          </a:p>
          <a:p>
            <a:pPr fontAlgn="base"/>
            <a:r>
              <a:rPr lang="en-US" dirty="0"/>
              <a:t>Text analytics bridges this gap, allowing us to unlock meaning and value from this vast and ever-growing resource.</a:t>
            </a:r>
          </a:p>
          <a:p>
            <a:pPr fontAlgn="base"/>
            <a:r>
              <a:rPr lang="en-US" b="1" dirty="0"/>
              <a:t>2. Uncovering Hidden Gems:</a:t>
            </a:r>
            <a:endParaRPr lang="en-US" dirty="0"/>
          </a:p>
          <a:p>
            <a:pPr algn="just" fontAlgn="base"/>
            <a:r>
              <a:rPr lang="en-US" dirty="0"/>
              <a:t>Text data is rich with information about people’s opinions, experiences, and behaviors.</a:t>
            </a:r>
          </a:p>
          <a:p>
            <a:pPr algn="just" fontAlgn="base"/>
            <a:r>
              <a:rPr lang="en-US" dirty="0"/>
              <a:t>By analyzing this data, we can discover hidden trends, patterns, and emotions that wouldn’t be readily apparent otherwise.</a:t>
            </a:r>
          </a:p>
          <a:p>
            <a:pPr fontAlgn="base"/>
            <a:r>
              <a:rPr lang="en-US" dirty="0"/>
              <a:t>This can lead to significant benefits in various fields:</a:t>
            </a:r>
          </a:p>
          <a:p>
            <a:pPr lvl="1" algn="just" fontAlgn="base"/>
            <a:r>
              <a:rPr lang="en-US" b="1" dirty="0"/>
              <a:t>Businesses:</a:t>
            </a:r>
            <a:r>
              <a:rPr lang="en-US" dirty="0"/>
              <a:t> Improved decision-making through understanding customer sentiment, identifying market trends, and optimizing marketing campaigns.</a:t>
            </a:r>
          </a:p>
          <a:p>
            <a:pPr lvl="1" algn="just" fontAlgn="base"/>
            <a:r>
              <a:rPr lang="en-US" b="1" dirty="0"/>
              <a:t>Research:</a:t>
            </a:r>
            <a:r>
              <a:rPr lang="en-US" dirty="0"/>
              <a:t> Faster scientific discoveries by analyzing large volumes of research papers and uncovering hidden connections.</a:t>
            </a:r>
          </a:p>
          <a:p>
            <a:pPr lvl="1" algn="just" fontAlgn="base"/>
            <a:r>
              <a:rPr lang="en-US" b="1" dirty="0"/>
              <a:t>Society:</a:t>
            </a:r>
            <a:r>
              <a:rPr lang="en-US" dirty="0"/>
              <a:t> Gaining a deeper understanding of social issues by analyzing public discourse on social media and identifying areas for improvement.</a:t>
            </a:r>
          </a:p>
          <a:p>
            <a:endParaRPr lang="en-IN" dirty="0"/>
          </a:p>
        </p:txBody>
      </p:sp>
    </p:spTree>
    <p:extLst>
      <p:ext uri="{BB962C8B-B14F-4D97-AF65-F5344CB8AC3E}">
        <p14:creationId xmlns:p14="http://schemas.microsoft.com/office/powerpoint/2010/main" val="175866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980"/>
            <a:ext cx="10515600" cy="641639"/>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What </a:t>
            </a:r>
            <a:r>
              <a:rPr lang="en-US" b="1" dirty="0">
                <a:solidFill>
                  <a:srgbClr val="FF0000"/>
                </a:solidFill>
              </a:rPr>
              <a:t>Text Analytics Can Do?</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895927"/>
            <a:ext cx="10515600" cy="5281036"/>
          </a:xfrm>
        </p:spPr>
        <p:txBody>
          <a:bodyPr>
            <a:normAutofit lnSpcReduction="10000"/>
          </a:bodyPr>
          <a:lstStyle/>
          <a:p>
            <a:pPr fontAlgn="base"/>
            <a:r>
              <a:rPr lang="en-US" dirty="0"/>
              <a:t>Text analytics is a powerful tool that unlocks the meaning and value hidden within mountains of text data. It’s like having a </a:t>
            </a:r>
            <a:r>
              <a:rPr lang="en-US" dirty="0" smtClean="0"/>
              <a:t>super powered </a:t>
            </a:r>
            <a:r>
              <a:rPr lang="en-US" dirty="0"/>
              <a:t>decoder ring for the vast amount of information we generate every day. Here are some of the key things text analytics can do:</a:t>
            </a:r>
          </a:p>
          <a:p>
            <a:pPr fontAlgn="base"/>
            <a:r>
              <a:rPr lang="en-US" b="1" dirty="0"/>
              <a:t>Extracting Meaning from Text:</a:t>
            </a:r>
            <a:r>
              <a:rPr lang="en-US" dirty="0"/>
              <a:t> Imagine sifting through mountains of emails, social media posts, or customer reviews. Text analytics can identify common themes, trends, and patterns within this data. </a:t>
            </a:r>
            <a:r>
              <a:rPr lang="en-US" b="1" dirty="0"/>
              <a:t>It can reveal what people are talking about, the problems they’re facing, and the emotions they’re expressing.</a:t>
            </a:r>
          </a:p>
          <a:p>
            <a:pPr fontAlgn="base"/>
            <a:r>
              <a:rPr lang="en-US" b="1" dirty="0"/>
              <a:t>Sentiment Analysis:</a:t>
            </a:r>
            <a:r>
              <a:rPr lang="en-US" dirty="0"/>
              <a:t> Not all text is created equal. Text analytics can delve deeper and understand the emotions and opinions conveyed in the text. </a:t>
            </a:r>
            <a:r>
              <a:rPr lang="en-US" b="1" dirty="0"/>
              <a:t>It can tell you if a customer review is glowing with praise or brimming with frustration. </a:t>
            </a:r>
            <a:r>
              <a:rPr lang="en-US" dirty="0"/>
              <a:t>This allows businesses to gauge customer sentiment and satisfaction.</a:t>
            </a:r>
          </a:p>
          <a:p>
            <a:endParaRPr lang="en-IN" dirty="0"/>
          </a:p>
        </p:txBody>
      </p:sp>
    </p:spTree>
    <p:extLst>
      <p:ext uri="{BB962C8B-B14F-4D97-AF65-F5344CB8AC3E}">
        <p14:creationId xmlns:p14="http://schemas.microsoft.com/office/powerpoint/2010/main" val="32992261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5236"/>
            <a:ext cx="10515600" cy="5151727"/>
          </a:xfrm>
        </p:spPr>
        <p:txBody>
          <a:bodyPr>
            <a:normAutofit fontScale="92500" lnSpcReduction="10000"/>
          </a:bodyPr>
          <a:lstStyle/>
          <a:p>
            <a:pPr algn="just" fontAlgn="base"/>
            <a:r>
              <a:rPr lang="en-US" b="1" dirty="0"/>
              <a:t>Topic Modeling:</a:t>
            </a:r>
            <a:r>
              <a:rPr lang="en-US" dirty="0"/>
              <a:t> Have a massive collection of documents or articles? Text analytics can uncover the hidden structure. Through topic modeling, it can identify the </a:t>
            </a:r>
            <a:r>
              <a:rPr lang="en-US" b="1" dirty="0"/>
              <a:t>main subjects discussed within the text corpus</a:t>
            </a:r>
            <a:r>
              <a:rPr lang="en-US" dirty="0"/>
              <a:t>. This is like automatically generating a detailed table of contents for a vast amount of information.</a:t>
            </a:r>
          </a:p>
          <a:p>
            <a:pPr algn="just" fontAlgn="base"/>
            <a:r>
              <a:rPr lang="en-US" b="1" dirty="0"/>
              <a:t>Entity Recognition:</a:t>
            </a:r>
            <a:r>
              <a:rPr lang="en-US" dirty="0"/>
              <a:t> The world is full of people, places, and organizations. Text analytics can act like a </a:t>
            </a:r>
            <a:r>
              <a:rPr lang="en-US" b="1" dirty="0"/>
              <a:t>super-powered highlighter, identifying these entities mentioned within text data</a:t>
            </a:r>
            <a:r>
              <a:rPr lang="en-US" dirty="0"/>
              <a:t>. This can be incredibly useful for tasks like tracking mentions of a brand on social media or identifying key players in a research paper.</a:t>
            </a:r>
          </a:p>
          <a:p>
            <a:pPr algn="just" fontAlgn="base"/>
            <a:r>
              <a:rPr lang="en-US" b="1" dirty="0"/>
              <a:t>Text Classification:</a:t>
            </a:r>
            <a:r>
              <a:rPr lang="en-US" dirty="0"/>
              <a:t> Sometimes you just need to sort things into piles. Text analytics </a:t>
            </a:r>
            <a:r>
              <a:rPr lang="en-US" b="1" dirty="0"/>
              <a:t>can categorize text data into predefined groups. </a:t>
            </a:r>
            <a:r>
              <a:rPr lang="en-US" dirty="0"/>
              <a:t>Imagine automatically classifying emails as spam or important, or sorting customer reviews by product category. This allows for efficient organization and analysis of large amounts of textual data.</a:t>
            </a:r>
          </a:p>
          <a:p>
            <a:endParaRPr lang="en-IN" dirty="0"/>
          </a:p>
        </p:txBody>
      </p:sp>
      <p:sp>
        <p:nvSpPr>
          <p:cNvPr id="4" name="Title 1"/>
          <p:cNvSpPr>
            <a:spLocks noGrp="1"/>
          </p:cNvSpPr>
          <p:nvPr>
            <p:ph type="title"/>
          </p:nvPr>
        </p:nvSpPr>
        <p:spPr>
          <a:xfrm>
            <a:off x="838200" y="365125"/>
            <a:ext cx="10515600" cy="660111"/>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What </a:t>
            </a:r>
            <a:r>
              <a:rPr lang="en-US" b="1" dirty="0">
                <a:solidFill>
                  <a:srgbClr val="FF0000"/>
                </a:solidFill>
              </a:rPr>
              <a:t>Text Analytics Can Do?</a:t>
            </a:r>
            <a:br>
              <a:rPr lang="en-US" b="1" dirty="0">
                <a:solidFill>
                  <a:srgbClr val="FF0000"/>
                </a:solidFill>
              </a:rPr>
            </a:br>
            <a:endParaRPr lang="en-IN" dirty="0">
              <a:solidFill>
                <a:srgbClr val="FF0000"/>
              </a:solidFill>
            </a:endParaRPr>
          </a:p>
        </p:txBody>
      </p:sp>
    </p:spTree>
    <p:extLst>
      <p:ext uri="{BB962C8B-B14F-4D97-AF65-F5344CB8AC3E}">
        <p14:creationId xmlns:p14="http://schemas.microsoft.com/office/powerpoint/2010/main" val="2525505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1639"/>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How </a:t>
            </a:r>
            <a:r>
              <a:rPr lang="en-IN" b="1" dirty="0">
                <a:solidFill>
                  <a:srgbClr val="FF0000"/>
                </a:solidFill>
              </a:rPr>
              <a:t>Text Analytics Work?</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600363" y="1191491"/>
            <a:ext cx="11009745" cy="4985472"/>
          </a:xfrm>
        </p:spPr>
        <p:txBody>
          <a:bodyPr/>
          <a:lstStyle/>
          <a:p>
            <a:pPr algn="just"/>
            <a:r>
              <a:rPr lang="en-US" dirty="0"/>
              <a:t>Text Analytics process typically includes several key steps, such as language identification,</a:t>
            </a:r>
            <a:r>
              <a:rPr lang="en-US" u="sng" dirty="0">
                <a:hlinkClick r:id="rId2"/>
              </a:rPr>
              <a:t> tokenization</a:t>
            </a:r>
            <a:r>
              <a:rPr lang="en-US" dirty="0"/>
              <a:t>, sentence breaking, part-of-speech tagging, </a:t>
            </a:r>
            <a:r>
              <a:rPr lang="en-US" u="sng" dirty="0">
                <a:hlinkClick r:id="rId3"/>
              </a:rPr>
              <a:t>chunking</a:t>
            </a:r>
            <a:r>
              <a:rPr lang="en-US" dirty="0"/>
              <a:t>, syntax parsing, and sentence chaining.</a:t>
            </a:r>
            <a:endParaRPr lang="en-IN" dirty="0"/>
          </a:p>
        </p:txBody>
      </p:sp>
      <p:pic>
        <p:nvPicPr>
          <p:cNvPr id="4" name="Picture 3"/>
          <p:cNvPicPr>
            <a:picLocks noChangeAspect="1"/>
          </p:cNvPicPr>
          <p:nvPr/>
        </p:nvPicPr>
        <p:blipFill>
          <a:blip r:embed="rId4"/>
          <a:stretch>
            <a:fillRect/>
          </a:stretch>
        </p:blipFill>
        <p:spPr>
          <a:xfrm>
            <a:off x="532245" y="2856491"/>
            <a:ext cx="10889673" cy="3320472"/>
          </a:xfrm>
          <a:prstGeom prst="rect">
            <a:avLst/>
          </a:prstGeom>
        </p:spPr>
      </p:pic>
    </p:spTree>
    <p:extLst>
      <p:ext uri="{BB962C8B-B14F-4D97-AF65-F5344CB8AC3E}">
        <p14:creationId xmlns:p14="http://schemas.microsoft.com/office/powerpoint/2010/main" val="3625095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9493"/>
          </a:xfrm>
        </p:spPr>
        <p:txBody>
          <a:bodyPr/>
          <a:lstStyle/>
          <a:p>
            <a:r>
              <a:rPr lang="en-US" b="1" dirty="0" smtClean="0">
                <a:solidFill>
                  <a:srgbClr val="FF0000"/>
                </a:solidFill>
              </a:rPr>
              <a:t>Steps in Text Analytics</a:t>
            </a:r>
            <a:endParaRPr lang="en-IN" b="1" dirty="0">
              <a:solidFill>
                <a:srgbClr val="FF0000"/>
              </a:solidFill>
            </a:endParaRPr>
          </a:p>
        </p:txBody>
      </p:sp>
      <p:sp>
        <p:nvSpPr>
          <p:cNvPr id="3" name="Content Placeholder 2"/>
          <p:cNvSpPr>
            <a:spLocks noGrp="1"/>
          </p:cNvSpPr>
          <p:nvPr>
            <p:ph idx="1"/>
          </p:nvPr>
        </p:nvSpPr>
        <p:spPr>
          <a:xfrm>
            <a:off x="838200" y="1274618"/>
            <a:ext cx="10515600" cy="4902345"/>
          </a:xfrm>
        </p:spPr>
        <p:txBody>
          <a:bodyPr>
            <a:normAutofit lnSpcReduction="10000"/>
          </a:bodyPr>
          <a:lstStyle/>
          <a:p>
            <a:pPr fontAlgn="base"/>
            <a:r>
              <a:rPr lang="en-US" b="1" dirty="0"/>
              <a:t>Language Identification</a:t>
            </a:r>
          </a:p>
          <a:p>
            <a:pPr fontAlgn="base"/>
            <a:r>
              <a:rPr lang="en-US" b="1" dirty="0"/>
              <a:t>Objective:</a:t>
            </a:r>
            <a:r>
              <a:rPr lang="en-US" dirty="0"/>
              <a:t> Determine the language in which the text is written.</a:t>
            </a:r>
          </a:p>
          <a:p>
            <a:pPr fontAlgn="base"/>
            <a:r>
              <a:rPr lang="en-US" b="1" dirty="0"/>
              <a:t>How it works:</a:t>
            </a:r>
            <a:r>
              <a:rPr lang="en-US" dirty="0"/>
              <a:t> Algorithms analyze patterns within the text to identify the language. This is essential for subsequent processing steps, as different languages may have different rules and structures.</a:t>
            </a:r>
          </a:p>
          <a:p>
            <a:pPr fontAlgn="base"/>
            <a:r>
              <a:rPr lang="en-US" b="1" dirty="0"/>
              <a:t>Tokenization</a:t>
            </a:r>
          </a:p>
          <a:p>
            <a:pPr fontAlgn="base"/>
            <a:r>
              <a:rPr lang="en-US" b="1" dirty="0"/>
              <a:t>Objective:</a:t>
            </a:r>
            <a:r>
              <a:rPr lang="en-US" dirty="0"/>
              <a:t> Divide the text into individual units, often words or sub-word units (tokens).</a:t>
            </a:r>
          </a:p>
          <a:p>
            <a:pPr fontAlgn="base"/>
            <a:r>
              <a:rPr lang="en-US" b="1" dirty="0"/>
              <a:t>How it works: </a:t>
            </a:r>
            <a:r>
              <a:rPr lang="en-US" dirty="0"/>
              <a:t>Tokenization breaks down the text into meaningful units, making it easier to analyze and process. It involves identifying word boundaries and handling punctuation.</a:t>
            </a:r>
          </a:p>
          <a:p>
            <a:endParaRPr lang="en-IN" dirty="0"/>
          </a:p>
        </p:txBody>
      </p:sp>
    </p:spTree>
    <p:extLst>
      <p:ext uri="{BB962C8B-B14F-4D97-AF65-F5344CB8AC3E}">
        <p14:creationId xmlns:p14="http://schemas.microsoft.com/office/powerpoint/2010/main" val="938349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99128"/>
            <a:ext cx="10515600" cy="5077835"/>
          </a:xfrm>
        </p:spPr>
        <p:txBody>
          <a:bodyPr>
            <a:normAutofit lnSpcReduction="10000"/>
          </a:bodyPr>
          <a:lstStyle/>
          <a:p>
            <a:pPr fontAlgn="base"/>
            <a:r>
              <a:rPr lang="en-US" b="1" dirty="0"/>
              <a:t>Sentence Breaking</a:t>
            </a:r>
          </a:p>
          <a:p>
            <a:pPr fontAlgn="base"/>
            <a:r>
              <a:rPr lang="en-US" b="1" dirty="0"/>
              <a:t>Objective: </a:t>
            </a:r>
            <a:r>
              <a:rPr lang="en-US" dirty="0"/>
              <a:t>Identify and separate individual sentences in the text.</a:t>
            </a:r>
          </a:p>
          <a:p>
            <a:pPr fontAlgn="base"/>
            <a:r>
              <a:rPr lang="en-US" b="1" dirty="0"/>
              <a:t>How it works:</a:t>
            </a:r>
            <a:r>
              <a:rPr lang="en-US" dirty="0"/>
              <a:t> Algorithms analyze the text to determine where one sentence ends and another begins. This is crucial for tasks that require understanding the context of sentences.</a:t>
            </a:r>
          </a:p>
          <a:p>
            <a:pPr fontAlgn="base"/>
            <a:r>
              <a:rPr lang="en-US" b="1" dirty="0"/>
              <a:t>Part of Speech Tagging</a:t>
            </a:r>
          </a:p>
          <a:p>
            <a:pPr fontAlgn="base"/>
            <a:r>
              <a:rPr lang="en-US" b="1" dirty="0"/>
              <a:t>Objective: </a:t>
            </a:r>
            <a:r>
              <a:rPr lang="en-US" dirty="0"/>
              <a:t>Assign a grammatical category (part of speech) to each token in a sentence.</a:t>
            </a:r>
          </a:p>
          <a:p>
            <a:pPr fontAlgn="base"/>
            <a:r>
              <a:rPr lang="en-US" b="1" dirty="0"/>
              <a:t>How it works:</a:t>
            </a:r>
            <a:r>
              <a:rPr lang="en-US" dirty="0"/>
              <a:t> </a:t>
            </a:r>
            <a:r>
              <a:rPr lang="en-US" u="sng" dirty="0">
                <a:hlinkClick r:id="rId2"/>
              </a:rPr>
              <a:t>Machine learning models</a:t>
            </a:r>
            <a:r>
              <a:rPr lang="en-US" dirty="0"/>
              <a:t> or rule-based systems analyze the context and relationships between words to assign appropriate part-of-speech tags (e.g., noun, verb, adjective) to each token.</a:t>
            </a:r>
          </a:p>
          <a:p>
            <a:endParaRPr lang="en-IN" dirty="0"/>
          </a:p>
        </p:txBody>
      </p:sp>
      <p:sp>
        <p:nvSpPr>
          <p:cNvPr id="4" name="Title 1"/>
          <p:cNvSpPr>
            <a:spLocks noGrp="1"/>
          </p:cNvSpPr>
          <p:nvPr>
            <p:ph type="title"/>
          </p:nvPr>
        </p:nvSpPr>
        <p:spPr>
          <a:xfrm>
            <a:off x="838200" y="365126"/>
            <a:ext cx="10515600" cy="734002"/>
          </a:xfrm>
        </p:spPr>
        <p:txBody>
          <a:bodyPr/>
          <a:lstStyle/>
          <a:p>
            <a:r>
              <a:rPr lang="en-US" b="1" dirty="0" smtClean="0">
                <a:solidFill>
                  <a:srgbClr val="FF0000"/>
                </a:solidFill>
              </a:rPr>
              <a:t>Steps in Text Analytics</a:t>
            </a:r>
            <a:endParaRPr lang="en-IN" b="1" dirty="0">
              <a:solidFill>
                <a:srgbClr val="FF0000"/>
              </a:solidFill>
            </a:endParaRPr>
          </a:p>
        </p:txBody>
      </p:sp>
    </p:spTree>
    <p:extLst>
      <p:ext uri="{BB962C8B-B14F-4D97-AF65-F5344CB8AC3E}">
        <p14:creationId xmlns:p14="http://schemas.microsoft.com/office/powerpoint/2010/main" val="2633183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17600"/>
            <a:ext cx="10515600" cy="5059363"/>
          </a:xfrm>
        </p:spPr>
        <p:txBody>
          <a:bodyPr>
            <a:normAutofit fontScale="92500" lnSpcReduction="10000"/>
          </a:bodyPr>
          <a:lstStyle/>
          <a:p>
            <a:pPr fontAlgn="base"/>
            <a:r>
              <a:rPr lang="en-US" b="1" dirty="0"/>
              <a:t>Chunking</a:t>
            </a:r>
          </a:p>
          <a:p>
            <a:pPr fontAlgn="base"/>
            <a:r>
              <a:rPr lang="en-US" b="1" dirty="0"/>
              <a:t>Objective:</a:t>
            </a:r>
            <a:r>
              <a:rPr lang="en-US" dirty="0"/>
              <a:t> Identify and group related words (tokens) together, often based on the part-of-speech tags.</a:t>
            </a:r>
          </a:p>
          <a:p>
            <a:pPr fontAlgn="base"/>
            <a:r>
              <a:rPr lang="en-US" b="1" dirty="0"/>
              <a:t>How it works:</a:t>
            </a:r>
            <a:r>
              <a:rPr lang="en-US" dirty="0"/>
              <a:t> Chunking helps in identifying phrases or meaningful chunks within a sentence. This step is useful for extracting information about specific entities or relationships between words.</a:t>
            </a:r>
          </a:p>
          <a:p>
            <a:pPr fontAlgn="base"/>
            <a:r>
              <a:rPr lang="en-US" b="1" dirty="0"/>
              <a:t>Syntax Parsing</a:t>
            </a:r>
          </a:p>
          <a:p>
            <a:pPr fontAlgn="base"/>
            <a:r>
              <a:rPr lang="en-US" b="1" dirty="0"/>
              <a:t>Objective:</a:t>
            </a:r>
            <a:r>
              <a:rPr lang="en-US" dirty="0"/>
              <a:t> Analyze the grammatical structure of sentences to understand relationships between words.</a:t>
            </a:r>
          </a:p>
          <a:p>
            <a:pPr fontAlgn="base"/>
            <a:r>
              <a:rPr lang="en-US" b="1" dirty="0"/>
              <a:t>How it works:</a:t>
            </a:r>
            <a:r>
              <a:rPr lang="en-US" dirty="0"/>
              <a:t> Syntax parsing involves creating a syntactic tree that represents the grammatical structure of a sentence. This tree helps in understanding the syntactic relationships and dependencies between words.</a:t>
            </a:r>
          </a:p>
          <a:p>
            <a:endParaRPr lang="en-IN" dirty="0"/>
          </a:p>
        </p:txBody>
      </p:sp>
      <p:sp>
        <p:nvSpPr>
          <p:cNvPr id="12" name="Title 1"/>
          <p:cNvSpPr>
            <a:spLocks noGrp="1"/>
          </p:cNvSpPr>
          <p:nvPr>
            <p:ph type="title"/>
          </p:nvPr>
        </p:nvSpPr>
        <p:spPr>
          <a:xfrm>
            <a:off x="838200" y="365125"/>
            <a:ext cx="10515600" cy="752475"/>
          </a:xfrm>
        </p:spPr>
        <p:txBody>
          <a:bodyPr/>
          <a:lstStyle/>
          <a:p>
            <a:r>
              <a:rPr lang="en-US" b="1" dirty="0" smtClean="0">
                <a:solidFill>
                  <a:srgbClr val="FF0000"/>
                </a:solidFill>
              </a:rPr>
              <a:t>Steps in Text Analytics</a:t>
            </a:r>
            <a:endParaRPr lang="en-IN" b="1" dirty="0">
              <a:solidFill>
                <a:srgbClr val="FF0000"/>
              </a:solidFill>
            </a:endParaRPr>
          </a:p>
        </p:txBody>
      </p:sp>
    </p:spTree>
    <p:extLst>
      <p:ext uri="{BB962C8B-B14F-4D97-AF65-F5344CB8AC3E}">
        <p14:creationId xmlns:p14="http://schemas.microsoft.com/office/powerpoint/2010/main" val="12057782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36073"/>
            <a:ext cx="10515600" cy="5040890"/>
          </a:xfrm>
        </p:spPr>
        <p:txBody>
          <a:bodyPr/>
          <a:lstStyle/>
          <a:p>
            <a:pPr fontAlgn="base"/>
            <a:r>
              <a:rPr lang="en-US" b="1" dirty="0"/>
              <a:t>Sentence Chaining</a:t>
            </a:r>
          </a:p>
          <a:p>
            <a:pPr fontAlgn="base"/>
            <a:r>
              <a:rPr lang="en-US" b="1" dirty="0"/>
              <a:t>Objective: </a:t>
            </a:r>
            <a:r>
              <a:rPr lang="en-US" dirty="0"/>
              <a:t>Connect and understand the relationships between multiple sentences.</a:t>
            </a:r>
          </a:p>
          <a:p>
            <a:pPr fontAlgn="base"/>
            <a:r>
              <a:rPr lang="en-US" b="1" dirty="0"/>
              <a:t>How it works: </a:t>
            </a:r>
            <a:r>
              <a:rPr lang="en-US" dirty="0"/>
              <a:t>Algorithms analyze the content and context of different sentences to establish connections or dependencies between them. This step is crucial for tasks that require a broader understanding of the text, such as summarization or document-level sentiment analysis.</a:t>
            </a:r>
          </a:p>
          <a:p>
            <a:endParaRPr lang="en-IN" dirty="0"/>
          </a:p>
        </p:txBody>
      </p:sp>
      <p:sp>
        <p:nvSpPr>
          <p:cNvPr id="4" name="Title 1"/>
          <p:cNvSpPr>
            <a:spLocks noGrp="1"/>
          </p:cNvSpPr>
          <p:nvPr>
            <p:ph type="title"/>
          </p:nvPr>
        </p:nvSpPr>
        <p:spPr>
          <a:xfrm>
            <a:off x="838200" y="365125"/>
            <a:ext cx="10515600" cy="697057"/>
          </a:xfrm>
        </p:spPr>
        <p:txBody>
          <a:bodyPr/>
          <a:lstStyle/>
          <a:p>
            <a:r>
              <a:rPr lang="en-US" b="1" dirty="0" smtClean="0">
                <a:solidFill>
                  <a:srgbClr val="FF0000"/>
                </a:solidFill>
              </a:rPr>
              <a:t>Steps in Text Analytics</a:t>
            </a:r>
            <a:endParaRPr lang="en-IN" b="1" dirty="0">
              <a:solidFill>
                <a:srgbClr val="FF0000"/>
              </a:solidFill>
            </a:endParaRPr>
          </a:p>
        </p:txBody>
      </p:sp>
    </p:spTree>
    <p:extLst>
      <p:ext uri="{BB962C8B-B14F-4D97-AF65-F5344CB8AC3E}">
        <p14:creationId xmlns:p14="http://schemas.microsoft.com/office/powerpoint/2010/main" val="2804571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293"/>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Various </a:t>
            </a:r>
            <a:r>
              <a:rPr lang="en-IN" b="1" dirty="0">
                <a:solidFill>
                  <a:srgbClr val="FF0000"/>
                </a:solidFill>
              </a:rPr>
              <a:t>Text Analytics Techniques</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163782"/>
            <a:ext cx="10515600" cy="5264727"/>
          </a:xfrm>
        </p:spPr>
        <p:txBody>
          <a:bodyPr>
            <a:normAutofit fontScale="77500" lnSpcReduction="20000"/>
          </a:bodyPr>
          <a:lstStyle/>
          <a:p>
            <a:pPr algn="just" fontAlgn="base"/>
            <a:r>
              <a:rPr lang="en-US" b="1" dirty="0"/>
              <a:t>Sentiment Analysis: </a:t>
            </a:r>
            <a:r>
              <a:rPr lang="en-US" dirty="0"/>
              <a:t>Analyzing social media comments, customer reviews, or survey responses to understand and evaluate the sentiment towards a product, brand, or service.</a:t>
            </a:r>
          </a:p>
          <a:p>
            <a:pPr algn="just" fontAlgn="base"/>
            <a:r>
              <a:rPr lang="en-US" b="1" dirty="0"/>
              <a:t>Customer Feedback Analysis:</a:t>
            </a:r>
            <a:r>
              <a:rPr lang="en-US" dirty="0"/>
              <a:t> Extracting valuable insights from customer feedback to identify areas of improvement, track customer satisfaction, and enhance product or service offerings.</a:t>
            </a:r>
          </a:p>
          <a:p>
            <a:pPr algn="just" fontAlgn="base"/>
            <a:r>
              <a:rPr lang="en-US" b="1" dirty="0"/>
              <a:t>Social Media Monitoring:</a:t>
            </a:r>
            <a:r>
              <a:rPr lang="en-US" dirty="0"/>
              <a:t> Monitoring and analyzing social media content to gain insights into public opinions, trends, and reactions related to a particular topic, brand, or event.</a:t>
            </a:r>
          </a:p>
          <a:p>
            <a:pPr algn="just" fontAlgn="base"/>
            <a:r>
              <a:rPr lang="en-US" b="1" dirty="0"/>
              <a:t>Market Research:</a:t>
            </a:r>
            <a:r>
              <a:rPr lang="en-US" dirty="0"/>
              <a:t> Analyzing large volumes of textual data to identify market trends, consumer preferences, and competitive intelligence.</a:t>
            </a:r>
          </a:p>
          <a:p>
            <a:pPr algn="just" fontAlgn="base"/>
            <a:r>
              <a:rPr lang="en-US" b="1" dirty="0"/>
              <a:t>Email Filtering and Classification:</a:t>
            </a:r>
            <a:r>
              <a:rPr lang="en-US" dirty="0"/>
              <a:t> Automatically categorizing and filtering emails based on content, helping in prioritizing and organizing incoming messages.</a:t>
            </a:r>
          </a:p>
          <a:p>
            <a:pPr fontAlgn="base"/>
            <a:r>
              <a:rPr lang="en-US" b="1" dirty="0"/>
              <a:t>Content Summarization:</a:t>
            </a:r>
            <a:r>
              <a:rPr lang="en-US" dirty="0"/>
              <a:t> Summarizing lengthy documents, articles, or reports to provide concise and informative summaries for quick understanding.</a:t>
            </a:r>
          </a:p>
          <a:p>
            <a:pPr algn="just" fontAlgn="base"/>
            <a:r>
              <a:rPr lang="en-US" b="1" dirty="0" err="1"/>
              <a:t>Chatbot</a:t>
            </a:r>
            <a:r>
              <a:rPr lang="en-US" b="1" dirty="0"/>
              <a:t> Development:</a:t>
            </a:r>
            <a:r>
              <a:rPr lang="en-US" dirty="0"/>
              <a:t> Implementing natural language processing to develop intelligent </a:t>
            </a:r>
            <a:r>
              <a:rPr lang="en-US" dirty="0" err="1"/>
              <a:t>chatbots</a:t>
            </a:r>
            <a:r>
              <a:rPr lang="en-US" dirty="0"/>
              <a:t> that can understand and respond to user queries in a human-like manner.</a:t>
            </a:r>
          </a:p>
          <a:p>
            <a:endParaRPr lang="en-IN" dirty="0"/>
          </a:p>
        </p:txBody>
      </p:sp>
    </p:spTree>
    <p:extLst>
      <p:ext uri="{BB962C8B-B14F-4D97-AF65-F5344CB8AC3E}">
        <p14:creationId xmlns:p14="http://schemas.microsoft.com/office/powerpoint/2010/main" val="4179183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348"/>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Application </a:t>
            </a:r>
            <a:r>
              <a:rPr lang="en-IN" b="1" dirty="0">
                <a:solidFill>
                  <a:srgbClr val="FF0000"/>
                </a:solidFill>
              </a:rPr>
              <a:t>of Text Analysis</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034474"/>
            <a:ext cx="10515600" cy="5142489"/>
          </a:xfrm>
        </p:spPr>
        <p:txBody>
          <a:bodyPr>
            <a:normAutofit/>
          </a:bodyPr>
          <a:lstStyle/>
          <a:p>
            <a:pPr fontAlgn="base"/>
            <a:r>
              <a:rPr lang="en-US" b="1" dirty="0"/>
              <a:t>Legal Document Analysis: </a:t>
            </a:r>
            <a:r>
              <a:rPr lang="en-US" dirty="0"/>
              <a:t>Assisting legal professionals in parsing and summarizing complex legal documents for faster comprehension.</a:t>
            </a:r>
          </a:p>
          <a:p>
            <a:pPr fontAlgn="base"/>
            <a:r>
              <a:rPr lang="en-US" b="1" dirty="0"/>
              <a:t>Healthcare Data Insights: </a:t>
            </a:r>
            <a:r>
              <a:rPr lang="en-US" dirty="0"/>
              <a:t>Analyzing medical records and patient feedback to derive insights for improved healthcare services and patient care.</a:t>
            </a:r>
          </a:p>
          <a:p>
            <a:pPr fontAlgn="base"/>
            <a:r>
              <a:rPr lang="en-US" b="1" dirty="0"/>
              <a:t>Financial Data Evaluation:</a:t>
            </a:r>
            <a:r>
              <a:rPr lang="en-US" dirty="0"/>
              <a:t> Enhancing fraud detection by scrutinizing large volumes of financial texts to identify irregularities and potential risks.</a:t>
            </a:r>
          </a:p>
          <a:p>
            <a:pPr fontAlgn="base"/>
            <a:r>
              <a:rPr lang="en-US" b="1" dirty="0"/>
              <a:t>Educational Content Enhancement:</a:t>
            </a:r>
            <a:r>
              <a:rPr lang="en-US" dirty="0"/>
              <a:t> Improving educational materials by analyzing student feedback and adapting content to better suit learning needs.</a:t>
            </a:r>
          </a:p>
          <a:p>
            <a:endParaRPr lang="en-IN" dirty="0"/>
          </a:p>
        </p:txBody>
      </p:sp>
    </p:spTree>
    <p:extLst>
      <p:ext uri="{BB962C8B-B14F-4D97-AF65-F5344CB8AC3E}">
        <p14:creationId xmlns:p14="http://schemas.microsoft.com/office/powerpoint/2010/main" val="3968735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057"/>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What </a:t>
            </a:r>
            <a:r>
              <a:rPr lang="en-IN" b="1" dirty="0">
                <a:solidFill>
                  <a:srgbClr val="FF0000"/>
                </a:solidFill>
              </a:rPr>
              <a:t>is web analytics?</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191491"/>
            <a:ext cx="10515600" cy="4985472"/>
          </a:xfrm>
        </p:spPr>
        <p:txBody>
          <a:bodyPr>
            <a:normAutofit/>
          </a:bodyPr>
          <a:lstStyle/>
          <a:p>
            <a:pPr algn="just"/>
            <a:r>
              <a:rPr lang="en-US" dirty="0"/>
              <a:t>Web analytics is the process of </a:t>
            </a:r>
            <a:r>
              <a:rPr lang="en-US" b="1" dirty="0"/>
              <a:t>analyzing the behavior of visitors to a website by tracking, reviewing and reporting</a:t>
            </a:r>
            <a:r>
              <a:rPr lang="en-US" dirty="0"/>
              <a:t> the data generated by their use of the site and its components, such as its webpages, images and videos. The goal is to provide </a:t>
            </a:r>
            <a:r>
              <a:rPr lang="en-US" u="sng" dirty="0">
                <a:hlinkClick r:id="rId2"/>
              </a:rPr>
              <a:t>actionable insights</a:t>
            </a:r>
            <a:r>
              <a:rPr lang="en-US" dirty="0"/>
              <a:t> that can help the site owner optimize the </a:t>
            </a:r>
            <a:r>
              <a:rPr lang="en-US" b="1" dirty="0"/>
              <a:t>website for users and meet business objectives such as increased traffic, conversions or sales.</a:t>
            </a:r>
          </a:p>
          <a:p>
            <a:pPr algn="just"/>
            <a:r>
              <a:rPr lang="en-US" dirty="0"/>
              <a:t>Collecting user behavioral data on a website or web application and analyzing that data for a specific purpose facilitates making decisions to achieve that purpose. Analytics tools communicate with web browsers to track and analyze online behavior, then generate results in human-readable formats like tables, charts or graphs.</a:t>
            </a:r>
          </a:p>
          <a:p>
            <a:endParaRPr lang="en-IN" dirty="0"/>
          </a:p>
        </p:txBody>
      </p:sp>
    </p:spTree>
    <p:extLst>
      <p:ext uri="{BB962C8B-B14F-4D97-AF65-F5344CB8AC3E}">
        <p14:creationId xmlns:p14="http://schemas.microsoft.com/office/powerpoint/2010/main" val="1231956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9420"/>
          </a:xfrm>
        </p:spPr>
        <p:txBody>
          <a:bodyPr/>
          <a:lstStyle/>
          <a:p>
            <a:r>
              <a:rPr lang="en-US" b="1" dirty="0" smtClean="0">
                <a:solidFill>
                  <a:srgbClr val="FF0000"/>
                </a:solidFill>
              </a:rPr>
              <a:t>Web Analytics</a:t>
            </a:r>
            <a:endParaRPr lang="en-IN" b="1" dirty="0">
              <a:solidFill>
                <a:srgbClr val="FF0000"/>
              </a:solidFill>
            </a:endParaRPr>
          </a:p>
        </p:txBody>
      </p:sp>
      <p:sp>
        <p:nvSpPr>
          <p:cNvPr id="3" name="Content Placeholder 2"/>
          <p:cNvSpPr>
            <a:spLocks noGrp="1"/>
          </p:cNvSpPr>
          <p:nvPr>
            <p:ph idx="1"/>
          </p:nvPr>
        </p:nvSpPr>
        <p:spPr>
          <a:xfrm>
            <a:off x="838200" y="1256145"/>
            <a:ext cx="10515600" cy="4920818"/>
          </a:xfrm>
        </p:spPr>
        <p:txBody>
          <a:bodyPr>
            <a:normAutofit fontScale="92500" lnSpcReduction="10000"/>
          </a:bodyPr>
          <a:lstStyle/>
          <a:p>
            <a:r>
              <a:rPr lang="en-US" dirty="0"/>
              <a:t>Data the tool collects may include traffic sources, referring sites, page visits or views, paths taken and </a:t>
            </a:r>
            <a:r>
              <a:rPr lang="en-US" u="sng" dirty="0">
                <a:hlinkClick r:id="rId2"/>
              </a:rPr>
              <a:t>conversion rates</a:t>
            </a:r>
            <a:r>
              <a:rPr lang="en-US" dirty="0"/>
              <a:t>, plus other metrics such as the following:</a:t>
            </a:r>
          </a:p>
          <a:p>
            <a:r>
              <a:rPr lang="en-US" dirty="0"/>
              <a:t>Overall traffic to the site or app.</a:t>
            </a:r>
          </a:p>
          <a:p>
            <a:r>
              <a:rPr lang="en-US" dirty="0"/>
              <a:t>Bounce rate.</a:t>
            </a:r>
          </a:p>
          <a:p>
            <a:r>
              <a:rPr lang="en-US" dirty="0"/>
              <a:t>New visitors.</a:t>
            </a:r>
          </a:p>
          <a:p>
            <a:r>
              <a:rPr lang="en-US" dirty="0"/>
              <a:t>Returning visitors, or repeat visit rate.</a:t>
            </a:r>
          </a:p>
          <a:p>
            <a:r>
              <a:rPr lang="en-US" dirty="0"/>
              <a:t>Time spent on the site.</a:t>
            </a:r>
          </a:p>
          <a:p>
            <a:r>
              <a:rPr lang="en-US" dirty="0"/>
              <a:t>Monthly unique visitors.</a:t>
            </a:r>
          </a:p>
          <a:p>
            <a:r>
              <a:rPr lang="en-US" dirty="0"/>
              <a:t>Besides those metrics, web analytics may track customer </a:t>
            </a:r>
            <a:r>
              <a:rPr lang="en-US" dirty="0" smtClean="0"/>
              <a:t>click through </a:t>
            </a:r>
            <a:r>
              <a:rPr lang="en-US" dirty="0"/>
              <a:t>and drilldown behavior and determine the sites from which customers most often arrive.</a:t>
            </a:r>
          </a:p>
          <a:p>
            <a:endParaRPr lang="en-IN" dirty="0"/>
          </a:p>
        </p:txBody>
      </p:sp>
    </p:spTree>
    <p:extLst>
      <p:ext uri="{BB962C8B-B14F-4D97-AF65-F5344CB8AC3E}">
        <p14:creationId xmlns:p14="http://schemas.microsoft.com/office/powerpoint/2010/main" val="42436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7130"/>
          </a:xfrm>
        </p:spPr>
        <p:txBody>
          <a:bodyPr/>
          <a:lstStyle/>
          <a:p>
            <a:r>
              <a:rPr lang="en-IN" b="1" dirty="0">
                <a:solidFill>
                  <a:srgbClr val="FF0000"/>
                </a:solidFill>
              </a:rPr>
              <a:t>Who uses web analytics?</a:t>
            </a:r>
          </a:p>
        </p:txBody>
      </p:sp>
      <p:sp>
        <p:nvSpPr>
          <p:cNvPr id="3" name="Content Placeholder 2"/>
          <p:cNvSpPr>
            <a:spLocks noGrp="1"/>
          </p:cNvSpPr>
          <p:nvPr>
            <p:ph idx="1"/>
          </p:nvPr>
        </p:nvSpPr>
        <p:spPr>
          <a:xfrm>
            <a:off x="838200" y="1182256"/>
            <a:ext cx="10515600" cy="4994707"/>
          </a:xfrm>
        </p:spPr>
        <p:txBody>
          <a:bodyPr>
            <a:normAutofit fontScale="92500" lnSpcReduction="20000"/>
          </a:bodyPr>
          <a:lstStyle/>
          <a:p>
            <a:r>
              <a:rPr lang="en-US" dirty="0"/>
              <a:t>Web analytics can benefit any business or individual that owns a website or web application and needs a way to understand and optimize its performance. The collection and analysis of web analytics can reveal ways to attract more visitors, retain more customers and even increase revenues from each customer.</a:t>
            </a:r>
          </a:p>
          <a:p>
            <a:r>
              <a:rPr lang="en-US" dirty="0"/>
              <a:t>Web analytics are also useful for the following:</a:t>
            </a:r>
          </a:p>
          <a:p>
            <a:r>
              <a:rPr lang="en-US" dirty="0"/>
              <a:t>User interface or </a:t>
            </a:r>
            <a:r>
              <a:rPr lang="en-US" u="sng" dirty="0">
                <a:hlinkClick r:id="rId2"/>
              </a:rPr>
              <a:t>user experience</a:t>
            </a:r>
            <a:r>
              <a:rPr lang="en-US" dirty="0"/>
              <a:t> designers.</a:t>
            </a:r>
          </a:p>
          <a:p>
            <a:r>
              <a:rPr lang="en-US" dirty="0"/>
              <a:t>Product managers.</a:t>
            </a:r>
          </a:p>
          <a:p>
            <a:r>
              <a:rPr lang="en-US" dirty="0"/>
              <a:t>Data scientists.</a:t>
            </a:r>
          </a:p>
          <a:p>
            <a:r>
              <a:rPr lang="en-US" dirty="0"/>
              <a:t>Digital analysts.</a:t>
            </a:r>
          </a:p>
          <a:p>
            <a:r>
              <a:rPr lang="en-US" dirty="0"/>
              <a:t>Digital marketers.</a:t>
            </a:r>
          </a:p>
          <a:p>
            <a:r>
              <a:rPr lang="en-US" dirty="0"/>
              <a:t>E-commerce specialists.</a:t>
            </a:r>
          </a:p>
          <a:p>
            <a:r>
              <a:rPr lang="en-US" dirty="0"/>
              <a:t>Content managers.</a:t>
            </a:r>
          </a:p>
          <a:p>
            <a:endParaRPr lang="en-IN" dirty="0"/>
          </a:p>
        </p:txBody>
      </p:sp>
    </p:spTree>
    <p:extLst>
      <p:ext uri="{BB962C8B-B14F-4D97-AF65-F5344CB8AC3E}">
        <p14:creationId xmlns:p14="http://schemas.microsoft.com/office/powerpoint/2010/main" val="3392120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6984"/>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Importance </a:t>
            </a:r>
            <a:r>
              <a:rPr lang="en-IN" b="1" dirty="0">
                <a:solidFill>
                  <a:srgbClr val="FF0000"/>
                </a:solidFill>
              </a:rPr>
              <a:t>of web analytics</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052945"/>
            <a:ext cx="10515600" cy="5124018"/>
          </a:xfrm>
        </p:spPr>
        <p:txBody>
          <a:bodyPr>
            <a:normAutofit fontScale="77500" lnSpcReduction="20000"/>
          </a:bodyPr>
          <a:lstStyle/>
          <a:p>
            <a:pPr algn="just"/>
            <a:r>
              <a:rPr lang="en-US" dirty="0"/>
              <a:t>Web analytics that are available in the right form and in a timely manner can help a business or individual in all these ways:</a:t>
            </a:r>
          </a:p>
          <a:p>
            <a:pPr algn="just"/>
            <a:r>
              <a:rPr lang="en-US" dirty="0"/>
              <a:t>Personalize the site to repeat users or customers to enhance their site and brand experiences and capture their loyalty.</a:t>
            </a:r>
          </a:p>
          <a:p>
            <a:pPr algn="just"/>
            <a:r>
              <a:rPr lang="en-US" dirty="0"/>
              <a:t>Determine the likelihood that a given customer will repurchase a product after purchasing it in the past.</a:t>
            </a:r>
          </a:p>
          <a:p>
            <a:pPr algn="just"/>
            <a:r>
              <a:rPr lang="en-US" dirty="0"/>
              <a:t>Monitor the money customers (or specific groups of customers) spend to guide future strategies for sales (e.g., upsells or cross-sells) or promotions.</a:t>
            </a:r>
          </a:p>
          <a:p>
            <a:pPr algn="just"/>
            <a:r>
              <a:rPr lang="en-US" dirty="0"/>
              <a:t>Observe the geographic regions from where the most and least number of customers visit and purchase specific products and use this information to guide location-specific sales or promotional strategies.</a:t>
            </a:r>
          </a:p>
          <a:p>
            <a:pPr algn="just"/>
            <a:r>
              <a:rPr lang="en-US" u="sng" dirty="0">
                <a:hlinkClick r:id="rId2"/>
              </a:rPr>
              <a:t>Predict</a:t>
            </a:r>
            <a:r>
              <a:rPr lang="en-US" dirty="0"/>
              <a:t> which products customers are most and least likely to buy in the future and present them with recommendations most likely to yield a sale.</a:t>
            </a:r>
          </a:p>
          <a:p>
            <a:pPr algn="just"/>
            <a:r>
              <a:rPr lang="en-US" dirty="0"/>
              <a:t>Track search queries that generate the maximum traffic to the site and use the data to create and optimize site content using search engine optimization (SEO) strategies.</a:t>
            </a:r>
          </a:p>
          <a:p>
            <a:pPr algn="just"/>
            <a:r>
              <a:rPr lang="en-US" dirty="0"/>
              <a:t>Analyze the top referral sources to invest in advertising on the appropriate social media sites and optimize ad spend and ROI.</a:t>
            </a:r>
          </a:p>
          <a:p>
            <a:pPr algn="just"/>
            <a:endParaRPr lang="en-IN" dirty="0"/>
          </a:p>
        </p:txBody>
      </p:sp>
    </p:spTree>
    <p:extLst>
      <p:ext uri="{BB962C8B-B14F-4D97-AF65-F5344CB8AC3E}">
        <p14:creationId xmlns:p14="http://schemas.microsoft.com/office/powerpoint/2010/main" val="2100377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5457"/>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Web </a:t>
            </a:r>
            <a:r>
              <a:rPr lang="en-IN" b="1" dirty="0">
                <a:solidFill>
                  <a:srgbClr val="FF0000"/>
                </a:solidFill>
              </a:rPr>
              <a:t>analytics process</a:t>
            </a:r>
            <a:br>
              <a:rPr lang="en-IN" b="1" dirty="0">
                <a:solidFill>
                  <a:srgbClr val="FF0000"/>
                </a:solidFill>
              </a:rPr>
            </a:br>
            <a:endParaRPr lang="en-IN" dirty="0">
              <a:solidFill>
                <a:srgbClr val="FF0000"/>
              </a:solidFill>
            </a:endParaRPr>
          </a:p>
        </p:txBody>
      </p:sp>
      <p:pic>
        <p:nvPicPr>
          <p:cNvPr id="2050" name="Picture 2" descr="A chart listing six essential steps involved in the use of web analytic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0291" y="1163782"/>
            <a:ext cx="10873509" cy="5347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8309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8291"/>
            <a:ext cx="10515600" cy="5188672"/>
          </a:xfrm>
        </p:spPr>
        <p:txBody>
          <a:bodyPr>
            <a:normAutofit fontScale="92500" lnSpcReduction="20000"/>
          </a:bodyPr>
          <a:lstStyle/>
          <a:p>
            <a:pPr algn="just"/>
            <a:r>
              <a:rPr lang="en-US" b="1" dirty="0"/>
              <a:t>Set goals. </a:t>
            </a:r>
            <a:r>
              <a:rPr lang="en-US" dirty="0"/>
              <a:t>The first step is for businesses to determine goals and results sought with web analytics such as increased sales or higher customer satisfaction and brand awareness. Some goals can be quantitative, such as increasing sales by a certain percentage, while others can be </a:t>
            </a:r>
            <a:r>
              <a:rPr lang="en-US" u="sng" dirty="0">
                <a:hlinkClick r:id="rId2"/>
              </a:rPr>
              <a:t>qualitative</a:t>
            </a:r>
            <a:r>
              <a:rPr lang="en-US" dirty="0"/>
              <a:t>, such as enhancing customer experiences.</a:t>
            </a:r>
          </a:p>
          <a:p>
            <a:pPr algn="just"/>
            <a:r>
              <a:rPr lang="en-US" b="1" dirty="0"/>
              <a:t>Collect data. </a:t>
            </a:r>
            <a:r>
              <a:rPr lang="en-US" dirty="0"/>
              <a:t>The second step is to collect data with an analytics tool like </a:t>
            </a:r>
            <a:r>
              <a:rPr lang="en-US" u="sng" dirty="0">
                <a:hlinkClick r:id="rId3"/>
              </a:rPr>
              <a:t>Google Analytics</a:t>
            </a:r>
            <a:r>
              <a:rPr lang="en-US" dirty="0"/>
              <a:t>. This data mainly comes from </a:t>
            </a:r>
            <a:r>
              <a:rPr lang="en-US" u="sng" dirty="0">
                <a:hlinkClick r:id="rId4"/>
              </a:rPr>
              <a:t>HTTP</a:t>
            </a:r>
            <a:r>
              <a:rPr lang="en-US" dirty="0"/>
              <a:t> requests, including data at the network and application levels. It can be combined with external data like </a:t>
            </a:r>
            <a:r>
              <a:rPr lang="en-US" u="sng" dirty="0">
                <a:hlinkClick r:id="rId5"/>
              </a:rPr>
              <a:t>Internet Protocol addresses</a:t>
            </a:r>
            <a:r>
              <a:rPr lang="en-US" dirty="0"/>
              <a:t> to interpret users' web usage and capture other relevant information about the user, such as their location and </a:t>
            </a:r>
            <a:r>
              <a:rPr lang="en-US" dirty="0" err="1"/>
              <a:t>clickthrough</a:t>
            </a:r>
            <a:r>
              <a:rPr lang="en-US" dirty="0"/>
              <a:t> rates.</a:t>
            </a:r>
          </a:p>
          <a:p>
            <a:pPr algn="just"/>
            <a:r>
              <a:rPr lang="en-US" b="1" dirty="0"/>
              <a:t>Process data.</a:t>
            </a:r>
            <a:r>
              <a:rPr lang="en-US" dirty="0"/>
              <a:t> The next stage is to process and transform the collected data into insights that facilitate decision-making.</a:t>
            </a:r>
          </a:p>
          <a:p>
            <a:pPr algn="just"/>
            <a:r>
              <a:rPr lang="en-US" b="1" dirty="0"/>
              <a:t>Identify key performance indicators (KPIs).</a:t>
            </a:r>
            <a:r>
              <a:rPr lang="en-US" dirty="0"/>
              <a:t> </a:t>
            </a:r>
            <a:r>
              <a:rPr lang="en-US" u="sng" dirty="0">
                <a:hlinkClick r:id="rId6"/>
              </a:rPr>
              <a:t>KPIs</a:t>
            </a:r>
            <a:r>
              <a:rPr lang="en-US" dirty="0"/>
              <a:t> are a quantifiable measure to monitor and analyze user behavior on a website, such as page visits, traffic sources, bounce rates, unique users, user sessions and on-site search queries. They help track progress toward a specific goal.</a:t>
            </a:r>
          </a:p>
          <a:p>
            <a:pPr algn="just"/>
            <a:endParaRPr lang="en-IN" dirty="0"/>
          </a:p>
        </p:txBody>
      </p:sp>
      <p:sp>
        <p:nvSpPr>
          <p:cNvPr id="4" name="Title 1"/>
          <p:cNvSpPr>
            <a:spLocks noGrp="1"/>
          </p:cNvSpPr>
          <p:nvPr>
            <p:ph type="title"/>
          </p:nvPr>
        </p:nvSpPr>
        <p:spPr>
          <a:xfrm>
            <a:off x="838200" y="365126"/>
            <a:ext cx="10515600" cy="687820"/>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Web </a:t>
            </a:r>
            <a:r>
              <a:rPr lang="en-IN" b="1" dirty="0">
                <a:solidFill>
                  <a:srgbClr val="FF0000"/>
                </a:solidFill>
              </a:rPr>
              <a:t>analytics process</a:t>
            </a:r>
            <a:br>
              <a:rPr lang="en-IN" b="1" dirty="0">
                <a:solidFill>
                  <a:srgbClr val="FF0000"/>
                </a:solidFill>
              </a:rPr>
            </a:br>
            <a:endParaRPr lang="en-IN" dirty="0">
              <a:solidFill>
                <a:srgbClr val="FF0000"/>
              </a:solidFill>
            </a:endParaRPr>
          </a:p>
        </p:txBody>
      </p:sp>
    </p:spTree>
    <p:extLst>
      <p:ext uri="{BB962C8B-B14F-4D97-AF65-F5344CB8AC3E}">
        <p14:creationId xmlns:p14="http://schemas.microsoft.com/office/powerpoint/2010/main" val="2939679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08364"/>
            <a:ext cx="10515600" cy="5068599"/>
          </a:xfrm>
        </p:spPr>
        <p:txBody>
          <a:bodyPr>
            <a:normAutofit/>
          </a:bodyPr>
          <a:lstStyle/>
          <a:p>
            <a:pPr algn="just"/>
            <a:r>
              <a:rPr lang="en-US" b="1" dirty="0" smtClean="0"/>
              <a:t>Develop an analytics-driven strategy.</a:t>
            </a:r>
            <a:r>
              <a:rPr lang="en-US" dirty="0" smtClean="0"/>
              <a:t> This stage involves implementing insights from web analytics to formulate strategies aligned to the organization's goals. For example, </a:t>
            </a:r>
            <a:r>
              <a:rPr lang="en-US" u="sng" dirty="0" smtClean="0">
                <a:hlinkClick r:id="rId2"/>
              </a:rPr>
              <a:t>analytics about search</a:t>
            </a:r>
            <a:r>
              <a:rPr lang="en-US" dirty="0" smtClean="0"/>
              <a:t> queries can clarify what users are searching for on Google and guide content strategy development.</a:t>
            </a:r>
          </a:p>
          <a:p>
            <a:pPr algn="just"/>
            <a:r>
              <a:rPr lang="en-US" b="1" dirty="0" smtClean="0"/>
              <a:t>Experiment to validate and implement the strategy.</a:t>
            </a:r>
            <a:r>
              <a:rPr lang="en-US" dirty="0" smtClean="0"/>
              <a:t> Experimenting with different strategies can help identify one that yields the best results. With A/B testing, for example, a business creates two versions of a piece of content (e.g., an email message) to gauge the response of different audience subsets, then uses the "winning" version to send to the larger audience to optimize a sales or marketing campaign.</a:t>
            </a:r>
          </a:p>
          <a:p>
            <a:pPr algn="just"/>
            <a:endParaRPr lang="en-IN" dirty="0"/>
          </a:p>
        </p:txBody>
      </p:sp>
      <p:sp>
        <p:nvSpPr>
          <p:cNvPr id="4" name="Title 1"/>
          <p:cNvSpPr>
            <a:spLocks noGrp="1"/>
          </p:cNvSpPr>
          <p:nvPr>
            <p:ph type="title"/>
          </p:nvPr>
        </p:nvSpPr>
        <p:spPr>
          <a:xfrm>
            <a:off x="838200" y="365125"/>
            <a:ext cx="10515600" cy="743239"/>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Web </a:t>
            </a:r>
            <a:r>
              <a:rPr lang="en-IN" b="1" dirty="0">
                <a:solidFill>
                  <a:srgbClr val="FF0000"/>
                </a:solidFill>
              </a:rPr>
              <a:t>analytics process</a:t>
            </a:r>
            <a:br>
              <a:rPr lang="en-IN" b="1" dirty="0">
                <a:solidFill>
                  <a:srgbClr val="FF0000"/>
                </a:solidFill>
              </a:rPr>
            </a:br>
            <a:endParaRPr lang="en-IN" dirty="0">
              <a:solidFill>
                <a:srgbClr val="FF0000"/>
              </a:solidFill>
            </a:endParaRPr>
          </a:p>
        </p:txBody>
      </p:sp>
    </p:spTree>
    <p:extLst>
      <p:ext uri="{BB962C8B-B14F-4D97-AF65-F5344CB8AC3E}">
        <p14:creationId xmlns:p14="http://schemas.microsoft.com/office/powerpoint/2010/main" val="540624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0111"/>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Main </a:t>
            </a:r>
            <a:r>
              <a:rPr lang="en-US" b="1" dirty="0">
                <a:solidFill>
                  <a:srgbClr val="FF0000"/>
                </a:solidFill>
              </a:rPr>
              <a:t>categories of web analytics</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025236"/>
            <a:ext cx="10515600" cy="5151727"/>
          </a:xfrm>
        </p:spPr>
        <p:txBody>
          <a:bodyPr>
            <a:normAutofit fontScale="85000" lnSpcReduction="20000"/>
          </a:bodyPr>
          <a:lstStyle/>
          <a:p>
            <a:r>
              <a:rPr lang="en-US" b="1" dirty="0"/>
              <a:t>Off-site web analytics</a:t>
            </a:r>
          </a:p>
          <a:p>
            <a:r>
              <a:rPr lang="en-US" dirty="0"/>
              <a:t>O</a:t>
            </a:r>
            <a:r>
              <a:rPr lang="en-US" i="1" dirty="0"/>
              <a:t>ff-site web analytics </a:t>
            </a:r>
            <a:r>
              <a:rPr lang="en-US" dirty="0"/>
              <a:t>involves monitoring visitor activity outside the site to measure their behaviors. The data is collected from resources across the web, such as </a:t>
            </a:r>
            <a:r>
              <a:rPr lang="en-US" u="sng" dirty="0">
                <a:hlinkClick r:id="rId2"/>
              </a:rPr>
              <a:t>social media</a:t>
            </a:r>
            <a:r>
              <a:rPr lang="en-US" dirty="0"/>
              <a:t>, </a:t>
            </a:r>
            <a:r>
              <a:rPr lang="en-US" u="sng" dirty="0">
                <a:hlinkClick r:id="rId3"/>
              </a:rPr>
              <a:t>search engines</a:t>
            </a:r>
            <a:r>
              <a:rPr lang="en-US" dirty="0"/>
              <a:t> and forums. It provides insights into how a business is performing against its competitors.</a:t>
            </a:r>
          </a:p>
          <a:p>
            <a:r>
              <a:rPr lang="en-US" b="1" dirty="0"/>
              <a:t>On-site web analytics</a:t>
            </a:r>
          </a:p>
          <a:p>
            <a:r>
              <a:rPr lang="en-US" i="1" dirty="0"/>
              <a:t>On-site web analytics</a:t>
            </a:r>
            <a:r>
              <a:rPr lang="en-US" dirty="0"/>
              <a:t> tracks visitor activity to a specific site to gauge its performance. This data, which is usually more relevant to the site owner, can include details that demonstrate visitors' site engagement, such as popular content or pages. Two technological approaches to on-site web analytics are </a:t>
            </a:r>
            <a:r>
              <a:rPr lang="en-US" u="sng" dirty="0">
                <a:hlinkClick r:id="rId4"/>
              </a:rPr>
              <a:t>log file</a:t>
            </a:r>
            <a:r>
              <a:rPr lang="en-US" dirty="0"/>
              <a:t> analysis and page tagging.</a:t>
            </a:r>
          </a:p>
          <a:p>
            <a:r>
              <a:rPr lang="en-US" dirty="0"/>
              <a:t>Log file analysis, also known as </a:t>
            </a:r>
            <a:r>
              <a:rPr lang="en-US" i="1" dirty="0"/>
              <a:t>log management</a:t>
            </a:r>
            <a:r>
              <a:rPr lang="en-US" dirty="0"/>
              <a:t>, is the process of analyzing data from log files to monitor, troubleshoot and report on a website's performance.</a:t>
            </a:r>
          </a:p>
          <a:p>
            <a:r>
              <a:rPr lang="en-US" dirty="0"/>
              <a:t>Page tagging requires adding code snippets called </a:t>
            </a:r>
            <a:r>
              <a:rPr lang="en-US" i="1" dirty="0"/>
              <a:t>tags</a:t>
            </a:r>
            <a:r>
              <a:rPr lang="en-US" dirty="0"/>
              <a:t> into a website's page code using a </a:t>
            </a:r>
            <a:r>
              <a:rPr lang="en-US" u="sng" dirty="0">
                <a:hlinkClick r:id="rId5"/>
              </a:rPr>
              <a:t>tag management system</a:t>
            </a:r>
            <a:r>
              <a:rPr lang="en-US" dirty="0"/>
              <a:t>. The goal is to track site visitors and their interactions via metrics like the number of pages viewed and number of unique visitors.</a:t>
            </a:r>
          </a:p>
          <a:p>
            <a:endParaRPr lang="en-IN" dirty="0"/>
          </a:p>
        </p:txBody>
      </p:sp>
    </p:spTree>
    <p:extLst>
      <p:ext uri="{BB962C8B-B14F-4D97-AF65-F5344CB8AC3E}">
        <p14:creationId xmlns:p14="http://schemas.microsoft.com/office/powerpoint/2010/main" val="4041806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7748"/>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What </a:t>
            </a:r>
            <a:r>
              <a:rPr lang="en-IN" b="1" dirty="0">
                <a:solidFill>
                  <a:srgbClr val="FF0000"/>
                </a:solidFill>
              </a:rPr>
              <a:t>is Marketing Analytics?</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932874"/>
            <a:ext cx="10515600" cy="5745017"/>
          </a:xfrm>
        </p:spPr>
        <p:txBody>
          <a:bodyPr>
            <a:normAutofit fontScale="77500" lnSpcReduction="20000"/>
          </a:bodyPr>
          <a:lstStyle/>
          <a:p>
            <a:pPr algn="just"/>
            <a:r>
              <a:rPr lang="en-US" dirty="0"/>
              <a:t>Marketing analytics is the practice of using data to evaluate the effectiveness and success of marketing activities. Marketing analytics allows you to gather deeper consumer insights, optimize your marketing objectives, and get a better return on investment</a:t>
            </a:r>
            <a:r>
              <a:rPr lang="en-US" dirty="0" smtClean="0"/>
              <a:t>.</a:t>
            </a:r>
          </a:p>
          <a:p>
            <a:pPr algn="just"/>
            <a:r>
              <a:rPr lang="en-US" dirty="0"/>
              <a:t>Marketing analytics benefits both marketers and consumers. This analysis allows marketers to achieve higher ROI on marketing investments by understanding what is successful in driving either conversions, brand awareness, or both.  Analytics also ensures that consumers see a greater number of targeted, personalized ads that speak to their specific needs and interests, rather than mass communications that tend to annoy.</a:t>
            </a:r>
          </a:p>
          <a:p>
            <a:pPr algn="just"/>
            <a:r>
              <a:rPr lang="en-US" dirty="0"/>
              <a:t>Marketing data can be analyzed using a variety of methods and models depending on the KPIs being measured. For example, analysis of brand awareness relies upon different data and models than analysis of conversions. Some popular analytics models and methods include:</a:t>
            </a:r>
          </a:p>
          <a:p>
            <a:pPr algn="just"/>
            <a:r>
              <a:rPr lang="en-US" u="sng" dirty="0">
                <a:hlinkClick r:id="rId2"/>
              </a:rPr>
              <a:t>Media Mix Models</a:t>
            </a:r>
            <a:r>
              <a:rPr lang="en-US" dirty="0"/>
              <a:t> (MMM): Attribution models that look at aggregate data over a long period of time.</a:t>
            </a:r>
          </a:p>
          <a:p>
            <a:pPr algn="just"/>
            <a:r>
              <a:rPr lang="en-US" u="sng" dirty="0">
                <a:hlinkClick r:id="rId3"/>
              </a:rPr>
              <a:t>Multi-Touch Attribution</a:t>
            </a:r>
            <a:r>
              <a:rPr lang="en-US" dirty="0"/>
              <a:t> (MTA): Attribution models that provide person-level data from across the buyer’s journey.</a:t>
            </a:r>
          </a:p>
          <a:p>
            <a:pPr algn="just"/>
            <a:r>
              <a:rPr lang="en-US" u="sng" dirty="0">
                <a:hlinkClick r:id="rId4"/>
              </a:rPr>
              <a:t>Unified Marketing Measurement</a:t>
            </a:r>
            <a:r>
              <a:rPr lang="en-US" dirty="0"/>
              <a:t> (UMM): A form of measurement that integrates various attribution models including MMM and MTA into comprehensive engagement metrics.</a:t>
            </a:r>
          </a:p>
          <a:p>
            <a:pPr algn="just"/>
            <a:endParaRPr lang="en-IN" dirty="0"/>
          </a:p>
        </p:txBody>
      </p:sp>
    </p:spTree>
    <p:extLst>
      <p:ext uri="{BB962C8B-B14F-4D97-AF65-F5344CB8AC3E}">
        <p14:creationId xmlns:p14="http://schemas.microsoft.com/office/powerpoint/2010/main" val="639081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0543"/>
            <a:ext cx="10515600" cy="660111"/>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The </a:t>
            </a:r>
            <a:r>
              <a:rPr lang="en-US" b="1" dirty="0">
                <a:solidFill>
                  <a:srgbClr val="FF0000"/>
                </a:solidFill>
              </a:rPr>
              <a:t>Importance of Marketing Analytics</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182255"/>
            <a:ext cx="10515600" cy="4994708"/>
          </a:xfrm>
        </p:spPr>
        <p:txBody>
          <a:bodyPr/>
          <a:lstStyle/>
          <a:p>
            <a:pPr algn="just"/>
            <a:r>
              <a:rPr lang="en-US" dirty="0"/>
              <a:t>In the modern marketing landscape, accurate data is more important than ever. Consumers have become highly selective in choosing the branded media they engage with and the media they ignore.</a:t>
            </a:r>
          </a:p>
          <a:p>
            <a:pPr algn="just"/>
            <a:r>
              <a:rPr lang="en-US" dirty="0"/>
              <a:t>If brands want to catch the ideal buyer’s attention, they must rely on accurate data to create targeted personal ads based on individual interests, rather than broader demographic associations. This will allow marketing teams to serve the right ad, at the right time, on the right channel to move consumers down the sales funnel.</a:t>
            </a:r>
          </a:p>
          <a:p>
            <a:pPr algn="just"/>
            <a:endParaRPr lang="en-IN" dirty="0"/>
          </a:p>
        </p:txBody>
      </p:sp>
    </p:spTree>
    <p:extLst>
      <p:ext uri="{BB962C8B-B14F-4D97-AF65-F5344CB8AC3E}">
        <p14:creationId xmlns:p14="http://schemas.microsoft.com/office/powerpoint/2010/main" val="32573589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4766"/>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How </a:t>
            </a:r>
            <a:r>
              <a:rPr lang="en-US" b="1" dirty="0">
                <a:solidFill>
                  <a:srgbClr val="FF0000"/>
                </a:solidFill>
              </a:rPr>
              <a:t>Organizations Use Marketing Analytics</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228436"/>
            <a:ext cx="10515600" cy="4948527"/>
          </a:xfrm>
        </p:spPr>
        <p:txBody>
          <a:bodyPr>
            <a:normAutofit fontScale="85000" lnSpcReduction="20000"/>
          </a:bodyPr>
          <a:lstStyle/>
          <a:p>
            <a:pPr algn="just"/>
            <a:r>
              <a:rPr lang="en-US" b="1" dirty="0"/>
              <a:t>Product Intelligence</a:t>
            </a:r>
            <a:endParaRPr lang="en-US" dirty="0"/>
          </a:p>
          <a:p>
            <a:pPr algn="just"/>
            <a:r>
              <a:rPr lang="en-US" dirty="0"/>
              <a:t>Product intelligence involves taking a deep dive into the brand’s products as well as analyzing how those products stack up within the market. Typically done by speaking to consumers, polling </a:t>
            </a:r>
            <a:r>
              <a:rPr lang="en-US" dirty="0">
                <a:hlinkClick r:id="rId2"/>
              </a:rPr>
              <a:t>target audiences</a:t>
            </a:r>
            <a:r>
              <a:rPr lang="en-US" dirty="0"/>
              <a:t> or engaging them with surveys, organizations can better understand the differentiators and competitive advantages of their products. From there, teams can better align products to the unique consumer interests and problems that help drive conversions.</a:t>
            </a:r>
          </a:p>
          <a:p>
            <a:pPr algn="just"/>
            <a:r>
              <a:rPr lang="en-US" b="1" dirty="0"/>
              <a:t>Customer Trends and Preferences</a:t>
            </a:r>
            <a:endParaRPr lang="en-US" dirty="0"/>
          </a:p>
          <a:p>
            <a:pPr algn="just"/>
            <a:r>
              <a:rPr lang="en-US" dirty="0"/>
              <a:t>Analytics can tell a lot about your consumers. What messaging / creative resonates with them? Which products are they buying and which have they researched in the past? Which ads are leading to conversions and which are ignored?</a:t>
            </a:r>
          </a:p>
          <a:p>
            <a:pPr algn="just"/>
            <a:r>
              <a:rPr lang="en-US" b="1" dirty="0"/>
              <a:t>Product Development Trends</a:t>
            </a:r>
            <a:endParaRPr lang="en-US" dirty="0"/>
          </a:p>
          <a:p>
            <a:pPr algn="just"/>
            <a:r>
              <a:rPr lang="en-US" dirty="0"/>
              <a:t>Analytics can also offer insight into the types of product features consumers want. Marketing teams can pass this information on to product development for future iterations. </a:t>
            </a:r>
            <a:r>
              <a:rPr lang="en-US" b="1" dirty="0"/>
              <a:t> </a:t>
            </a:r>
            <a:endParaRPr lang="en-US" dirty="0"/>
          </a:p>
          <a:p>
            <a:pPr algn="just"/>
            <a:endParaRPr lang="en-IN" dirty="0"/>
          </a:p>
        </p:txBody>
      </p:sp>
    </p:spTree>
    <p:extLst>
      <p:ext uri="{BB962C8B-B14F-4D97-AF65-F5344CB8AC3E}">
        <p14:creationId xmlns:p14="http://schemas.microsoft.com/office/powerpoint/2010/main" val="2342326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8584"/>
          </a:xfrm>
        </p:spPr>
        <p:txBody>
          <a:bodyPr>
            <a:normAutofit fontScale="90000"/>
          </a:bodyPr>
          <a:lstStyle/>
          <a:p>
            <a:r>
              <a:rPr lang="en-US" b="1" dirty="0" smtClean="0">
                <a:solidFill>
                  <a:srgbClr val="FF0000"/>
                </a:solidFill>
              </a:rPr>
              <a:t>How Organizations Use Marketing Analytics</a:t>
            </a:r>
            <a:endParaRPr lang="en-IN" dirty="0"/>
          </a:p>
        </p:txBody>
      </p:sp>
      <p:sp>
        <p:nvSpPr>
          <p:cNvPr id="3" name="Content Placeholder 2"/>
          <p:cNvSpPr>
            <a:spLocks noGrp="1"/>
          </p:cNvSpPr>
          <p:nvPr>
            <p:ph idx="1"/>
          </p:nvPr>
        </p:nvSpPr>
        <p:spPr>
          <a:xfrm>
            <a:off x="838200" y="1136073"/>
            <a:ext cx="10515600" cy="5040890"/>
          </a:xfrm>
        </p:spPr>
        <p:txBody>
          <a:bodyPr>
            <a:normAutofit lnSpcReduction="10000"/>
          </a:bodyPr>
          <a:lstStyle/>
          <a:p>
            <a:pPr algn="just"/>
            <a:r>
              <a:rPr lang="en-US" b="1" dirty="0"/>
              <a:t>Customer Support</a:t>
            </a:r>
            <a:endParaRPr lang="en-US" dirty="0"/>
          </a:p>
          <a:p>
            <a:pPr algn="just"/>
            <a:r>
              <a:rPr lang="en-US" dirty="0"/>
              <a:t>Analytics also helps uncover areas of the buyer’s journey that could be simplified or improved. Where are your clients struggling? Are there ways you can simplify your product or make the check-out process easier?</a:t>
            </a:r>
          </a:p>
          <a:p>
            <a:pPr algn="just"/>
            <a:r>
              <a:rPr lang="en-US" b="1" dirty="0"/>
              <a:t>Messaging and Media</a:t>
            </a:r>
            <a:endParaRPr lang="en-US" dirty="0"/>
          </a:p>
          <a:p>
            <a:pPr algn="just"/>
            <a:r>
              <a:rPr lang="en-US" dirty="0"/>
              <a:t>Data analysis can determine where marketers choose to display messages for particular consumers. This has become especially important due to the sheer number of  channels. In addition to traditional marketing channels such as print, television and broadcast, marketers must also know which digital channels and social media networks consumers prefer. Analytics answers these key questions:  </a:t>
            </a:r>
          </a:p>
          <a:p>
            <a:pPr algn="just"/>
            <a:endParaRPr lang="en-IN" dirty="0"/>
          </a:p>
        </p:txBody>
      </p:sp>
    </p:spTree>
    <p:extLst>
      <p:ext uri="{BB962C8B-B14F-4D97-AF65-F5344CB8AC3E}">
        <p14:creationId xmlns:p14="http://schemas.microsoft.com/office/powerpoint/2010/main" val="4146370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293"/>
          </a:xfrm>
        </p:spPr>
        <p:txBody>
          <a:bodyPr/>
          <a:lstStyle/>
          <a:p>
            <a:r>
              <a:rPr lang="en-US" b="1" dirty="0" smtClean="0">
                <a:solidFill>
                  <a:srgbClr val="FF0000"/>
                </a:solidFill>
              </a:rPr>
              <a:t>How Organizations Use Marketing Analytics</a:t>
            </a:r>
            <a:endParaRPr lang="en-IN" dirty="0"/>
          </a:p>
        </p:txBody>
      </p:sp>
      <p:sp>
        <p:nvSpPr>
          <p:cNvPr id="3" name="Content Placeholder 2"/>
          <p:cNvSpPr>
            <a:spLocks noGrp="1"/>
          </p:cNvSpPr>
          <p:nvPr>
            <p:ph idx="1"/>
          </p:nvPr>
        </p:nvSpPr>
        <p:spPr>
          <a:xfrm>
            <a:off x="838200" y="1071418"/>
            <a:ext cx="10515600" cy="5105545"/>
          </a:xfrm>
        </p:spPr>
        <p:txBody>
          <a:bodyPr>
            <a:normAutofit/>
          </a:bodyPr>
          <a:lstStyle/>
          <a:p>
            <a:r>
              <a:rPr lang="en-US" dirty="0"/>
              <a:t>What </a:t>
            </a:r>
            <a:r>
              <a:rPr lang="en-US" u="sng" dirty="0">
                <a:hlinkClick r:id="rId2"/>
              </a:rPr>
              <a:t>media should you be buying</a:t>
            </a:r>
            <a:r>
              <a:rPr lang="en-US" dirty="0"/>
              <a:t>?</a:t>
            </a:r>
          </a:p>
          <a:p>
            <a:r>
              <a:rPr lang="en-US" dirty="0"/>
              <a:t>Which are driving the most sales?</a:t>
            </a:r>
          </a:p>
          <a:p>
            <a:r>
              <a:rPr lang="en-US" dirty="0"/>
              <a:t>What message is resonating with your audience?</a:t>
            </a:r>
          </a:p>
          <a:p>
            <a:r>
              <a:rPr lang="en-US" b="1" dirty="0"/>
              <a:t>Competition</a:t>
            </a:r>
            <a:endParaRPr lang="en-US" dirty="0"/>
          </a:p>
          <a:p>
            <a:pPr algn="just"/>
            <a:r>
              <a:rPr lang="en-US" dirty="0"/>
              <a:t>How do your marketing efforts compare with the competition? How can you close that gap if there is one? Are there opportunities your competitors are capitalizing on that you may have missed?</a:t>
            </a:r>
          </a:p>
          <a:p>
            <a:r>
              <a:rPr lang="en-US" b="1" dirty="0"/>
              <a:t>Predict Future Results</a:t>
            </a:r>
            <a:endParaRPr lang="en-US" dirty="0"/>
          </a:p>
          <a:p>
            <a:r>
              <a:rPr lang="en-US" dirty="0"/>
              <a:t>If you have a thorough understanding of why a campaign worked, you’ll be able to apply that knowledge to future campaigns for increased ROI.</a:t>
            </a:r>
          </a:p>
          <a:p>
            <a:endParaRPr lang="en-IN" dirty="0"/>
          </a:p>
        </p:txBody>
      </p:sp>
    </p:spTree>
    <p:extLst>
      <p:ext uri="{BB962C8B-B14F-4D97-AF65-F5344CB8AC3E}">
        <p14:creationId xmlns:p14="http://schemas.microsoft.com/office/powerpoint/2010/main" val="2314585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0257"/>
          </a:xfrm>
        </p:spPr>
        <p:txBody>
          <a:bodyPr/>
          <a:lstStyle/>
          <a:p>
            <a:r>
              <a:rPr lang="en-US" b="1" dirty="0" smtClean="0">
                <a:solidFill>
                  <a:srgbClr val="FF0000"/>
                </a:solidFill>
              </a:rPr>
              <a:t>Data Types</a:t>
            </a:r>
            <a:endParaRPr lang="en-IN" b="1" dirty="0">
              <a:solidFill>
                <a:srgbClr val="FF0000"/>
              </a:solidFill>
            </a:endParaRPr>
          </a:p>
        </p:txBody>
      </p:sp>
      <p:sp>
        <p:nvSpPr>
          <p:cNvPr id="3" name="Content Placeholder 2"/>
          <p:cNvSpPr>
            <a:spLocks noGrp="1"/>
          </p:cNvSpPr>
          <p:nvPr>
            <p:ph idx="1"/>
          </p:nvPr>
        </p:nvSpPr>
        <p:spPr>
          <a:xfrm>
            <a:off x="838200" y="1493116"/>
            <a:ext cx="10515600" cy="4351338"/>
          </a:xfrm>
        </p:spPr>
        <p:txBody>
          <a:bodyPr/>
          <a:lstStyle/>
          <a:p>
            <a:pPr algn="just"/>
            <a:r>
              <a:rPr lang="en-US" dirty="0"/>
              <a:t>Data is a simple record or collection of different numbers, characters, images, and others that are processed to form Information. In </a:t>
            </a:r>
            <a:r>
              <a:rPr lang="en-US" u="sng" dirty="0">
                <a:hlinkClick r:id="rId2"/>
              </a:rPr>
              <a:t>statistics</a:t>
            </a:r>
            <a:r>
              <a:rPr lang="en-US" dirty="0"/>
              <a:t>, we have different </a:t>
            </a:r>
            <a:r>
              <a:rPr lang="en-US" b="1" dirty="0"/>
              <a:t>types of data</a:t>
            </a:r>
            <a:r>
              <a:rPr lang="en-US" dirty="0"/>
              <a:t> that are used to represent various information. In statistics, we analyze the data to obtain any meaningful information and thus categorizing data into different types is very important. Data types in statistics help us to make an informed decision about what type of process is used to analyze the data.</a:t>
            </a:r>
            <a:endParaRPr lang="en-IN" dirty="0"/>
          </a:p>
        </p:txBody>
      </p:sp>
    </p:spTree>
    <p:extLst>
      <p:ext uri="{BB962C8B-B14F-4D97-AF65-F5344CB8AC3E}">
        <p14:creationId xmlns:p14="http://schemas.microsoft.com/office/powerpoint/2010/main" val="2576980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a:blip r:embed="rId2"/>
          <a:stretch>
            <a:fillRect/>
          </a:stretch>
        </p:blipFill>
        <p:spPr>
          <a:xfrm>
            <a:off x="838200" y="397164"/>
            <a:ext cx="5181600" cy="6197600"/>
          </a:xfrm>
          <a:prstGeom prst="rect">
            <a:avLst/>
          </a:prstGeom>
        </p:spPr>
      </p:pic>
      <p:pic>
        <p:nvPicPr>
          <p:cNvPr id="7" name="Content Placeholder 6"/>
          <p:cNvPicPr>
            <a:picLocks noGrp="1" noChangeAspect="1"/>
          </p:cNvPicPr>
          <p:nvPr>
            <p:ph sz="half" idx="2"/>
          </p:nvPr>
        </p:nvPicPr>
        <p:blipFill>
          <a:blip r:embed="rId3"/>
          <a:stretch>
            <a:fillRect/>
          </a:stretch>
        </p:blipFill>
        <p:spPr>
          <a:xfrm>
            <a:off x="6172200" y="397164"/>
            <a:ext cx="5181600" cy="6197600"/>
          </a:xfrm>
          <a:prstGeom prst="rect">
            <a:avLst/>
          </a:prstGeom>
        </p:spPr>
      </p:pic>
    </p:spTree>
    <p:extLst>
      <p:ext uri="{BB962C8B-B14F-4D97-AF65-F5344CB8AC3E}">
        <p14:creationId xmlns:p14="http://schemas.microsoft.com/office/powerpoint/2010/main" val="2024776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0948"/>
          </a:xfrm>
        </p:spPr>
        <p:txBody>
          <a:bodyPr/>
          <a:lstStyle/>
          <a:p>
            <a:r>
              <a:rPr lang="en-US" b="1" dirty="0" smtClean="0">
                <a:solidFill>
                  <a:srgbClr val="FF0000"/>
                </a:solidFill>
              </a:rPr>
              <a:t>What is Data?</a:t>
            </a:r>
            <a:endParaRPr lang="en-IN" b="1" dirty="0">
              <a:solidFill>
                <a:srgbClr val="FF0000"/>
              </a:solidFill>
            </a:endParaRPr>
          </a:p>
        </p:txBody>
      </p:sp>
      <p:sp>
        <p:nvSpPr>
          <p:cNvPr id="3" name="Content Placeholder 2"/>
          <p:cNvSpPr>
            <a:spLocks noGrp="1"/>
          </p:cNvSpPr>
          <p:nvPr>
            <p:ph idx="1"/>
          </p:nvPr>
        </p:nvSpPr>
        <p:spPr/>
        <p:txBody>
          <a:bodyPr/>
          <a:lstStyle/>
          <a:p>
            <a:pPr algn="just"/>
            <a:r>
              <a:rPr lang="en-US" dirty="0"/>
              <a:t>Data is defined as the collection of numbers, characters, images, and others that can arranged in some manner to form meaningful information. In statistics, the data is mainly the collection of numbers that is first studied then analyzed and presented in some way that we can get some meaningful insight from that data</a:t>
            </a:r>
            <a:r>
              <a:rPr lang="en-US" dirty="0" smtClean="0"/>
              <a:t>.</a:t>
            </a:r>
          </a:p>
          <a:p>
            <a:pPr algn="just"/>
            <a:r>
              <a:rPr lang="en-US" dirty="0"/>
              <a:t>For example, 12, 19, 17, and 15 this is data.</a:t>
            </a:r>
            <a:endParaRPr lang="en-IN" dirty="0"/>
          </a:p>
        </p:txBody>
      </p:sp>
    </p:spTree>
    <p:extLst>
      <p:ext uri="{BB962C8B-B14F-4D97-AF65-F5344CB8AC3E}">
        <p14:creationId xmlns:p14="http://schemas.microsoft.com/office/powerpoint/2010/main" val="2081969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7893"/>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What </a:t>
            </a:r>
            <a:r>
              <a:rPr lang="en-US" b="1" dirty="0">
                <a:solidFill>
                  <a:srgbClr val="FF0000"/>
                </a:solidFill>
              </a:rPr>
              <a:t>are Types of Data in Statistics?</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lstStyle/>
          <a:p>
            <a:pPr fontAlgn="base"/>
            <a:r>
              <a:rPr lang="en-IN" dirty="0"/>
              <a:t>The data in statistics is classified into four categories:</a:t>
            </a:r>
          </a:p>
          <a:p>
            <a:pPr fontAlgn="base"/>
            <a:r>
              <a:rPr lang="en-IN" dirty="0"/>
              <a:t>Nominal data</a:t>
            </a:r>
          </a:p>
          <a:p>
            <a:pPr fontAlgn="base"/>
            <a:r>
              <a:rPr lang="en-IN" dirty="0"/>
              <a:t>Ordinal data</a:t>
            </a:r>
          </a:p>
          <a:p>
            <a:pPr fontAlgn="base"/>
            <a:r>
              <a:rPr lang="en-IN" dirty="0"/>
              <a:t>Discrete data</a:t>
            </a:r>
          </a:p>
          <a:p>
            <a:pPr fontAlgn="base"/>
            <a:r>
              <a:rPr lang="en-IN" dirty="0"/>
              <a:t>Continuous data</a:t>
            </a:r>
          </a:p>
          <a:p>
            <a:endParaRPr lang="en-IN" dirty="0"/>
          </a:p>
        </p:txBody>
      </p:sp>
    </p:spTree>
    <p:extLst>
      <p:ext uri="{BB962C8B-B14F-4D97-AF65-F5344CB8AC3E}">
        <p14:creationId xmlns:p14="http://schemas.microsoft.com/office/powerpoint/2010/main" val="38792615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3311"/>
          </a:xfrm>
        </p:spPr>
        <p:txBody>
          <a:bodyPr/>
          <a:lstStyle/>
          <a:p>
            <a:pPr fontAlgn="base"/>
            <a:r>
              <a:rPr lang="en-IN" b="1" dirty="0">
                <a:solidFill>
                  <a:srgbClr val="FF0000"/>
                </a:solidFill>
              </a:rPr>
              <a:t>Qualitative Data (Categorical Data)</a:t>
            </a:r>
          </a:p>
        </p:txBody>
      </p:sp>
      <p:sp>
        <p:nvSpPr>
          <p:cNvPr id="3" name="Content Placeholder 2"/>
          <p:cNvSpPr>
            <a:spLocks noGrp="1"/>
          </p:cNvSpPr>
          <p:nvPr>
            <p:ph idx="1"/>
          </p:nvPr>
        </p:nvSpPr>
        <p:spPr/>
        <p:txBody>
          <a:bodyPr/>
          <a:lstStyle/>
          <a:p>
            <a:pPr algn="just" fontAlgn="base"/>
            <a:r>
              <a:rPr lang="en-US" dirty="0"/>
              <a:t>As the name suggest Qualitative Data tells the features of the data in the statistics. Qualitative Data is also called Categorical Data and its categories the data into various categories. Qualitative data includes data such as gender of people, their family name and others in sample of population data.</a:t>
            </a:r>
          </a:p>
          <a:p>
            <a:pPr algn="just" fontAlgn="base"/>
            <a:r>
              <a:rPr lang="en-US" dirty="0"/>
              <a:t>Qualitative data is further categorized into two categories that includes,</a:t>
            </a:r>
          </a:p>
          <a:p>
            <a:pPr algn="just" fontAlgn="base"/>
            <a:r>
              <a:rPr lang="en-US" dirty="0"/>
              <a:t>Nominal Data</a:t>
            </a:r>
          </a:p>
          <a:p>
            <a:pPr algn="just" fontAlgn="base"/>
            <a:r>
              <a:rPr lang="en-US" dirty="0"/>
              <a:t>Ordinal Data</a:t>
            </a:r>
          </a:p>
          <a:p>
            <a:pPr algn="just"/>
            <a:endParaRPr lang="en-IN" dirty="0"/>
          </a:p>
        </p:txBody>
      </p:sp>
    </p:spTree>
    <p:extLst>
      <p:ext uri="{BB962C8B-B14F-4D97-AF65-F5344CB8AC3E}">
        <p14:creationId xmlns:p14="http://schemas.microsoft.com/office/powerpoint/2010/main" val="34168414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348"/>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Nominal </a:t>
            </a:r>
            <a:r>
              <a:rPr lang="en-IN" b="1" dirty="0">
                <a:solidFill>
                  <a:srgbClr val="FF0000"/>
                </a:solidFill>
              </a:rPr>
              <a:t>Data</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265382"/>
            <a:ext cx="10515600" cy="4911581"/>
          </a:xfrm>
        </p:spPr>
        <p:txBody>
          <a:bodyPr>
            <a:normAutofit/>
          </a:bodyPr>
          <a:lstStyle/>
          <a:p>
            <a:pPr algn="just" fontAlgn="base"/>
            <a:r>
              <a:rPr lang="en-US" dirty="0"/>
              <a:t>Nominal data is a type of data that consists of categories or names that cannot be ordered or ranked. Nominal data is often used to categorize observations into groups, and the groups are not comparable. In other words, nominal data has no inherent order or ranking. Examples of nominal data include gender (Male or female), race (White, Black, Asian), religion (</a:t>
            </a:r>
            <a:r>
              <a:rPr lang="en-US" dirty="0" err="1"/>
              <a:t>Hinuduism</a:t>
            </a:r>
            <a:r>
              <a:rPr lang="en-US" dirty="0"/>
              <a:t>, Christianity, Islam, Judaism), and blood type (A, B, AB, O).</a:t>
            </a:r>
          </a:p>
          <a:p>
            <a:pPr algn="just" fontAlgn="base"/>
            <a:r>
              <a:rPr lang="en-US" dirty="0"/>
              <a:t>Nominal data can be represented using frequency tables and bar charts, which display the number or proportion of observations in each category. For example, a frequency table for gender might show the number of males and females in a sample of people.</a:t>
            </a:r>
          </a:p>
          <a:p>
            <a:pPr algn="just"/>
            <a:endParaRPr lang="en-IN" dirty="0"/>
          </a:p>
        </p:txBody>
      </p:sp>
    </p:spTree>
    <p:extLst>
      <p:ext uri="{BB962C8B-B14F-4D97-AF65-F5344CB8AC3E}">
        <p14:creationId xmlns:p14="http://schemas.microsoft.com/office/powerpoint/2010/main" val="3939153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348"/>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Ordinal </a:t>
            </a:r>
            <a:r>
              <a:rPr lang="en-IN" b="1" dirty="0">
                <a:solidFill>
                  <a:srgbClr val="FF0000"/>
                </a:solidFill>
              </a:rPr>
              <a:t>Data</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302327"/>
            <a:ext cx="10515600" cy="4874636"/>
          </a:xfrm>
        </p:spPr>
        <p:txBody>
          <a:bodyPr/>
          <a:lstStyle/>
          <a:p>
            <a:pPr algn="just" fontAlgn="base"/>
            <a:r>
              <a:rPr lang="en-US" dirty="0"/>
              <a:t>Ordinal data is a type of data that consists of categories that can be ordered or ranked. However, the distance between categories is not necessarily equal. Ordinal data is often used to measure subjective attributes or opinions, where there is a natural order to the responses. Examples of ordinal data include education level (Elementary, Middle, High School, College), job position (Manager, Supervisor, Employee), etc.</a:t>
            </a:r>
          </a:p>
          <a:p>
            <a:pPr algn="just" fontAlgn="base"/>
            <a:r>
              <a:rPr lang="en-US" dirty="0"/>
              <a:t>Ordinal data can be represented using bar charts, line charts. These displays show the order or ranking of the categories, but they do not imply that the distances between categories are equal.</a:t>
            </a:r>
          </a:p>
          <a:p>
            <a:pPr algn="just"/>
            <a:endParaRPr lang="en-IN" dirty="0"/>
          </a:p>
        </p:txBody>
      </p:sp>
    </p:spTree>
    <p:extLst>
      <p:ext uri="{BB962C8B-B14F-4D97-AF65-F5344CB8AC3E}">
        <p14:creationId xmlns:p14="http://schemas.microsoft.com/office/powerpoint/2010/main" val="13217618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4002"/>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Quantitative </a:t>
            </a:r>
            <a:r>
              <a:rPr lang="en-IN" b="1" dirty="0">
                <a:solidFill>
                  <a:srgbClr val="FF0000"/>
                </a:solidFill>
              </a:rPr>
              <a:t>Data (Numerical Data)</a:t>
            </a:r>
            <a:br>
              <a:rPr lang="en-IN"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311564"/>
            <a:ext cx="10515600" cy="4865399"/>
          </a:xfrm>
        </p:spPr>
        <p:txBody>
          <a:bodyPr/>
          <a:lstStyle/>
          <a:p>
            <a:pPr algn="just" fontAlgn="base"/>
            <a:r>
              <a:rPr lang="en-US" dirty="0" smtClean="0"/>
              <a:t>Quantitative </a:t>
            </a:r>
            <a:r>
              <a:rPr lang="en-US" dirty="0"/>
              <a:t>Data is the type of the data that represents the numerical value of the data. They are also called the Numerical Data. This data type is used to represent the height, weight, length and other things of the data. Quantitative data is further classified into two categories that are,</a:t>
            </a:r>
          </a:p>
          <a:p>
            <a:pPr fontAlgn="base"/>
            <a:r>
              <a:rPr lang="en-US" dirty="0"/>
              <a:t>Discrete Data</a:t>
            </a:r>
          </a:p>
          <a:p>
            <a:pPr fontAlgn="base"/>
            <a:r>
              <a:rPr lang="en-US" dirty="0"/>
              <a:t>Continuous Data</a:t>
            </a:r>
          </a:p>
          <a:p>
            <a:endParaRPr lang="en-IN" dirty="0"/>
          </a:p>
        </p:txBody>
      </p:sp>
    </p:spTree>
    <p:extLst>
      <p:ext uri="{BB962C8B-B14F-4D97-AF65-F5344CB8AC3E}">
        <p14:creationId xmlns:p14="http://schemas.microsoft.com/office/powerpoint/2010/main" val="4090287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32873" y="1305342"/>
            <a:ext cx="10825018" cy="4893647"/>
          </a:xfrm>
          <a:prstGeom prst="rect">
            <a:avLst/>
          </a:prstGeom>
        </p:spPr>
        <p:txBody>
          <a:bodyPr wrap="square">
            <a:spAutoFit/>
          </a:bodyPr>
          <a:lstStyle/>
          <a:p>
            <a:pPr fontAlgn="base"/>
            <a:r>
              <a:rPr lang="en-US" sz="2400" b="1" dirty="0">
                <a:solidFill>
                  <a:srgbClr val="273239"/>
                </a:solidFill>
                <a:latin typeface="Nunito"/>
              </a:rPr>
              <a:t>Discrete Data</a:t>
            </a:r>
          </a:p>
          <a:p>
            <a:pPr fontAlgn="base"/>
            <a:r>
              <a:rPr lang="en-US" sz="2400" dirty="0" smtClean="0">
                <a:solidFill>
                  <a:srgbClr val="273239"/>
                </a:solidFill>
                <a:latin typeface="Nunito"/>
              </a:rPr>
              <a:t>Discrete </a:t>
            </a:r>
            <a:r>
              <a:rPr lang="en-US" sz="2400" dirty="0">
                <a:solidFill>
                  <a:srgbClr val="273239"/>
                </a:solidFill>
                <a:latin typeface="Nunito"/>
              </a:rPr>
              <a:t>data type is a type of data in statistics that only uses Discrete Value or Single Values. These data types have values that can be easily counted as whole numbers. The example of the </a:t>
            </a:r>
            <a:r>
              <a:rPr lang="en-US" sz="2400" dirty="0" smtClean="0">
                <a:solidFill>
                  <a:srgbClr val="273239"/>
                </a:solidFill>
                <a:latin typeface="Nunito"/>
              </a:rPr>
              <a:t>discrete </a:t>
            </a:r>
            <a:r>
              <a:rPr lang="en-US" sz="2400" dirty="0">
                <a:solidFill>
                  <a:srgbClr val="273239"/>
                </a:solidFill>
                <a:latin typeface="Nunito"/>
              </a:rPr>
              <a:t>data types are,</a:t>
            </a:r>
          </a:p>
          <a:p>
            <a:pPr fontAlgn="base">
              <a:buFont typeface="Arial" panose="020B0604020202020204" pitchFamily="34" charset="0"/>
              <a:buChar char="•"/>
            </a:pPr>
            <a:r>
              <a:rPr lang="en-US" sz="2400" dirty="0">
                <a:solidFill>
                  <a:srgbClr val="273239"/>
                </a:solidFill>
                <a:latin typeface="Nunito"/>
              </a:rPr>
              <a:t>Height of Students in a class</a:t>
            </a:r>
          </a:p>
          <a:p>
            <a:pPr fontAlgn="base">
              <a:buFont typeface="Arial" panose="020B0604020202020204" pitchFamily="34" charset="0"/>
              <a:buChar char="•"/>
            </a:pPr>
            <a:r>
              <a:rPr lang="en-US" sz="2400" dirty="0">
                <a:solidFill>
                  <a:srgbClr val="273239"/>
                </a:solidFill>
                <a:latin typeface="Nunito"/>
              </a:rPr>
              <a:t>Marks of the students in a class test</a:t>
            </a:r>
          </a:p>
          <a:p>
            <a:pPr fontAlgn="base">
              <a:buFont typeface="Arial" panose="020B0604020202020204" pitchFamily="34" charset="0"/>
              <a:buChar char="•"/>
            </a:pPr>
            <a:r>
              <a:rPr lang="en-US" sz="2400" dirty="0">
                <a:solidFill>
                  <a:srgbClr val="273239"/>
                </a:solidFill>
                <a:latin typeface="Nunito"/>
              </a:rPr>
              <a:t>Weight of different members of a family, etc.</a:t>
            </a:r>
          </a:p>
          <a:p>
            <a:pPr fontAlgn="base"/>
            <a:r>
              <a:rPr lang="en-US" sz="2400" b="1" dirty="0">
                <a:solidFill>
                  <a:srgbClr val="273239"/>
                </a:solidFill>
                <a:latin typeface="Nunito"/>
              </a:rPr>
              <a:t>Continuous Data</a:t>
            </a:r>
          </a:p>
          <a:p>
            <a:pPr fontAlgn="base"/>
            <a:r>
              <a:rPr lang="en-US" sz="2400" dirty="0">
                <a:solidFill>
                  <a:srgbClr val="273239"/>
                </a:solidFill>
                <a:latin typeface="Nunito"/>
              </a:rPr>
              <a:t>Continuous data is the type of the quantitative data that represent the data in a continuous range. The variable in the data set can have any value between the range of the data set. Examples of the continuous data types are,</a:t>
            </a:r>
          </a:p>
          <a:p>
            <a:pPr fontAlgn="base">
              <a:buFont typeface="Arial" panose="020B0604020202020204" pitchFamily="34" charset="0"/>
              <a:buChar char="•"/>
            </a:pPr>
            <a:r>
              <a:rPr lang="en-US" sz="2400" dirty="0">
                <a:solidFill>
                  <a:srgbClr val="273239"/>
                </a:solidFill>
                <a:latin typeface="Nunito"/>
              </a:rPr>
              <a:t>Temperature Range</a:t>
            </a:r>
          </a:p>
          <a:p>
            <a:pPr fontAlgn="base">
              <a:buFont typeface="Arial" panose="020B0604020202020204" pitchFamily="34" charset="0"/>
              <a:buChar char="•"/>
            </a:pPr>
            <a:r>
              <a:rPr lang="en-US" sz="2400" dirty="0">
                <a:solidFill>
                  <a:srgbClr val="273239"/>
                </a:solidFill>
                <a:latin typeface="Nunito"/>
              </a:rPr>
              <a:t>Salary range of Workers in a Factory, etc.</a:t>
            </a:r>
            <a:endParaRPr lang="en-US" sz="2400" b="0" i="0" dirty="0">
              <a:solidFill>
                <a:srgbClr val="273239"/>
              </a:solidFill>
              <a:effectLst/>
              <a:latin typeface="Nunito"/>
            </a:endParaRPr>
          </a:p>
        </p:txBody>
      </p:sp>
    </p:spTree>
    <p:extLst>
      <p:ext uri="{BB962C8B-B14F-4D97-AF65-F5344CB8AC3E}">
        <p14:creationId xmlns:p14="http://schemas.microsoft.com/office/powerpoint/2010/main" val="36144785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0111"/>
          </a:xfrm>
        </p:spPr>
        <p:txBody>
          <a:bodyPr>
            <a:normAutofit fontScale="90000"/>
          </a:bodyPr>
          <a:lstStyle/>
          <a:p>
            <a:r>
              <a:rPr lang="en-IN" sz="3200" b="1" dirty="0" smtClean="0">
                <a:solidFill>
                  <a:srgbClr val="FF0000"/>
                </a:solidFill>
              </a:rPr>
              <a:t/>
            </a:r>
            <a:br>
              <a:rPr lang="en-IN" sz="3200" b="1" dirty="0" smtClean="0">
                <a:solidFill>
                  <a:srgbClr val="FF0000"/>
                </a:solidFill>
              </a:rPr>
            </a:br>
            <a:r>
              <a:rPr lang="en-IN" sz="3200" b="1" dirty="0" smtClean="0">
                <a:solidFill>
                  <a:srgbClr val="FF0000"/>
                </a:solidFill>
              </a:rPr>
              <a:t>Difference </a:t>
            </a:r>
            <a:r>
              <a:rPr lang="en-IN" sz="3200" b="1" dirty="0">
                <a:solidFill>
                  <a:srgbClr val="FF0000"/>
                </a:solidFill>
              </a:rPr>
              <a:t>between Quantitative and Qualitative Data</a:t>
            </a:r>
            <a:br>
              <a:rPr lang="en-IN" sz="3200" b="1" dirty="0">
                <a:solidFill>
                  <a:srgbClr val="FF0000"/>
                </a:solidFill>
              </a:rPr>
            </a:br>
            <a:endParaRPr lang="en-IN" sz="3200"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923636" y="1025236"/>
            <a:ext cx="10430163" cy="5151727"/>
          </a:xfrm>
          <a:prstGeom prst="rect">
            <a:avLst/>
          </a:prstGeom>
        </p:spPr>
      </p:pic>
    </p:spTree>
    <p:extLst>
      <p:ext uri="{BB962C8B-B14F-4D97-AF65-F5344CB8AC3E}">
        <p14:creationId xmlns:p14="http://schemas.microsoft.com/office/powerpoint/2010/main" val="2376866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8584"/>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Difference </a:t>
            </a:r>
            <a:r>
              <a:rPr lang="en-US" b="1" dirty="0">
                <a:solidFill>
                  <a:srgbClr val="FF0000"/>
                </a:solidFill>
              </a:rPr>
              <a:t>between Discrete and Continuous Data</a:t>
            </a:r>
            <a:br>
              <a:rPr lang="en-US" b="1" dirty="0">
                <a:solidFill>
                  <a:srgbClr val="FF0000"/>
                </a:solidFill>
              </a:rPr>
            </a:br>
            <a:endParaRPr lang="en-IN"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563419" y="1265382"/>
            <a:ext cx="11185236" cy="5273963"/>
          </a:xfrm>
          <a:prstGeom prst="rect">
            <a:avLst/>
          </a:prstGeom>
        </p:spPr>
      </p:pic>
    </p:spTree>
    <p:extLst>
      <p:ext uri="{BB962C8B-B14F-4D97-AF65-F5344CB8AC3E}">
        <p14:creationId xmlns:p14="http://schemas.microsoft.com/office/powerpoint/2010/main" val="3008892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7966"/>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Difference </a:t>
            </a:r>
            <a:r>
              <a:rPr lang="en-US" b="1" dirty="0">
                <a:solidFill>
                  <a:srgbClr val="FF0000"/>
                </a:solidFill>
              </a:rPr>
              <a:t>between Structured, Semi-structured and Unstructured data</a:t>
            </a:r>
            <a:br>
              <a:rPr lang="en-US" b="1"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394691"/>
            <a:ext cx="10515600" cy="4782272"/>
          </a:xfrm>
        </p:spPr>
        <p:txBody>
          <a:bodyPr>
            <a:normAutofit lnSpcReduction="10000"/>
          </a:bodyPr>
          <a:lstStyle/>
          <a:p>
            <a:pPr fontAlgn="base"/>
            <a:r>
              <a:rPr lang="en-US" b="1" dirty="0"/>
              <a:t>Big Data</a:t>
            </a:r>
            <a:r>
              <a:rPr lang="en-US" dirty="0"/>
              <a:t> includes huge volume, high velocity, and extensible variety of data. There are 3 types: Structured data, Semi-structured data, and </a:t>
            </a:r>
            <a:r>
              <a:rPr lang="en-US" dirty="0" smtClean="0"/>
              <a:t>Unstructured data</a:t>
            </a:r>
            <a:r>
              <a:rPr lang="en-US" dirty="0"/>
              <a:t>. </a:t>
            </a:r>
            <a:br>
              <a:rPr lang="en-US" dirty="0"/>
            </a:br>
            <a:r>
              <a:rPr lang="en-US" dirty="0"/>
              <a:t> </a:t>
            </a:r>
          </a:p>
          <a:p>
            <a:pPr fontAlgn="base"/>
            <a:r>
              <a:rPr lang="en-US" b="1" dirty="0"/>
              <a:t>Structured data –</a:t>
            </a:r>
            <a:r>
              <a:rPr lang="en-US" dirty="0"/>
              <a:t> </a:t>
            </a:r>
            <a:br>
              <a:rPr lang="en-US" dirty="0"/>
            </a:br>
            <a:r>
              <a:rPr lang="en-US" u="sng" dirty="0">
                <a:hlinkClick r:id="rId2"/>
              </a:rPr>
              <a:t>Structured data</a:t>
            </a:r>
            <a:r>
              <a:rPr lang="en-US" dirty="0"/>
              <a:t> is data whose elements are addressable for effective analysis. It has been organized into a formatted repository that is typically a database. It concerns all data which can be stored in database </a:t>
            </a:r>
            <a:r>
              <a:rPr lang="en-US" u="sng" dirty="0">
                <a:hlinkClick r:id="rId3"/>
              </a:rPr>
              <a:t>SQL</a:t>
            </a:r>
            <a:r>
              <a:rPr lang="en-US" dirty="0"/>
              <a:t> in a table with rows and columns. They have relational keys and can easily be mapped into pre-designed fields. Today, those data are most processed in the development and simplest way to manage information. </a:t>
            </a:r>
            <a:r>
              <a:rPr lang="en-US" i="1" dirty="0"/>
              <a:t>Example:</a:t>
            </a:r>
            <a:r>
              <a:rPr lang="en-US" dirty="0"/>
              <a:t> Relational data. </a:t>
            </a:r>
          </a:p>
          <a:p>
            <a:endParaRPr lang="en-IN" dirty="0"/>
          </a:p>
        </p:txBody>
      </p:sp>
    </p:spTree>
    <p:extLst>
      <p:ext uri="{BB962C8B-B14F-4D97-AF65-F5344CB8AC3E}">
        <p14:creationId xmlns:p14="http://schemas.microsoft.com/office/powerpoint/2010/main" val="1829019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1784"/>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Difference between Structured, Semi-structured and Unstructured data</a:t>
            </a:r>
            <a:br>
              <a:rPr lang="en-US" b="1" dirty="0" smtClean="0">
                <a:solidFill>
                  <a:srgbClr val="FF0000"/>
                </a:solidFill>
              </a:rPr>
            </a:br>
            <a:endParaRPr lang="en-IN" dirty="0">
              <a:solidFill>
                <a:srgbClr val="FF0000"/>
              </a:solidFill>
            </a:endParaRPr>
          </a:p>
        </p:txBody>
      </p:sp>
      <p:sp>
        <p:nvSpPr>
          <p:cNvPr id="3" name="Content Placeholder 2"/>
          <p:cNvSpPr>
            <a:spLocks noGrp="1"/>
          </p:cNvSpPr>
          <p:nvPr>
            <p:ph idx="1"/>
          </p:nvPr>
        </p:nvSpPr>
        <p:spPr>
          <a:xfrm>
            <a:off x="838200" y="1487055"/>
            <a:ext cx="10515600" cy="4689908"/>
          </a:xfrm>
        </p:spPr>
        <p:txBody>
          <a:bodyPr>
            <a:normAutofit fontScale="92500" lnSpcReduction="20000"/>
          </a:bodyPr>
          <a:lstStyle/>
          <a:p>
            <a:pPr fontAlgn="base"/>
            <a:r>
              <a:rPr lang="en-US" b="1" dirty="0"/>
              <a:t>Semi-Structured data –</a:t>
            </a:r>
            <a:r>
              <a:rPr lang="en-US" dirty="0"/>
              <a:t> </a:t>
            </a:r>
            <a:br>
              <a:rPr lang="en-US" dirty="0"/>
            </a:br>
            <a:r>
              <a:rPr lang="en-US" u="sng" dirty="0">
                <a:hlinkClick r:id="rId2"/>
              </a:rPr>
              <a:t>Semi-structured data</a:t>
            </a:r>
            <a:r>
              <a:rPr lang="en-US" dirty="0"/>
              <a:t> is information that does not reside in a relational database but that has some organizational properties that make it easier to analyze. With some processes, you can store them in the relation database (it could be very hard for some kind of semi-structured data), but Semi-structured exist to ease space. </a:t>
            </a:r>
            <a:r>
              <a:rPr lang="en-US" i="1" dirty="0"/>
              <a:t>Example</a:t>
            </a:r>
            <a:r>
              <a:rPr lang="en-US" dirty="0"/>
              <a:t>: XML data. </a:t>
            </a:r>
            <a:br>
              <a:rPr lang="en-US" dirty="0"/>
            </a:br>
            <a:r>
              <a:rPr lang="en-US" dirty="0"/>
              <a:t> </a:t>
            </a:r>
          </a:p>
          <a:p>
            <a:pPr fontAlgn="base"/>
            <a:r>
              <a:rPr lang="en-US" b="1" dirty="0"/>
              <a:t>Unstructured data –</a:t>
            </a:r>
            <a:r>
              <a:rPr lang="en-US" dirty="0"/>
              <a:t> </a:t>
            </a:r>
            <a:br>
              <a:rPr lang="en-US" dirty="0"/>
            </a:br>
            <a:r>
              <a:rPr lang="en-US" u="sng" dirty="0">
                <a:hlinkClick r:id="rId3"/>
              </a:rPr>
              <a:t>Unstructured data</a:t>
            </a:r>
            <a:r>
              <a:rPr lang="en-US" dirty="0"/>
              <a:t> is a data which is not organized in a predefined manner or does not have a predefined data model, thus it is not a good fit for a mainstream relational database. So for Unstructured data, there are alternative platforms for storing and managing, it is increasingly prevalent in IT systems and is used by organizations in a variety of business intelligence and analytics applications. </a:t>
            </a:r>
            <a:r>
              <a:rPr lang="en-US" i="1" dirty="0"/>
              <a:t>Example</a:t>
            </a:r>
            <a:r>
              <a:rPr lang="en-US" dirty="0"/>
              <a:t>: Word, PDF, Text, Media logs. </a:t>
            </a:r>
          </a:p>
          <a:p>
            <a:endParaRPr lang="en-IN" dirty="0"/>
          </a:p>
        </p:txBody>
      </p:sp>
    </p:spTree>
    <p:extLst>
      <p:ext uri="{BB962C8B-B14F-4D97-AF65-F5344CB8AC3E}">
        <p14:creationId xmlns:p14="http://schemas.microsoft.com/office/powerpoint/2010/main" val="2929826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36243" y="69272"/>
            <a:ext cx="9039225" cy="6788728"/>
          </a:xfrm>
          <a:prstGeom prst="rect">
            <a:avLst/>
          </a:prstGeom>
        </p:spPr>
      </p:pic>
    </p:spTree>
    <p:extLst>
      <p:ext uri="{BB962C8B-B14F-4D97-AF65-F5344CB8AC3E}">
        <p14:creationId xmlns:p14="http://schemas.microsoft.com/office/powerpoint/2010/main" val="29220565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95437" y="1252537"/>
            <a:ext cx="9001125" cy="5092845"/>
          </a:xfrm>
          <a:prstGeom prst="rect">
            <a:avLst/>
          </a:prstGeom>
        </p:spPr>
      </p:pic>
    </p:spTree>
    <p:extLst>
      <p:ext uri="{BB962C8B-B14F-4D97-AF65-F5344CB8AC3E}">
        <p14:creationId xmlns:p14="http://schemas.microsoft.com/office/powerpoint/2010/main" val="39437053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348"/>
          </a:xfrm>
        </p:spPr>
        <p:txBody>
          <a:bodyPr>
            <a:normAutofit fontScale="90000"/>
          </a:bodyPr>
          <a:lstStyle/>
          <a:p>
            <a:r>
              <a:rPr lang="en-US" b="1" dirty="0" smtClean="0">
                <a:solidFill>
                  <a:srgbClr val="FF0000"/>
                </a:solidFill>
              </a:rPr>
              <a:t>Data</a:t>
            </a:r>
            <a:r>
              <a:rPr lang="en-US" dirty="0" smtClean="0"/>
              <a:t> </a:t>
            </a:r>
            <a:r>
              <a:rPr lang="en-US" b="1" dirty="0" smtClean="0">
                <a:solidFill>
                  <a:srgbClr val="FF0000"/>
                </a:solidFill>
              </a:rPr>
              <a:t>Repositories</a:t>
            </a:r>
            <a:endParaRPr lang="en-IN"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838200" y="1302327"/>
            <a:ext cx="10515600" cy="4239932"/>
          </a:xfrm>
          <a:prstGeom prst="rect">
            <a:avLst/>
          </a:prstGeom>
        </p:spPr>
      </p:pic>
    </p:spTree>
    <p:extLst>
      <p:ext uri="{BB962C8B-B14F-4D97-AF65-F5344CB8AC3E}">
        <p14:creationId xmlns:p14="http://schemas.microsoft.com/office/powerpoint/2010/main" val="25580700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293"/>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What </a:t>
            </a:r>
            <a:r>
              <a:rPr lang="en-US" b="1" dirty="0">
                <a:solidFill>
                  <a:srgbClr val="FF0000"/>
                </a:solidFill>
              </a:rPr>
              <a:t>is a data repository?</a:t>
            </a:r>
            <a:br>
              <a:rPr lang="en-US" b="1" dirty="0">
                <a:solidFill>
                  <a:srgbClr val="FF0000"/>
                </a:solidFill>
              </a:rPr>
            </a:br>
            <a:endParaRPr lang="en-IN" b="1" dirty="0">
              <a:solidFill>
                <a:srgbClr val="FF0000"/>
              </a:solidFill>
            </a:endParaRPr>
          </a:p>
        </p:txBody>
      </p:sp>
      <p:sp>
        <p:nvSpPr>
          <p:cNvPr id="3" name="Content Placeholder 2"/>
          <p:cNvSpPr>
            <a:spLocks noGrp="1"/>
          </p:cNvSpPr>
          <p:nvPr>
            <p:ph idx="1"/>
          </p:nvPr>
        </p:nvSpPr>
        <p:spPr>
          <a:xfrm>
            <a:off x="838200" y="1173018"/>
            <a:ext cx="10515600" cy="5003945"/>
          </a:xfrm>
        </p:spPr>
        <p:txBody>
          <a:bodyPr>
            <a:normAutofit fontScale="92500" lnSpcReduction="20000"/>
          </a:bodyPr>
          <a:lstStyle/>
          <a:p>
            <a:pPr algn="just"/>
            <a:r>
              <a:rPr lang="en-US" dirty="0"/>
              <a:t>A data repository is a data library or </a:t>
            </a:r>
            <a:r>
              <a:rPr lang="en-US" dirty="0" smtClean="0"/>
              <a:t>archive(collection of historical documents). </a:t>
            </a:r>
            <a:r>
              <a:rPr lang="en-US" dirty="0"/>
              <a:t>It may refer to large database management systems or several databases that collect, manage, and store sensitive data sets for </a:t>
            </a:r>
            <a:r>
              <a:rPr lang="en-US" dirty="0">
                <a:hlinkClick r:id="rId2"/>
              </a:rPr>
              <a:t>data analysis</a:t>
            </a:r>
            <a:r>
              <a:rPr lang="en-US" dirty="0"/>
              <a:t>, sharing, and reporting.</a:t>
            </a:r>
          </a:p>
          <a:p>
            <a:pPr algn="just"/>
            <a:r>
              <a:rPr lang="en-US" dirty="0"/>
              <a:t>Authorized users can easily access and retrieve data using query and search tools, which helps with research and decision-making. Combining data from different sources, like databases, apps, and external systems, gives a complete and unified view of the data.</a:t>
            </a:r>
          </a:p>
          <a:p>
            <a:pPr algn="just"/>
            <a:r>
              <a:rPr lang="en-US" dirty="0"/>
              <a:t>Data can be collected and stored in different ways, like aggregated data, usually collected from multiple sources or segments of a business. It can then be stored structured or unstructured and later tagged with different metadata.</a:t>
            </a:r>
          </a:p>
          <a:p>
            <a:pPr algn="just"/>
            <a:r>
              <a:rPr lang="en-US" dirty="0"/>
              <a:t>The data repository uses structured organization methods, standardized schemas, and metadata to ensure the data is always the same and easy to find. It has tools for storing, managing, and protecting data, such as compression, indexing, access controls, encryption, and reporting.</a:t>
            </a:r>
          </a:p>
          <a:p>
            <a:pPr algn="just"/>
            <a:endParaRPr lang="en-IN" dirty="0"/>
          </a:p>
        </p:txBody>
      </p:sp>
    </p:spTree>
    <p:extLst>
      <p:ext uri="{BB962C8B-B14F-4D97-AF65-F5344CB8AC3E}">
        <p14:creationId xmlns:p14="http://schemas.microsoft.com/office/powerpoint/2010/main" val="5662687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057"/>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1. </a:t>
            </a:r>
            <a:r>
              <a:rPr lang="en-IN" b="1" dirty="0" smtClean="0">
                <a:solidFill>
                  <a:srgbClr val="FF0000"/>
                </a:solidFill>
              </a:rPr>
              <a:t>Data </a:t>
            </a:r>
            <a:r>
              <a:rPr lang="en-IN" b="1" dirty="0">
                <a:solidFill>
                  <a:srgbClr val="FF0000"/>
                </a:solidFill>
              </a:rPr>
              <a:t>warehouse</a:t>
            </a:r>
            <a:br>
              <a:rPr lang="en-IN" b="1" dirty="0">
                <a:solidFill>
                  <a:srgbClr val="FF0000"/>
                </a:solidFill>
              </a:rPr>
            </a:br>
            <a:endParaRPr lang="en-IN" b="1" dirty="0">
              <a:solidFill>
                <a:srgbClr val="FF0000"/>
              </a:solidFill>
            </a:endParaRPr>
          </a:p>
        </p:txBody>
      </p:sp>
      <p:sp>
        <p:nvSpPr>
          <p:cNvPr id="4" name="Content Placeholder 3"/>
          <p:cNvSpPr>
            <a:spLocks noGrp="1"/>
          </p:cNvSpPr>
          <p:nvPr>
            <p:ph sz="half" idx="1"/>
          </p:nvPr>
        </p:nvSpPr>
        <p:spPr>
          <a:xfrm>
            <a:off x="838200" y="1062182"/>
            <a:ext cx="5181600" cy="5114781"/>
          </a:xfrm>
        </p:spPr>
        <p:txBody>
          <a:bodyPr/>
          <a:lstStyle/>
          <a:p>
            <a:pPr algn="just"/>
            <a:r>
              <a:rPr lang="en-US" dirty="0"/>
              <a:t>This is the largest repository type, where data is collected from several business segments or sources. The data stored in this repository is generally used for analysis and reporting, which will help the data users or teams make the correct decisions in their business or project.</a:t>
            </a:r>
            <a:endParaRPr lang="en-IN" dirty="0"/>
          </a:p>
        </p:txBody>
      </p:sp>
      <p:pic>
        <p:nvPicPr>
          <p:cNvPr id="4098" name="Picture 2" descr="data-repository-data-warehouse"/>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587331" y="1191491"/>
            <a:ext cx="4351338" cy="4985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5747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844839"/>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2.Data </a:t>
            </a:r>
            <a:r>
              <a:rPr lang="en-IN" b="1" dirty="0">
                <a:solidFill>
                  <a:srgbClr val="FF0000"/>
                </a:solidFill>
              </a:rPr>
              <a:t>lake</a:t>
            </a:r>
            <a:br>
              <a:rPr lang="en-IN" b="1" dirty="0">
                <a:solidFill>
                  <a:srgbClr val="FF0000"/>
                </a:solidFill>
              </a:rPr>
            </a:br>
            <a:endParaRPr lang="en-IN" b="1" dirty="0">
              <a:solidFill>
                <a:srgbClr val="FF0000"/>
              </a:solidFill>
            </a:endParaRPr>
          </a:p>
        </p:txBody>
      </p:sp>
      <p:sp>
        <p:nvSpPr>
          <p:cNvPr id="6" name="Content Placeholder 5"/>
          <p:cNvSpPr>
            <a:spLocks noGrp="1"/>
          </p:cNvSpPr>
          <p:nvPr>
            <p:ph idx="1"/>
          </p:nvPr>
        </p:nvSpPr>
        <p:spPr>
          <a:xfrm>
            <a:off x="838200" y="1419225"/>
            <a:ext cx="10515600" cy="4351338"/>
          </a:xfrm>
        </p:spPr>
        <p:txBody>
          <a:bodyPr/>
          <a:lstStyle/>
          <a:p>
            <a:pPr algn="just"/>
            <a:r>
              <a:rPr lang="en-US" dirty="0"/>
              <a:t>In this type of repository, data can be in any form, whether structured, semi-structured, or unstructured. It is a huge storehouse of unstructured data categorized and labeled with metadata. </a:t>
            </a:r>
          </a:p>
          <a:p>
            <a:pPr algn="just"/>
            <a:r>
              <a:rPr lang="en-US" dirty="0"/>
              <a:t>The main reason for a </a:t>
            </a:r>
            <a:r>
              <a:rPr lang="en-US" dirty="0">
                <a:hlinkClick r:id="rId2"/>
              </a:rPr>
              <a:t>data lake</a:t>
            </a:r>
            <a:r>
              <a:rPr lang="en-US" dirty="0"/>
              <a:t> is the limitation of the data warehouses. It helps to gain better </a:t>
            </a:r>
            <a:r>
              <a:rPr lang="en-US" dirty="0">
                <a:hlinkClick r:id="rId3"/>
              </a:rPr>
              <a:t>data governance</a:t>
            </a:r>
            <a:r>
              <a:rPr lang="en-US" dirty="0"/>
              <a:t> and </a:t>
            </a:r>
            <a:r>
              <a:rPr lang="en-US" dirty="0">
                <a:hlinkClick r:id="rId4"/>
              </a:rPr>
              <a:t>data governance framework</a:t>
            </a:r>
            <a:r>
              <a:rPr lang="en-US" dirty="0"/>
              <a:t> total control of the data it has in it.</a:t>
            </a:r>
          </a:p>
          <a:p>
            <a:pPr algn="just"/>
            <a:endParaRPr lang="en-IN" dirty="0"/>
          </a:p>
        </p:txBody>
      </p:sp>
    </p:spTree>
    <p:extLst>
      <p:ext uri="{BB962C8B-B14F-4D97-AF65-F5344CB8AC3E}">
        <p14:creationId xmlns:p14="http://schemas.microsoft.com/office/powerpoint/2010/main" val="1177505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6220"/>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3. Data </a:t>
            </a:r>
            <a:r>
              <a:rPr lang="en-IN" b="1" dirty="0">
                <a:solidFill>
                  <a:srgbClr val="FF0000"/>
                </a:solidFill>
              </a:rPr>
              <a:t>mart</a:t>
            </a:r>
            <a:br>
              <a:rPr lang="en-IN" b="1" dirty="0">
                <a:solidFill>
                  <a:srgbClr val="FF0000"/>
                </a:solidFill>
              </a:rPr>
            </a:br>
            <a:endParaRPr lang="en-IN" b="1" dirty="0">
              <a:solidFill>
                <a:srgbClr val="FF0000"/>
              </a:solidFill>
            </a:endParaRPr>
          </a:p>
        </p:txBody>
      </p:sp>
      <p:sp>
        <p:nvSpPr>
          <p:cNvPr id="4" name="Content Placeholder 3"/>
          <p:cNvSpPr>
            <a:spLocks noGrp="1"/>
          </p:cNvSpPr>
          <p:nvPr>
            <p:ph sz="half" idx="1"/>
          </p:nvPr>
        </p:nvSpPr>
        <p:spPr>
          <a:xfrm>
            <a:off x="838200" y="1080655"/>
            <a:ext cx="5181600" cy="5096308"/>
          </a:xfrm>
        </p:spPr>
        <p:txBody>
          <a:bodyPr>
            <a:normAutofit fontScale="92500"/>
          </a:bodyPr>
          <a:lstStyle/>
          <a:p>
            <a:r>
              <a:rPr lang="en-US" dirty="0"/>
              <a:t>Data marts are often confused with data warehouses. However, they serve different functions.</a:t>
            </a:r>
          </a:p>
          <a:p>
            <a:pPr algn="just"/>
            <a:r>
              <a:rPr lang="en-US" dirty="0"/>
              <a:t>This subset of the data warehouse is focused on a particular subject, department, or other specific area. </a:t>
            </a:r>
          </a:p>
          <a:p>
            <a:pPr algn="just"/>
            <a:r>
              <a:rPr lang="en-US" dirty="0"/>
              <a:t>Since the data is stored for a specific area, a user can swiftly access the insights without spending much time searching an entire data warehouse, ultimately making users’ lives easy.</a:t>
            </a:r>
          </a:p>
          <a:p>
            <a:endParaRPr lang="en-IN" dirty="0"/>
          </a:p>
        </p:txBody>
      </p:sp>
      <p:pic>
        <p:nvPicPr>
          <p:cNvPr id="5122" name="Picture 2" descr="data-repository-data-mart"/>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6615040" y="1080655"/>
            <a:ext cx="4351338" cy="5096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9225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4002"/>
          </a:xfrm>
        </p:spPr>
        <p:txBody>
          <a:bodyPr>
            <a:normAutofit fontScale="90000"/>
          </a:bodyPr>
          <a:lstStyle/>
          <a:p>
            <a:r>
              <a:rPr lang="en-IN" b="1" dirty="0" smtClean="0">
                <a:solidFill>
                  <a:srgbClr val="FF0000"/>
                </a:solidFill>
              </a:rPr>
              <a:t/>
            </a:r>
            <a:br>
              <a:rPr lang="en-IN" b="1" dirty="0" smtClean="0">
                <a:solidFill>
                  <a:srgbClr val="FF0000"/>
                </a:solidFill>
              </a:rPr>
            </a:br>
            <a:r>
              <a:rPr lang="en-IN" b="1" dirty="0" smtClean="0">
                <a:solidFill>
                  <a:srgbClr val="FF0000"/>
                </a:solidFill>
              </a:rPr>
              <a:t>4.Data </a:t>
            </a:r>
            <a:r>
              <a:rPr lang="en-IN" b="1" dirty="0">
                <a:solidFill>
                  <a:srgbClr val="FF0000"/>
                </a:solidFill>
              </a:rPr>
              <a:t>cube</a:t>
            </a:r>
            <a:br>
              <a:rPr lang="en-IN" b="1" dirty="0">
                <a:solidFill>
                  <a:srgbClr val="FF0000"/>
                </a:solidFill>
              </a:rPr>
            </a:br>
            <a:endParaRPr lang="en-IN" b="1" dirty="0">
              <a:solidFill>
                <a:srgbClr val="FF0000"/>
              </a:solidFill>
            </a:endParaRPr>
          </a:p>
        </p:txBody>
      </p:sp>
      <p:sp>
        <p:nvSpPr>
          <p:cNvPr id="3" name="Content Placeholder 2"/>
          <p:cNvSpPr>
            <a:spLocks noGrp="1"/>
          </p:cNvSpPr>
          <p:nvPr>
            <p:ph idx="1"/>
          </p:nvPr>
        </p:nvSpPr>
        <p:spPr>
          <a:xfrm>
            <a:off x="838200" y="1256145"/>
            <a:ext cx="10515600" cy="4920818"/>
          </a:xfrm>
        </p:spPr>
        <p:txBody>
          <a:bodyPr>
            <a:normAutofit/>
          </a:bodyPr>
          <a:lstStyle/>
          <a:p>
            <a:pPr algn="just"/>
            <a:r>
              <a:rPr lang="en-US" dirty="0"/>
              <a:t>This repository contains the most complex data in it. It may be described as the multidimensional extensions of different tables, and they’re generally used to represent data that is too complex to be described by just tables, rows, and columns. </a:t>
            </a:r>
          </a:p>
          <a:p>
            <a:pPr algn="just"/>
            <a:r>
              <a:rPr lang="en-US" dirty="0"/>
              <a:t>So basically, a data cube can be used when we analyze data available to us and beyond 3-D. </a:t>
            </a:r>
            <a:endParaRPr lang="en-IN" dirty="0"/>
          </a:p>
        </p:txBody>
      </p:sp>
    </p:spTree>
    <p:extLst>
      <p:ext uri="{BB962C8B-B14F-4D97-AF65-F5344CB8AC3E}">
        <p14:creationId xmlns:p14="http://schemas.microsoft.com/office/powerpoint/2010/main" val="6353143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21566"/>
          </a:xfrm>
        </p:spPr>
        <p:txBody>
          <a:bodyPr>
            <a:normAutofit fontScale="90000"/>
          </a:bodyPr>
          <a:lstStyle/>
          <a:p>
            <a:r>
              <a:rPr lang="en-US" b="1" dirty="0" smtClean="0">
                <a:solidFill>
                  <a:srgbClr val="FF0000"/>
                </a:solidFill>
              </a:rPr>
              <a:t>5. Data Pipelines</a:t>
            </a:r>
            <a:endParaRPr lang="en-IN" b="1" dirty="0">
              <a:solidFill>
                <a:srgbClr val="FF0000"/>
              </a:solidFill>
            </a:endParaRPr>
          </a:p>
        </p:txBody>
      </p:sp>
      <p:sp>
        <p:nvSpPr>
          <p:cNvPr id="3" name="Content Placeholder 2"/>
          <p:cNvSpPr>
            <a:spLocks noGrp="1"/>
          </p:cNvSpPr>
          <p:nvPr>
            <p:ph idx="1"/>
          </p:nvPr>
        </p:nvSpPr>
        <p:spPr>
          <a:xfrm>
            <a:off x="838200" y="960582"/>
            <a:ext cx="10515600" cy="5216381"/>
          </a:xfrm>
        </p:spPr>
        <p:txBody>
          <a:bodyPr>
            <a:normAutofit fontScale="85000" lnSpcReduction="10000"/>
          </a:bodyPr>
          <a:lstStyle/>
          <a:p>
            <a:pPr algn="just"/>
            <a:r>
              <a:rPr lang="en-US" dirty="0"/>
              <a:t>Let’s say you run a large online bookstore. It’s open 24/7. Users may place orders and pay for them literally every minute or second. That means your website must quickly process lots of transactions involving small amounts of data like order ID and details, user ID, or credit card data. Online transaction processing (</a:t>
            </a:r>
            <a:r>
              <a:rPr lang="en-US" dirty="0">
                <a:hlinkClick r:id="rId2"/>
              </a:rPr>
              <a:t>OLTP</a:t>
            </a:r>
            <a:r>
              <a:rPr lang="en-US" dirty="0"/>
              <a:t>) systems, namely databases and applications like a shopping cart, make it possible for an </a:t>
            </a:r>
            <a:r>
              <a:rPr lang="en-US" dirty="0" err="1"/>
              <a:t>eCommerce</a:t>
            </a:r>
            <a:r>
              <a:rPr lang="en-US" dirty="0"/>
              <a:t> business to work nonstop as it must.</a:t>
            </a:r>
            <a:r>
              <a:rPr lang="en-US" dirty="0" smtClean="0"/>
              <a:t/>
            </a:r>
            <a:br>
              <a:rPr lang="en-US" dirty="0" smtClean="0"/>
            </a:br>
            <a:r>
              <a:rPr lang="en-US" dirty="0" smtClean="0"/>
              <a:t/>
            </a:r>
            <a:br>
              <a:rPr lang="en-US" dirty="0" smtClean="0"/>
            </a:br>
            <a:r>
              <a:rPr lang="en-US" dirty="0"/>
              <a:t>Besides running daily operations, you may evaluate your performance. For instance, analyze sales for a given book or author during the previous month. It means you must collect transactional data and move it from the database that supports transactions to another system that can handle large volumes of data. And, as is common, to transform it before loading to another storage system.</a:t>
            </a:r>
            <a:r>
              <a:rPr lang="en-US" dirty="0" smtClean="0"/>
              <a:t/>
            </a:r>
            <a:br>
              <a:rPr lang="en-US" dirty="0" smtClean="0"/>
            </a:br>
            <a:r>
              <a:rPr lang="en-US" dirty="0" smtClean="0"/>
              <a:t/>
            </a:r>
            <a:br>
              <a:rPr lang="en-US" dirty="0" smtClean="0"/>
            </a:br>
            <a:r>
              <a:rPr lang="en-US" dirty="0"/>
              <a:t>Only after these actions can you analyze data with dedicated software (a so-called online analytical processing or </a:t>
            </a:r>
            <a:r>
              <a:rPr lang="en-US" dirty="0">
                <a:hlinkClick r:id="rId3"/>
              </a:rPr>
              <a:t>OLAP system</a:t>
            </a:r>
            <a:r>
              <a:rPr lang="en-US" dirty="0"/>
              <a:t>). But how do you move data? You need infrastructure, hardware and/or software, that will allow you to do that. You need an efficient </a:t>
            </a:r>
            <a:r>
              <a:rPr lang="en-US" i="1" dirty="0"/>
              <a:t>data pipeline</a:t>
            </a:r>
            <a:r>
              <a:rPr lang="en-US" dirty="0"/>
              <a:t>.</a:t>
            </a:r>
            <a:endParaRPr lang="en-IN" dirty="0"/>
          </a:p>
        </p:txBody>
      </p:sp>
    </p:spTree>
    <p:extLst>
      <p:ext uri="{BB962C8B-B14F-4D97-AF65-F5344CB8AC3E}">
        <p14:creationId xmlns:p14="http://schemas.microsoft.com/office/powerpoint/2010/main" val="4056977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3239"/>
          </a:xfrm>
        </p:spPr>
        <p:txBody>
          <a:bodyPr>
            <a:normAutofit fontScale="90000"/>
          </a:bodyPr>
          <a:lstStyle/>
          <a:p>
            <a:r>
              <a:rPr lang="en-US" b="1" dirty="0" smtClean="0">
                <a:solidFill>
                  <a:srgbClr val="FF0000"/>
                </a:solidFill>
              </a:rPr>
              <a:t/>
            </a:r>
            <a:br>
              <a:rPr lang="en-US" b="1" dirty="0" smtClean="0">
                <a:solidFill>
                  <a:srgbClr val="FF0000"/>
                </a:solidFill>
              </a:rPr>
            </a:br>
            <a:r>
              <a:rPr lang="en-US" b="1" dirty="0" smtClean="0">
                <a:solidFill>
                  <a:srgbClr val="FF0000"/>
                </a:solidFill>
              </a:rPr>
              <a:t>What </a:t>
            </a:r>
            <a:r>
              <a:rPr lang="en-US" b="1" dirty="0">
                <a:solidFill>
                  <a:srgbClr val="FF0000"/>
                </a:solidFill>
              </a:rPr>
              <a:t>is a data pipeline?</a:t>
            </a:r>
            <a:br>
              <a:rPr lang="en-US" b="1" dirty="0">
                <a:solidFill>
                  <a:srgbClr val="FF0000"/>
                </a:solidFill>
              </a:rPr>
            </a:br>
            <a:endParaRPr lang="en-IN" b="1" dirty="0">
              <a:solidFill>
                <a:srgbClr val="FF0000"/>
              </a:solidFill>
            </a:endParaRPr>
          </a:p>
        </p:txBody>
      </p:sp>
      <p:sp>
        <p:nvSpPr>
          <p:cNvPr id="4" name="Content Placeholder 3"/>
          <p:cNvSpPr>
            <a:spLocks noGrp="1"/>
          </p:cNvSpPr>
          <p:nvPr>
            <p:ph idx="1"/>
          </p:nvPr>
        </p:nvSpPr>
        <p:spPr>
          <a:xfrm>
            <a:off x="838200" y="1280679"/>
            <a:ext cx="10515600" cy="4351338"/>
          </a:xfrm>
        </p:spPr>
        <p:txBody>
          <a:bodyPr>
            <a:normAutofit/>
          </a:bodyPr>
          <a:lstStyle/>
          <a:p>
            <a:r>
              <a:rPr lang="en-US" dirty="0"/>
              <a:t>A </a:t>
            </a:r>
            <a:r>
              <a:rPr lang="en-US" b="1" dirty="0"/>
              <a:t>data pipeline</a:t>
            </a:r>
            <a:r>
              <a:rPr lang="en-US" dirty="0"/>
              <a:t> is a set of tools and activities for moving data from one system with its method of data storage and processing to another system in which it can be stored and managed differently. Moreover, pipelines allow for automatically getting information from many disparate sources, then transforming and consolidating it in one high-performing data storage.</a:t>
            </a:r>
            <a:endParaRPr lang="en-IN" dirty="0"/>
          </a:p>
        </p:txBody>
      </p:sp>
      <p:pic>
        <p:nvPicPr>
          <p:cNvPr id="6146" name="Picture 2" descr="data_pipeline"/>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bwMode="auto">
          <a:xfrm>
            <a:off x="1145308" y="3922134"/>
            <a:ext cx="10208491" cy="2266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5069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7820"/>
          </a:xfrm>
        </p:spPr>
        <p:txBody>
          <a:bodyPr>
            <a:normAutofit fontScale="90000"/>
          </a:bodyPr>
          <a:lstStyle/>
          <a:p>
            <a:r>
              <a:rPr lang="en-US" b="1" dirty="0" smtClean="0">
                <a:solidFill>
                  <a:srgbClr val="FF0000"/>
                </a:solidFill>
              </a:rPr>
              <a:t>5.Data Pipeline</a:t>
            </a:r>
            <a:endParaRPr lang="en-IN" b="1" dirty="0">
              <a:solidFill>
                <a:srgbClr val="FF0000"/>
              </a:solidFill>
            </a:endParaRPr>
          </a:p>
        </p:txBody>
      </p:sp>
      <p:sp>
        <p:nvSpPr>
          <p:cNvPr id="3" name="Content Placeholder 2"/>
          <p:cNvSpPr>
            <a:spLocks noGrp="1"/>
          </p:cNvSpPr>
          <p:nvPr>
            <p:ph idx="1"/>
          </p:nvPr>
        </p:nvSpPr>
        <p:spPr>
          <a:xfrm>
            <a:off x="838200" y="1052946"/>
            <a:ext cx="10515600" cy="5124017"/>
          </a:xfrm>
        </p:spPr>
        <p:txBody>
          <a:bodyPr>
            <a:normAutofit/>
          </a:bodyPr>
          <a:lstStyle/>
          <a:p>
            <a:pPr algn="just"/>
            <a:r>
              <a:rPr lang="en-US" dirty="0"/>
              <a:t>Imagine that you’re gathering various data that shows how people engage with your brand. That can be their location, device, session recordings, purchase and customer service interaction history, feedback shared, and more. And then you place these pieces of information in one place, a warehouse, creating a profile for each customer.</a:t>
            </a:r>
            <a:r>
              <a:rPr lang="en-US" dirty="0" smtClean="0"/>
              <a:t/>
            </a:r>
            <a:br>
              <a:rPr lang="en-US" dirty="0" smtClean="0"/>
            </a:br>
            <a:r>
              <a:rPr lang="en-US" dirty="0" smtClean="0"/>
              <a:t/>
            </a:r>
            <a:br>
              <a:rPr lang="en-US" dirty="0" smtClean="0"/>
            </a:br>
            <a:r>
              <a:rPr lang="en-US" dirty="0"/>
              <a:t>Thanks to data consolidation, everyone who uses data to make strategic and operational decisions or build and maintain analytical tools, can easily and quickly access it. These can be </a:t>
            </a:r>
            <a:r>
              <a:rPr lang="en-US" dirty="0">
                <a:hlinkClick r:id="rId2"/>
              </a:rPr>
              <a:t>data science teams</a:t>
            </a:r>
            <a:r>
              <a:rPr lang="en-US" dirty="0"/>
              <a:t>, data analysts, </a:t>
            </a:r>
            <a:r>
              <a:rPr lang="en-US" dirty="0">
                <a:hlinkClick r:id="rId3"/>
              </a:rPr>
              <a:t>BI developers</a:t>
            </a:r>
            <a:r>
              <a:rPr lang="en-US" dirty="0"/>
              <a:t>, </a:t>
            </a:r>
            <a:r>
              <a:rPr lang="en-US" dirty="0">
                <a:hlinkClick r:id="rId4"/>
              </a:rPr>
              <a:t>chief product officers</a:t>
            </a:r>
            <a:r>
              <a:rPr lang="en-US" dirty="0"/>
              <a:t>, marketers, or any other specialists that rely on data in their work.</a:t>
            </a:r>
            <a:endParaRPr lang="en-IN" dirty="0"/>
          </a:p>
        </p:txBody>
      </p:sp>
    </p:spTree>
    <p:extLst>
      <p:ext uri="{BB962C8B-B14F-4D97-AF65-F5344CB8AC3E}">
        <p14:creationId xmlns:p14="http://schemas.microsoft.com/office/powerpoint/2010/main" val="16681907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2387" y="182880"/>
            <a:ext cx="11107554" cy="6675121"/>
          </a:xfrm>
          <a:prstGeom prst="rect">
            <a:avLst/>
          </a:prstGeom>
        </p:spPr>
      </p:pic>
    </p:spTree>
    <p:extLst>
      <p:ext uri="{BB962C8B-B14F-4D97-AF65-F5344CB8AC3E}">
        <p14:creationId xmlns:p14="http://schemas.microsoft.com/office/powerpoint/2010/main" val="17667362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632402"/>
          </a:xfrm>
        </p:spPr>
        <p:txBody>
          <a:bodyPr>
            <a:normAutofit fontScale="90000"/>
          </a:bodyPr>
          <a:lstStyle/>
          <a:p>
            <a:r>
              <a:rPr lang="en-US" b="1" dirty="0" smtClean="0">
                <a:solidFill>
                  <a:srgbClr val="FF0000"/>
                </a:solidFill>
              </a:rPr>
              <a:t>Benefits of using Data Repositories</a:t>
            </a:r>
            <a:endParaRPr lang="en-IN" b="1" dirty="0">
              <a:solidFill>
                <a:srgbClr val="FF0000"/>
              </a:solidFill>
            </a:endParaRPr>
          </a:p>
        </p:txBody>
      </p:sp>
      <p:sp>
        <p:nvSpPr>
          <p:cNvPr id="3" name="Content Placeholder 2"/>
          <p:cNvSpPr>
            <a:spLocks noGrp="1"/>
          </p:cNvSpPr>
          <p:nvPr>
            <p:ph idx="1"/>
          </p:nvPr>
        </p:nvSpPr>
        <p:spPr>
          <a:xfrm>
            <a:off x="838200" y="1154546"/>
            <a:ext cx="10515600" cy="5022418"/>
          </a:xfrm>
        </p:spPr>
        <p:txBody>
          <a:bodyPr>
            <a:normAutofit fontScale="77500" lnSpcReduction="20000"/>
          </a:bodyPr>
          <a:lstStyle/>
          <a:p>
            <a:r>
              <a:rPr lang="en-US" dirty="0"/>
              <a:t>Greater visibility</a:t>
            </a:r>
          </a:p>
          <a:p>
            <a:r>
              <a:rPr lang="en-US" dirty="0"/>
              <a:t>Data saved in data repositories can be viewed anytime. Keeping it </a:t>
            </a:r>
            <a:r>
              <a:rPr lang="en-US" dirty="0" err="1" smtClean="0"/>
              <a:t>siloed</a:t>
            </a:r>
            <a:r>
              <a:rPr lang="en-US" dirty="0" smtClean="0"/>
              <a:t>( </a:t>
            </a:r>
            <a:r>
              <a:rPr lang="en-US" dirty="0"/>
              <a:t>in Excel sheets or applications not used by a team reduces its visibility and usability, wasting time and resources.</a:t>
            </a:r>
          </a:p>
          <a:p>
            <a:r>
              <a:rPr lang="en-US" dirty="0"/>
              <a:t>2. Enhanced discoverability</a:t>
            </a:r>
          </a:p>
          <a:p>
            <a:r>
              <a:rPr lang="en-US" dirty="0"/>
              <a:t>Saving data in digital format makes it more accessible. Just search for the piece of data you’re looking for, and voila! The metadata added to the data repository enables others to understand and make more sense of the large context.</a:t>
            </a:r>
          </a:p>
          <a:p>
            <a:r>
              <a:rPr lang="en-US" dirty="0"/>
              <a:t>3. Reuse data</a:t>
            </a:r>
          </a:p>
          <a:p>
            <a:r>
              <a:rPr lang="en-US" dirty="0"/>
              <a:t>A data repository contains many pieces of data. However, it’s more than just a warehouse. Discrete datasets are joined so that you can derive interesting insights into your area of research and generate various types of reports using the same datasets.</a:t>
            </a:r>
          </a:p>
          <a:p>
            <a:r>
              <a:rPr lang="en-US" dirty="0"/>
              <a:t> Gain insights from multiple sources of data</a:t>
            </a:r>
          </a:p>
          <a:p>
            <a:r>
              <a:rPr lang="en-US" dirty="0"/>
              <a:t>Integrating data repositories with other applications lets you see a multi-dimensional view of your data. For instance, you can analyze the historical </a:t>
            </a:r>
            <a:r>
              <a:rPr lang="en-US" dirty="0">
                <a:hlinkClick r:id="rId2"/>
              </a:rPr>
              <a:t>survey data</a:t>
            </a:r>
            <a:r>
              <a:rPr lang="en-US" dirty="0"/>
              <a:t> and the actual sales data to understand the accuracy of insights gained in the past.</a:t>
            </a:r>
          </a:p>
          <a:p>
            <a:endParaRPr lang="en-IN" dirty="0"/>
          </a:p>
        </p:txBody>
      </p:sp>
    </p:spTree>
    <p:extLst>
      <p:ext uri="{BB962C8B-B14F-4D97-AF65-F5344CB8AC3E}">
        <p14:creationId xmlns:p14="http://schemas.microsoft.com/office/powerpoint/2010/main" val="1390842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751</TotalTime>
  <Words>1995</Words>
  <Application>Microsoft Office PowerPoint</Application>
  <PresentationFormat>Widescreen</PresentationFormat>
  <Paragraphs>242</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Nunito</vt:lpstr>
      <vt:lpstr>Office Theme</vt:lpstr>
      <vt:lpstr>Chapter 2</vt:lpstr>
      <vt:lpstr>Terminologies in Data Analytics</vt:lpstr>
      <vt:lpstr>Terminologies in Data Analytics</vt:lpstr>
      <vt:lpstr>Terminologies</vt:lpstr>
      <vt:lpstr>Terminologies in Data Analytics</vt:lpstr>
      <vt:lpstr>Terminologies in Data Analytics</vt:lpstr>
      <vt:lpstr>Terminologies in Data Analytics</vt:lpstr>
      <vt:lpstr> What is Text Analytics? </vt:lpstr>
      <vt:lpstr> Why is Text Analytics Important? </vt:lpstr>
      <vt:lpstr> What Text Analytics Can Do? </vt:lpstr>
      <vt:lpstr> What Text Analytics Can Do? </vt:lpstr>
      <vt:lpstr> How Text Analytics Work? </vt:lpstr>
      <vt:lpstr>Steps in Text Analytics</vt:lpstr>
      <vt:lpstr>Steps in Text Analytics</vt:lpstr>
      <vt:lpstr>Steps in Text Analytics</vt:lpstr>
      <vt:lpstr>Steps in Text Analytics</vt:lpstr>
      <vt:lpstr> Various Text Analytics Techniques </vt:lpstr>
      <vt:lpstr> Application of Text Analysis </vt:lpstr>
      <vt:lpstr> What is web analytics? </vt:lpstr>
      <vt:lpstr>Web Analytics</vt:lpstr>
      <vt:lpstr>Who uses web analytics?</vt:lpstr>
      <vt:lpstr> Importance of web analytics </vt:lpstr>
      <vt:lpstr> Web analytics process </vt:lpstr>
      <vt:lpstr> Web analytics process </vt:lpstr>
      <vt:lpstr> Web analytics process </vt:lpstr>
      <vt:lpstr> Main categories of web analytics </vt:lpstr>
      <vt:lpstr> What is Marketing Analytics? </vt:lpstr>
      <vt:lpstr> The Importance of Marketing Analytics </vt:lpstr>
      <vt:lpstr> How Organizations Use Marketing Analytics </vt:lpstr>
      <vt:lpstr>How Organizations Use Marketing Analytics</vt:lpstr>
      <vt:lpstr>How Organizations Use Marketing Analytics</vt:lpstr>
      <vt:lpstr>Data Types</vt:lpstr>
      <vt:lpstr>PowerPoint Presentation</vt:lpstr>
      <vt:lpstr>What is Data?</vt:lpstr>
      <vt:lpstr> What are Types of Data in Statistics? </vt:lpstr>
      <vt:lpstr>Qualitative Data (Categorical Data)</vt:lpstr>
      <vt:lpstr> Nominal Data </vt:lpstr>
      <vt:lpstr> Ordinal Data </vt:lpstr>
      <vt:lpstr> Quantitative Data (Numerical Data) </vt:lpstr>
      <vt:lpstr>PowerPoint Presentation</vt:lpstr>
      <vt:lpstr> Difference between Quantitative and Qualitative Data </vt:lpstr>
      <vt:lpstr> Difference between Discrete and Continuous Data </vt:lpstr>
      <vt:lpstr> Difference between Structured, Semi-structured and Unstructured data </vt:lpstr>
      <vt:lpstr> Difference between Structured, Semi-structured and Unstructured data </vt:lpstr>
      <vt:lpstr>PowerPoint Presentation</vt:lpstr>
      <vt:lpstr>PowerPoint Presentation</vt:lpstr>
      <vt:lpstr>Data Repositories</vt:lpstr>
      <vt:lpstr> What is a data repository? </vt:lpstr>
      <vt:lpstr> 1. Data warehouse </vt:lpstr>
      <vt:lpstr> 2.Data lake </vt:lpstr>
      <vt:lpstr> 3. Data mart </vt:lpstr>
      <vt:lpstr> 4.Data cube </vt:lpstr>
      <vt:lpstr>5. Data Pipelines</vt:lpstr>
      <vt:lpstr> What is a data pipeline? </vt:lpstr>
      <vt:lpstr>5.Data Pipeline</vt:lpstr>
      <vt:lpstr>PowerPoint Presentation</vt:lpstr>
      <vt:lpstr>Benefits of using Data Repositories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Farhadeeba</dc:creator>
  <cp:lastModifiedBy>Farhadeeba</cp:lastModifiedBy>
  <cp:revision>38</cp:revision>
  <dcterms:created xsi:type="dcterms:W3CDTF">2024-07-25T04:04:52Z</dcterms:created>
  <dcterms:modified xsi:type="dcterms:W3CDTF">2024-07-29T05:20:47Z</dcterms:modified>
</cp:coreProperties>
</file>